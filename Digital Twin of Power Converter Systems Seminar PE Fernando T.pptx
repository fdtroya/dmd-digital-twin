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3" r:id="rId8"/>
    <p:sldId id="266" r:id="rId9"/>
    <p:sldId id="264" r:id="rId10"/>
    <p:sldId id="265" r:id="rId11"/>
    <p:sldId id="267" r:id="rId12"/>
    <p:sldId id="277" r:id="rId13"/>
    <p:sldId id="278" r:id="rId14"/>
    <p:sldId id="276" r:id="rId15"/>
    <p:sldId id="273" r:id="rId16"/>
    <p:sldId id="274" r:id="rId17"/>
    <p:sldId id="268" r:id="rId18"/>
    <p:sldId id="270" r:id="rId19"/>
    <p:sldId id="271" r:id="rId20"/>
    <p:sldId id="272" r:id="rId21"/>
    <p:sldId id="275" r:id="rId22"/>
  </p:sldIdLst>
  <p:sldSz cx="9144000" cy="5143500" type="screen16x9"/>
  <p:notesSz cx="6858000" cy="9144000"/>
  <p:embeddedFontLst>
    <p:embeddedFont>
      <p:font typeface="Cambria Math" panose="02040503050406030204" pitchFamily="18" charset="0"/>
      <p:regular r:id="rId24"/>
    </p:embeddedFont>
    <p:embeddedFont>
      <p:font typeface="Tahoma" panose="020B0604030504040204" pitchFamily="3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03">
          <p15:clr>
            <a:srgbClr val="000000"/>
          </p15:clr>
        </p15:guide>
        <p15:guide id="2" pos="151">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I4khgj8ktT3kHtc7UuNVGzjF8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C9254E-8F94-4BE2-AAB2-98E70E8378A8}">
  <a:tblStyle styleId="{3BC9254E-8F94-4BE2-AAB2-98E70E8378A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506" y="262"/>
      </p:cViewPr>
      <p:guideLst>
        <p:guide orient="horz" pos="2103"/>
        <p:guide pos="15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de-DE"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b1c827341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1950" cap="flat" cmpd="sng">
            <a:solidFill>
              <a:srgbClr val="000000"/>
            </a:solidFill>
            <a:prstDash val="solid"/>
            <a:round/>
            <a:headEnd type="none" w="sm" len="sm"/>
            <a:tailEnd type="none" w="sm" len="sm"/>
          </a:ln>
        </p:spPr>
      </p:sp>
      <p:sp>
        <p:nvSpPr>
          <p:cNvPr id="74" name="Google Shape;74;g3b1c827341c_0_0:notes"/>
          <p:cNvSpPr txBox="1">
            <a:spLocks noGrp="1"/>
          </p:cNvSpPr>
          <p:nvPr>
            <p:ph type="body" idx="1"/>
          </p:nvPr>
        </p:nvSpPr>
        <p:spPr>
          <a:xfrm>
            <a:off x="685800" y="4400555"/>
            <a:ext cx="5486400" cy="3600600"/>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endParaRPr/>
          </a:p>
        </p:txBody>
      </p:sp>
      <p:sp>
        <p:nvSpPr>
          <p:cNvPr id="75" name="Google Shape;75;g3b1c827341c_0_0:notes"/>
          <p:cNvSpPr txBox="1">
            <a:spLocks noGrp="1"/>
          </p:cNvSpPr>
          <p:nvPr>
            <p:ph type="sldNum" idx="12"/>
          </p:nvPr>
        </p:nvSpPr>
        <p:spPr>
          <a:xfrm>
            <a:off x="3884613" y="8685225"/>
            <a:ext cx="2971800" cy="459000"/>
          </a:xfrm>
          <a:prstGeom prst="rect">
            <a:avLst/>
          </a:prstGeom>
          <a:noFill/>
          <a:ln>
            <a:noFill/>
          </a:ln>
        </p:spPr>
        <p:txBody>
          <a:bodyPr spcFirstLastPara="1" wrap="square" lIns="93275" tIns="46625" rIns="93275" bIns="46625" anchor="b" anchorCtr="0">
            <a:noAutofit/>
          </a:bodyPr>
          <a:lstStyle/>
          <a:p>
            <a:pPr marL="0" lvl="0" indent="0" algn="r" rtl="0">
              <a:spcBef>
                <a:spcPts val="0"/>
              </a:spcBef>
              <a:spcAft>
                <a:spcPts val="0"/>
              </a:spcAft>
              <a:buNone/>
            </a:pPr>
            <a:fld id="{00000000-1234-1234-1234-123412341234}" type="slidenum">
              <a:rPr lang="de-DE"/>
              <a:t>0</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82" name="Google Shape;82;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200"/>
          </a:p>
          <a:p>
            <a:pPr marL="0" lvl="0" indent="0" algn="l" rtl="0">
              <a:spcBef>
                <a:spcPts val="0"/>
              </a:spcBef>
              <a:spcAft>
                <a:spcPts val="0"/>
              </a:spcAft>
              <a:buNone/>
            </a:pPr>
            <a:endParaRPr sz="1200"/>
          </a:p>
          <a:p>
            <a:pPr marL="0" lvl="0" indent="0" algn="l" rtl="0">
              <a:spcBef>
                <a:spcPts val="0"/>
              </a:spcBef>
              <a:spcAft>
                <a:spcPts val="0"/>
              </a:spcAft>
              <a:buNone/>
            </a:pPr>
            <a:endParaRPr/>
          </a:p>
        </p:txBody>
      </p:sp>
      <p:sp>
        <p:nvSpPr>
          <p:cNvPr id="89" name="Google Shape;89;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2</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cbd0e6f7a2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cbd0e6f7a2_2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Provide insight into non measurable variables</a:t>
            </a:r>
            <a:endParaRPr dirty="0"/>
          </a:p>
        </p:txBody>
      </p:sp>
      <p:sp>
        <p:nvSpPr>
          <p:cNvPr id="101" name="Google Shape;101;g3cbd0e6f7a2_2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3</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200" dirty="0"/>
          </a:p>
          <a:p>
            <a:pPr marL="0" lvl="0" indent="0" algn="l" rtl="0">
              <a:spcBef>
                <a:spcPts val="0"/>
              </a:spcBef>
              <a:spcAft>
                <a:spcPts val="0"/>
              </a:spcAft>
              <a:buNone/>
            </a:pPr>
            <a:r>
              <a:rPr lang="en-US" dirty="0"/>
              <a:t>Lump, represent thermal res and cap properties as elect RC</a:t>
            </a:r>
          </a:p>
          <a:p>
            <a:pPr marL="0" lvl="0" indent="0" algn="l" rtl="0">
              <a:spcBef>
                <a:spcPts val="0"/>
              </a:spcBef>
              <a:spcAft>
                <a:spcPts val="0"/>
              </a:spcAft>
              <a:buNone/>
            </a:pPr>
            <a:r>
              <a:rPr lang="en-US" dirty="0"/>
              <a:t>FEA simulates heat diffusion PDE</a:t>
            </a:r>
          </a:p>
          <a:p>
            <a:pPr marL="0" lvl="0" indent="0" algn="l" rtl="0">
              <a:spcBef>
                <a:spcPts val="0"/>
              </a:spcBef>
              <a:spcAft>
                <a:spcPts val="0"/>
              </a:spcAft>
              <a:buNone/>
            </a:pPr>
            <a:r>
              <a:rPr lang="en-US" dirty="0"/>
              <a:t>Data driven trains models with big datasets</a:t>
            </a:r>
          </a:p>
        </p:txBody>
      </p:sp>
      <p:sp>
        <p:nvSpPr>
          <p:cNvPr id="109" name="Google Shape;109;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4</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23" name="Google Shape;123;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5</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cbd0e6f7a2_2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cbd0e6f7a2_2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g3cbd0e6f7a2_2_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6</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958929c9b2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958929c9b2_1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g3958929c9b2_1_1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7</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958929c9b2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958929c9b2_1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Is usually offline</a:t>
            </a:r>
          </a:p>
          <a:p>
            <a:pPr marL="0" lvl="0" indent="0" algn="l" rtl="0">
              <a:spcBef>
                <a:spcPts val="0"/>
              </a:spcBef>
              <a:spcAft>
                <a:spcPts val="0"/>
              </a:spcAft>
              <a:buNone/>
            </a:pPr>
            <a:r>
              <a:rPr lang="en-US" dirty="0"/>
              <a:t>Global stochastic</a:t>
            </a:r>
          </a:p>
          <a:p>
            <a:pPr marL="0" lvl="0" indent="0" algn="l" rtl="0">
              <a:spcBef>
                <a:spcPts val="0"/>
              </a:spcBef>
              <a:spcAft>
                <a:spcPts val="0"/>
              </a:spcAft>
              <a:buNone/>
            </a:pPr>
            <a:r>
              <a:rPr lang="en-US" dirty="0"/>
              <a:t>Local minima stuck</a:t>
            </a:r>
          </a:p>
          <a:p>
            <a:pPr marL="0" lvl="0" indent="0" algn="l" rtl="0">
              <a:spcBef>
                <a:spcPts val="0"/>
              </a:spcBef>
              <a:spcAft>
                <a:spcPts val="0"/>
              </a:spcAft>
              <a:buNone/>
            </a:pPr>
            <a:r>
              <a:rPr lang="en-US" dirty="0"/>
              <a:t>Simulation rankings</a:t>
            </a:r>
            <a:endParaRPr dirty="0"/>
          </a:p>
        </p:txBody>
      </p:sp>
      <p:sp>
        <p:nvSpPr>
          <p:cNvPr id="159" name="Google Shape;159;g3958929c9b2_1_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8</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958929c9b2_1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958929c9b2_1_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g3958929c9b2_1_2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9</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958929c9b2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958929c9b2_1_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We need to capture the slow and fast dynamics, we augment the state-&gt; time embeddings</a:t>
            </a:r>
          </a:p>
          <a:p>
            <a:pPr marL="0" lvl="0" indent="0" algn="l" rtl="0">
              <a:spcBef>
                <a:spcPts val="0"/>
              </a:spcBef>
              <a:spcAft>
                <a:spcPts val="0"/>
              </a:spcAft>
              <a:buNone/>
            </a:pPr>
            <a:r>
              <a:rPr lang="en-US" dirty="0"/>
              <a:t>The blocks have repeating patterns in the heating dynamics and lags </a:t>
            </a:r>
            <a:endParaRPr dirty="0"/>
          </a:p>
        </p:txBody>
      </p:sp>
      <p:sp>
        <p:nvSpPr>
          <p:cNvPr id="184" name="Google Shape;184;g3958929c9b2_1_3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10</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869FCADA-8930-2A3E-88F8-4491C5F20837}"/>
            </a:ext>
          </a:extLst>
        </p:cNvPr>
        <p:cNvGrpSpPr/>
        <p:nvPr/>
      </p:nvGrpSpPr>
      <p:grpSpPr>
        <a:xfrm>
          <a:off x="0" y="0"/>
          <a:ext cx="0" cy="0"/>
          <a:chOff x="0" y="0"/>
          <a:chExt cx="0" cy="0"/>
        </a:xfrm>
      </p:grpSpPr>
      <p:sp>
        <p:nvSpPr>
          <p:cNvPr id="182" name="Google Shape;182;g3958929c9b2_1_34:notes">
            <a:extLst>
              <a:ext uri="{FF2B5EF4-FFF2-40B4-BE49-F238E27FC236}">
                <a16:creationId xmlns:a16="http://schemas.microsoft.com/office/drawing/2014/main" id="{2D77A3E5-EAE1-7FAA-5392-BA02EE615C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958929c9b2_1_34:notes">
            <a:extLst>
              <a:ext uri="{FF2B5EF4-FFF2-40B4-BE49-F238E27FC236}">
                <a16:creationId xmlns:a16="http://schemas.microsoft.com/office/drawing/2014/main" id="{CE08F7FC-0D8C-CCE9-D4C3-F426FCA8E2E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We need to capture the slow and fast dynamics, we augment the state-&gt; time embeddings</a:t>
            </a:r>
          </a:p>
          <a:p>
            <a:pPr marL="0" lvl="0" indent="0" algn="l" rtl="0">
              <a:spcBef>
                <a:spcPts val="0"/>
              </a:spcBef>
              <a:spcAft>
                <a:spcPts val="0"/>
              </a:spcAft>
              <a:buNone/>
            </a:pPr>
            <a:r>
              <a:rPr lang="en-US" dirty="0"/>
              <a:t>The blocks have repeating patterns in the heating dynamics and lags </a:t>
            </a:r>
            <a:endParaRPr dirty="0"/>
          </a:p>
        </p:txBody>
      </p:sp>
      <p:sp>
        <p:nvSpPr>
          <p:cNvPr id="184" name="Google Shape;184;g3958929c9b2_1_34:notes">
            <a:extLst>
              <a:ext uri="{FF2B5EF4-FFF2-40B4-BE49-F238E27FC236}">
                <a16:creationId xmlns:a16="http://schemas.microsoft.com/office/drawing/2014/main" id="{0F29F8F5-5ABC-AAF2-AFF2-1A4137E1DC03}"/>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11</a:t>
            </a:fld>
            <a:endParaRPr/>
          </a:p>
        </p:txBody>
      </p:sp>
    </p:spTree>
    <p:extLst>
      <p:ext uri="{BB962C8B-B14F-4D97-AF65-F5344CB8AC3E}">
        <p14:creationId xmlns:p14="http://schemas.microsoft.com/office/powerpoint/2010/main" val="848092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A04F9A44-10D2-6D86-546A-A549E562030E}"/>
            </a:ext>
          </a:extLst>
        </p:cNvPr>
        <p:cNvGrpSpPr/>
        <p:nvPr/>
      </p:nvGrpSpPr>
      <p:grpSpPr>
        <a:xfrm>
          <a:off x="0" y="0"/>
          <a:ext cx="0" cy="0"/>
          <a:chOff x="0" y="0"/>
          <a:chExt cx="0" cy="0"/>
        </a:xfrm>
      </p:grpSpPr>
      <p:sp>
        <p:nvSpPr>
          <p:cNvPr id="182" name="Google Shape;182;g3958929c9b2_1_34:notes">
            <a:extLst>
              <a:ext uri="{FF2B5EF4-FFF2-40B4-BE49-F238E27FC236}">
                <a16:creationId xmlns:a16="http://schemas.microsoft.com/office/drawing/2014/main" id="{96223A08-05F3-50B4-A162-21CE63457A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958929c9b2_1_34:notes">
            <a:extLst>
              <a:ext uri="{FF2B5EF4-FFF2-40B4-BE49-F238E27FC236}">
                <a16:creationId xmlns:a16="http://schemas.microsoft.com/office/drawing/2014/main" id="{8218AAB2-3AEA-138F-4B88-112005EE008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We need to capture the slow and fast dynamics, we augment the state-&gt; time embeddings</a:t>
            </a:r>
          </a:p>
          <a:p>
            <a:pPr marL="0" lvl="0" indent="0" algn="l" rtl="0">
              <a:spcBef>
                <a:spcPts val="0"/>
              </a:spcBef>
              <a:spcAft>
                <a:spcPts val="0"/>
              </a:spcAft>
              <a:buNone/>
            </a:pPr>
            <a:r>
              <a:rPr lang="en-US" dirty="0"/>
              <a:t>The blocks have repeating patterns in the heating dynamics and lags </a:t>
            </a:r>
            <a:endParaRPr dirty="0"/>
          </a:p>
        </p:txBody>
      </p:sp>
      <p:sp>
        <p:nvSpPr>
          <p:cNvPr id="184" name="Google Shape;184;g3958929c9b2_1_34:notes">
            <a:extLst>
              <a:ext uri="{FF2B5EF4-FFF2-40B4-BE49-F238E27FC236}">
                <a16:creationId xmlns:a16="http://schemas.microsoft.com/office/drawing/2014/main" id="{6FC0FCB0-C1F3-6257-8E7E-42AE930996BA}"/>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12</a:t>
            </a:fld>
            <a:endParaRPr/>
          </a:p>
        </p:txBody>
      </p:sp>
    </p:spTree>
    <p:extLst>
      <p:ext uri="{BB962C8B-B14F-4D97-AF65-F5344CB8AC3E}">
        <p14:creationId xmlns:p14="http://schemas.microsoft.com/office/powerpoint/2010/main" val="1609643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A92F3D46-3021-3C5E-00EE-E1928978F699}"/>
            </a:ext>
          </a:extLst>
        </p:cNvPr>
        <p:cNvGrpSpPr/>
        <p:nvPr/>
      </p:nvGrpSpPr>
      <p:grpSpPr>
        <a:xfrm>
          <a:off x="0" y="0"/>
          <a:ext cx="0" cy="0"/>
          <a:chOff x="0" y="0"/>
          <a:chExt cx="0" cy="0"/>
        </a:xfrm>
      </p:grpSpPr>
      <p:sp>
        <p:nvSpPr>
          <p:cNvPr id="182" name="Google Shape;182;g3958929c9b2_1_34:notes">
            <a:extLst>
              <a:ext uri="{FF2B5EF4-FFF2-40B4-BE49-F238E27FC236}">
                <a16:creationId xmlns:a16="http://schemas.microsoft.com/office/drawing/2014/main" id="{486BD343-ED66-9DE7-2B54-316316E5DC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958929c9b2_1_34:notes">
            <a:extLst>
              <a:ext uri="{FF2B5EF4-FFF2-40B4-BE49-F238E27FC236}">
                <a16:creationId xmlns:a16="http://schemas.microsoft.com/office/drawing/2014/main" id="{4C821395-DB60-D56E-CB8B-7D5701B2CC9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We need to capture the slow and fast dynamics, we augment the state-&gt; time embeddings</a:t>
            </a:r>
          </a:p>
          <a:p>
            <a:pPr marL="0" lvl="0" indent="0" algn="l" rtl="0">
              <a:spcBef>
                <a:spcPts val="0"/>
              </a:spcBef>
              <a:spcAft>
                <a:spcPts val="0"/>
              </a:spcAft>
              <a:buNone/>
            </a:pPr>
            <a:r>
              <a:rPr lang="en-US" dirty="0"/>
              <a:t>The blocks have repeating patterns in the heating dynamics and lags </a:t>
            </a:r>
            <a:endParaRPr dirty="0"/>
          </a:p>
        </p:txBody>
      </p:sp>
      <p:sp>
        <p:nvSpPr>
          <p:cNvPr id="184" name="Google Shape;184;g3958929c9b2_1_34:notes">
            <a:extLst>
              <a:ext uri="{FF2B5EF4-FFF2-40B4-BE49-F238E27FC236}">
                <a16:creationId xmlns:a16="http://schemas.microsoft.com/office/drawing/2014/main" id="{2DFF3940-8D64-C059-06CD-84CDBC5C7438}"/>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13</a:t>
            </a:fld>
            <a:endParaRPr/>
          </a:p>
        </p:txBody>
      </p:sp>
    </p:spTree>
    <p:extLst>
      <p:ext uri="{BB962C8B-B14F-4D97-AF65-F5344CB8AC3E}">
        <p14:creationId xmlns:p14="http://schemas.microsoft.com/office/powerpoint/2010/main" val="381912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C6D842D7-0C59-48EF-D2F6-95F10BCD634C}"/>
            </a:ext>
          </a:extLst>
        </p:cNvPr>
        <p:cNvGrpSpPr/>
        <p:nvPr/>
      </p:nvGrpSpPr>
      <p:grpSpPr>
        <a:xfrm>
          <a:off x="0" y="0"/>
          <a:ext cx="0" cy="0"/>
          <a:chOff x="0" y="0"/>
          <a:chExt cx="0" cy="0"/>
        </a:xfrm>
      </p:grpSpPr>
      <p:sp>
        <p:nvSpPr>
          <p:cNvPr id="182" name="Google Shape;182;g3958929c9b2_1_34:notes">
            <a:extLst>
              <a:ext uri="{FF2B5EF4-FFF2-40B4-BE49-F238E27FC236}">
                <a16:creationId xmlns:a16="http://schemas.microsoft.com/office/drawing/2014/main" id="{7A9C51AB-8AEB-DCFE-F28B-18B3A446DE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958929c9b2_1_34:notes">
            <a:extLst>
              <a:ext uri="{FF2B5EF4-FFF2-40B4-BE49-F238E27FC236}">
                <a16:creationId xmlns:a16="http://schemas.microsoft.com/office/drawing/2014/main" id="{B89F9768-15A0-9DC5-A67B-C3F54797DC4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Break down omega </a:t>
            </a:r>
            <a:r>
              <a:rPr lang="en-US" dirty="0" err="1"/>
              <a:t>aug</a:t>
            </a:r>
            <a:r>
              <a:rPr lang="en-US" dirty="0"/>
              <a:t> into its principal components</a:t>
            </a:r>
          </a:p>
          <a:p>
            <a:pPr marL="0" lvl="0" indent="0" algn="l" rtl="0">
              <a:spcBef>
                <a:spcPts val="0"/>
              </a:spcBef>
              <a:spcAft>
                <a:spcPts val="0"/>
              </a:spcAft>
              <a:buNone/>
            </a:pPr>
            <a:r>
              <a:rPr lang="en-US" dirty="0"/>
              <a:t>Truncate the components with highest weight/energy</a:t>
            </a:r>
          </a:p>
          <a:p>
            <a:pPr marL="0" lvl="0" indent="0" algn="l" rtl="0">
              <a:spcBef>
                <a:spcPts val="0"/>
              </a:spcBef>
              <a:spcAft>
                <a:spcPts val="0"/>
              </a:spcAft>
              <a:buNone/>
            </a:pPr>
            <a:r>
              <a:rPr lang="en-US" dirty="0" err="1"/>
              <a:t>Aproximate</a:t>
            </a:r>
            <a:r>
              <a:rPr lang="en-US" dirty="0"/>
              <a:t> omega</a:t>
            </a:r>
          </a:p>
          <a:p>
            <a:pPr marL="0" lvl="0" indent="0" algn="l" rtl="0">
              <a:spcBef>
                <a:spcPts val="0"/>
              </a:spcBef>
              <a:spcAft>
                <a:spcPts val="0"/>
              </a:spcAft>
              <a:buNone/>
            </a:pPr>
            <a:r>
              <a:rPr lang="en-US" dirty="0"/>
              <a:t>Invert omega </a:t>
            </a:r>
          </a:p>
          <a:p>
            <a:pPr marL="0" lvl="0" indent="0" algn="l" rtl="0">
              <a:spcBef>
                <a:spcPts val="0"/>
              </a:spcBef>
              <a:spcAft>
                <a:spcPts val="0"/>
              </a:spcAft>
              <a:buNone/>
            </a:pPr>
            <a:endParaRPr dirty="0"/>
          </a:p>
        </p:txBody>
      </p:sp>
      <p:sp>
        <p:nvSpPr>
          <p:cNvPr id="184" name="Google Shape;184;g3958929c9b2_1_34:notes">
            <a:extLst>
              <a:ext uri="{FF2B5EF4-FFF2-40B4-BE49-F238E27FC236}">
                <a16:creationId xmlns:a16="http://schemas.microsoft.com/office/drawing/2014/main" id="{D7BFA182-028F-6B1E-F0F9-245E7523B10F}"/>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14</a:t>
            </a:fld>
            <a:endParaRPr/>
          </a:p>
        </p:txBody>
      </p:sp>
    </p:spTree>
    <p:extLst>
      <p:ext uri="{BB962C8B-B14F-4D97-AF65-F5344CB8AC3E}">
        <p14:creationId xmlns:p14="http://schemas.microsoft.com/office/powerpoint/2010/main" val="3439954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F7122EA4-EBE1-9622-1EE5-AC5EF69A8272}"/>
            </a:ext>
          </a:extLst>
        </p:cNvPr>
        <p:cNvGrpSpPr/>
        <p:nvPr/>
      </p:nvGrpSpPr>
      <p:grpSpPr>
        <a:xfrm>
          <a:off x="0" y="0"/>
          <a:ext cx="0" cy="0"/>
          <a:chOff x="0" y="0"/>
          <a:chExt cx="0" cy="0"/>
        </a:xfrm>
      </p:grpSpPr>
      <p:sp>
        <p:nvSpPr>
          <p:cNvPr id="182" name="Google Shape;182;g3958929c9b2_1_34:notes">
            <a:extLst>
              <a:ext uri="{FF2B5EF4-FFF2-40B4-BE49-F238E27FC236}">
                <a16:creationId xmlns:a16="http://schemas.microsoft.com/office/drawing/2014/main" id="{33FF08B0-4EB2-CE09-425C-E2E98860A4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958929c9b2_1_34:notes">
            <a:extLst>
              <a:ext uri="{FF2B5EF4-FFF2-40B4-BE49-F238E27FC236}">
                <a16:creationId xmlns:a16="http://schemas.microsoft.com/office/drawing/2014/main" id="{7669BE40-C5A5-731F-DAF7-D8C0E99BF3D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cap="none" dirty="0">
                <a:solidFill>
                  <a:schemeClr val="dk1"/>
                </a:solidFill>
                <a:effectLst/>
                <a:latin typeface="Calibri"/>
                <a:ea typeface="Calibri"/>
                <a:cs typeface="Calibri"/>
                <a:sym typeface="Calibri"/>
              </a:rPr>
              <a:t>RLS for matrices</a:t>
            </a:r>
            <a:endParaRPr lang="en-US" dirty="0"/>
          </a:p>
          <a:p>
            <a:pPr marL="0" lvl="0" indent="0" algn="l" rtl="0">
              <a:spcBef>
                <a:spcPts val="0"/>
              </a:spcBef>
              <a:spcAft>
                <a:spcPts val="0"/>
              </a:spcAft>
              <a:buNone/>
            </a:pPr>
            <a:r>
              <a:rPr lang="en-US" dirty="0" err="1"/>
              <a:t>nstead</a:t>
            </a:r>
            <a:r>
              <a:rPr lang="en-US" dirty="0"/>
              <a:t> of storing the whole history, we only store two compact matrices: the current operator and the inverse covariance </a:t>
            </a:r>
            <a:r>
              <a:rPr lang="en-US" sz="1200" b="0" i="0" u="none" strike="noStrike" cap="none" dirty="0">
                <a:solidFill>
                  <a:schemeClr val="dk1"/>
                </a:solidFill>
                <a:effectLst/>
                <a:latin typeface="Calibri"/>
                <a:ea typeface="Calibri"/>
                <a:cs typeface="Calibri"/>
                <a:sym typeface="Calibri"/>
              </a:rPr>
              <a:t>P</a:t>
            </a:r>
          </a:p>
          <a:p>
            <a:pPr marL="0" lvl="0" indent="0" algn="l" rtl="0">
              <a:spcBef>
                <a:spcPts val="0"/>
              </a:spcBef>
              <a:spcAft>
                <a:spcPts val="0"/>
              </a:spcAft>
              <a:buNone/>
            </a:pPr>
            <a:r>
              <a:rPr lang="en-US" dirty="0"/>
              <a:t>Sherman-Morrison formula to update the inverse </a:t>
            </a:r>
            <a:r>
              <a:rPr lang="en-US" dirty="0" err="1"/>
              <a:t>cov</a:t>
            </a:r>
            <a:r>
              <a:rPr lang="en-US" dirty="0"/>
              <a:t> P, basically no need to update P and invert again, can directly update the inverse</a:t>
            </a:r>
          </a:p>
          <a:p>
            <a:pPr marL="0" lvl="0" indent="0" algn="l" rtl="0">
              <a:spcBef>
                <a:spcPts val="0"/>
              </a:spcBef>
              <a:spcAft>
                <a:spcPts val="0"/>
              </a:spcAft>
              <a:buNone/>
            </a:pPr>
            <a:r>
              <a:rPr lang="en-US" sz="1200" b="1" i="0" u="none" strike="noStrike" cap="none" dirty="0">
                <a:solidFill>
                  <a:schemeClr val="dk1"/>
                </a:solidFill>
                <a:effectLst/>
                <a:latin typeface="Calibri"/>
                <a:ea typeface="Calibri"/>
                <a:cs typeface="Calibri"/>
                <a:sym typeface="Calibri"/>
              </a:rPr>
              <a:t>($\rho$):</a:t>
            </a:r>
            <a:r>
              <a:rPr lang="en-US" dirty="0"/>
              <a:t> Emphasize that </a:t>
            </a:r>
            <a:r>
              <a:rPr lang="en-US" sz="1200" b="0" i="0" u="none" strike="noStrike" cap="none" dirty="0">
                <a:solidFill>
                  <a:schemeClr val="dk1"/>
                </a:solidFill>
                <a:effectLst/>
                <a:latin typeface="Calibri"/>
                <a:ea typeface="Calibri"/>
                <a:cs typeface="Calibri"/>
                <a:sym typeface="Calibri"/>
              </a:rPr>
              <a:t>$\rho$</a:t>
            </a:r>
            <a:r>
              <a:rPr lang="en-US" dirty="0"/>
              <a:t> (e.g., </a:t>
            </a:r>
            <a:r>
              <a:rPr lang="en-US" sz="1200" b="0" i="0" u="none" strike="noStrike" cap="none" dirty="0">
                <a:solidFill>
                  <a:schemeClr val="dk1"/>
                </a:solidFill>
                <a:effectLst/>
                <a:latin typeface="Calibri"/>
                <a:ea typeface="Calibri"/>
                <a:cs typeface="Calibri"/>
                <a:sym typeface="Calibri"/>
              </a:rPr>
              <a:t>$0.9999$</a:t>
            </a:r>
            <a:r>
              <a:rPr lang="en-US" dirty="0"/>
              <a:t>) </a:t>
            </a: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
        <p:nvSpPr>
          <p:cNvPr id="184" name="Google Shape;184;g3958929c9b2_1_34:notes">
            <a:extLst>
              <a:ext uri="{FF2B5EF4-FFF2-40B4-BE49-F238E27FC236}">
                <a16:creationId xmlns:a16="http://schemas.microsoft.com/office/drawing/2014/main" id="{4F644BB8-351A-1CF5-CC14-29283B73A18C}"/>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15</a:t>
            </a:fld>
            <a:endParaRPr/>
          </a:p>
        </p:txBody>
      </p:sp>
    </p:spTree>
    <p:extLst>
      <p:ext uri="{BB962C8B-B14F-4D97-AF65-F5344CB8AC3E}">
        <p14:creationId xmlns:p14="http://schemas.microsoft.com/office/powerpoint/2010/main" val="70375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958929c9b2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958929c9b2_1_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g3958929c9b2_1_4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16</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b1c827341c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b1c827341c_0_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g3b1c827341c_0_6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17</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958929c9b2_1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958929c9b2_1_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g3958929c9b2_1_6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18</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23" name="Google Shape;223;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19</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a:extLst>
            <a:ext uri="{FF2B5EF4-FFF2-40B4-BE49-F238E27FC236}">
              <a16:creationId xmlns:a16="http://schemas.microsoft.com/office/drawing/2014/main" id="{8B0F790A-35A2-B5D8-9366-F411385BE496}"/>
            </a:ext>
          </a:extLst>
        </p:cNvPr>
        <p:cNvGrpSpPr/>
        <p:nvPr/>
      </p:nvGrpSpPr>
      <p:grpSpPr>
        <a:xfrm>
          <a:off x="0" y="0"/>
          <a:ext cx="0" cy="0"/>
          <a:chOff x="0" y="0"/>
          <a:chExt cx="0" cy="0"/>
        </a:xfrm>
      </p:grpSpPr>
      <p:sp>
        <p:nvSpPr>
          <p:cNvPr id="221" name="Google Shape;221;p15:notes">
            <a:extLst>
              <a:ext uri="{FF2B5EF4-FFF2-40B4-BE49-F238E27FC236}">
                <a16:creationId xmlns:a16="http://schemas.microsoft.com/office/drawing/2014/main" id="{5FAF3FA0-74E3-E851-CFFB-1E5F5915F1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5:notes">
            <a:extLst>
              <a:ext uri="{FF2B5EF4-FFF2-40B4-BE49-F238E27FC236}">
                <a16:creationId xmlns:a16="http://schemas.microsoft.com/office/drawing/2014/main" id="{57C1A90C-3DAF-6C10-26E9-C74ED1D318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23" name="Google Shape;223;p15:notes">
            <a:extLst>
              <a:ext uri="{FF2B5EF4-FFF2-40B4-BE49-F238E27FC236}">
                <a16:creationId xmlns:a16="http://schemas.microsoft.com/office/drawing/2014/main" id="{33AB41D4-0625-7DEC-A90F-A0CCBC37C80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20</a:t>
            </a:fld>
            <a:endParaRPr/>
          </a:p>
        </p:txBody>
      </p:sp>
    </p:spTree>
    <p:extLst>
      <p:ext uri="{BB962C8B-B14F-4D97-AF65-F5344CB8AC3E}">
        <p14:creationId xmlns:p14="http://schemas.microsoft.com/office/powerpoint/2010/main" val="29033498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elfolie">
  <p:cSld name="Titelfolie">
    <p:spTree>
      <p:nvGrpSpPr>
        <p:cNvPr id="1" name="Shape 18"/>
        <p:cNvGrpSpPr/>
        <p:nvPr/>
      </p:nvGrpSpPr>
      <p:grpSpPr>
        <a:xfrm>
          <a:off x="0" y="0"/>
          <a:ext cx="0" cy="0"/>
          <a:chOff x="0" y="0"/>
          <a:chExt cx="0" cy="0"/>
        </a:xfrm>
      </p:grpSpPr>
      <p:sp>
        <p:nvSpPr>
          <p:cNvPr id="19" name="Google Shape;19;p24"/>
          <p:cNvSpPr txBox="1">
            <a:spLocks noGrp="1"/>
          </p:cNvSpPr>
          <p:nvPr>
            <p:ph type="ctrTitle"/>
          </p:nvPr>
        </p:nvSpPr>
        <p:spPr>
          <a:xfrm>
            <a:off x="685424" y="1295401"/>
            <a:ext cx="7773156" cy="1371599"/>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200" b="0" i="0" u="none" strike="noStrike" cap="none">
                <a:solidFill>
                  <a:schemeClr val="dk2"/>
                </a:solidFill>
                <a:latin typeface="Arial"/>
                <a:ea typeface="Arial"/>
                <a:cs typeface="Arial"/>
                <a:sym typeface="Arial"/>
              </a:defRPr>
            </a:lvl9pPr>
          </a:lstStyle>
          <a:p>
            <a:endParaRPr/>
          </a:p>
        </p:txBody>
      </p:sp>
      <p:sp>
        <p:nvSpPr>
          <p:cNvPr id="20" name="Google Shape;20;p24"/>
          <p:cNvSpPr txBox="1">
            <a:spLocks noGrp="1"/>
          </p:cNvSpPr>
          <p:nvPr>
            <p:ph type="subTitle" idx="1"/>
          </p:nvPr>
        </p:nvSpPr>
        <p:spPr>
          <a:xfrm>
            <a:off x="457159" y="3228975"/>
            <a:ext cx="4573470" cy="670326"/>
          </a:xfrm>
          <a:prstGeom prst="rect">
            <a:avLst/>
          </a:prstGeom>
          <a:noFill/>
          <a:ln>
            <a:noFill/>
          </a:ln>
        </p:spPr>
        <p:txBody>
          <a:bodyPr spcFirstLastPara="1" wrap="square" lIns="0" tIns="45700" rIns="91425" bIns="45700" anchor="t" anchorCtr="0">
            <a:noAutofit/>
          </a:bodyPr>
          <a:lstStyle>
            <a:lvl1pPr marR="0" lvl="0"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R="0" lvl="1" algn="ctr" rtl="0">
              <a:spcBef>
                <a:spcPts val="0"/>
              </a:spcBef>
              <a:spcAft>
                <a:spcPts val="0"/>
              </a:spcAft>
              <a:buClr>
                <a:schemeClr val="dk1"/>
              </a:buClr>
              <a:buSzPts val="2600"/>
              <a:buFont typeface="Arial"/>
              <a:buNone/>
              <a:defRPr sz="2600" b="0" i="0" u="none" strike="noStrike" cap="none">
                <a:solidFill>
                  <a:schemeClr val="dk1"/>
                </a:solidFill>
                <a:latin typeface="Arial"/>
                <a:ea typeface="Arial"/>
                <a:cs typeface="Arial"/>
                <a:sym typeface="Arial"/>
              </a:defRPr>
            </a:lvl2pPr>
            <a:lvl3pPr marR="0" lvl="2" algn="ctr" rtl="0">
              <a:spcBef>
                <a:spcPts val="0"/>
              </a:spcBef>
              <a:spcAft>
                <a:spcPts val="0"/>
              </a:spcAft>
              <a:buClr>
                <a:schemeClr val="dk1"/>
              </a:buClr>
              <a:buSzPts val="2300"/>
              <a:buFont typeface="Arial"/>
              <a:buNone/>
              <a:defRPr sz="2300" b="0" i="0" u="none" strike="noStrike" cap="none">
                <a:solidFill>
                  <a:schemeClr val="dk1"/>
                </a:solidFill>
                <a:latin typeface="Arial"/>
                <a:ea typeface="Arial"/>
                <a:cs typeface="Arial"/>
                <a:sym typeface="Arial"/>
              </a:defRPr>
            </a:lvl3pPr>
            <a:lvl4pPr marR="0" lvl="3" algn="ctr" rtl="0">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4pPr>
            <a:lvl5pPr marR="0" lvl="4" algn="ctr" rtl="0">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5pPr>
            <a:lvl6pPr marR="0" lvl="5" algn="ctr" rtl="0">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6pPr>
            <a:lvl7pPr marR="0" lvl="6" algn="ctr" rtl="0">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7pPr>
            <a:lvl8pPr marR="0" lvl="7" algn="ctr" rtl="0">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8pPr>
            <a:lvl9pPr marR="0" lvl="8" algn="ctr" rtl="0">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9pPr>
          </a:lstStyle>
          <a:p>
            <a:endParaRPr/>
          </a:p>
        </p:txBody>
      </p:sp>
      <p:sp>
        <p:nvSpPr>
          <p:cNvPr id="21" name="Google Shape;21;p24"/>
          <p:cNvSpPr/>
          <p:nvPr/>
        </p:nvSpPr>
        <p:spPr>
          <a:xfrm>
            <a:off x="2" y="0"/>
            <a:ext cx="9144000" cy="914792"/>
          </a:xfrm>
          <a:prstGeom prst="rect">
            <a:avLst/>
          </a:prstGeom>
          <a:solidFill>
            <a:srgbClr val="00219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700" b="0" i="0" u="none" strike="noStrike" cap="none">
              <a:solidFill>
                <a:schemeClr val="dk1"/>
              </a:solidFill>
              <a:latin typeface="Arial"/>
              <a:ea typeface="Arial"/>
              <a:cs typeface="Arial"/>
              <a:sym typeface="Arial"/>
            </a:endParaRPr>
          </a:p>
        </p:txBody>
      </p:sp>
      <p:sp>
        <p:nvSpPr>
          <p:cNvPr id="22" name="Google Shape;22;p24"/>
          <p:cNvSpPr txBox="1"/>
          <p:nvPr/>
        </p:nvSpPr>
        <p:spPr>
          <a:xfrm>
            <a:off x="1828638" y="4115227"/>
            <a:ext cx="3200473" cy="7938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de-DE" sz="1200" b="0" i="0" u="none" strike="noStrike" cap="none">
                <a:solidFill>
                  <a:schemeClr val="dk1"/>
                </a:solidFill>
                <a:latin typeface="Tahoma"/>
                <a:ea typeface="Tahoma"/>
                <a:cs typeface="Tahoma"/>
                <a:sym typeface="Tahoma"/>
              </a:rPr>
              <a:t>Chair of Power Electronics</a:t>
            </a:r>
            <a:endParaRPr sz="2400" b="1" i="0" u="none" strike="noStrike" cap="none">
              <a:solidFill>
                <a:schemeClr val="dk1"/>
              </a:solidFill>
              <a:latin typeface="Arial"/>
              <a:ea typeface="Arial"/>
              <a:cs typeface="Arial"/>
              <a:sym typeface="Arial"/>
            </a:endParaRPr>
          </a:p>
          <a:p>
            <a:pPr marL="0" marR="0" lvl="0" indent="0" algn="l" rtl="0">
              <a:spcBef>
                <a:spcPts val="300"/>
              </a:spcBef>
              <a:spcAft>
                <a:spcPts val="0"/>
              </a:spcAft>
              <a:buNone/>
            </a:pPr>
            <a:r>
              <a:rPr lang="de-DE" sz="1200" b="0" i="0" u="none" strike="noStrike" cap="none">
                <a:solidFill>
                  <a:schemeClr val="dk1"/>
                </a:solidFill>
                <a:latin typeface="Tahoma"/>
                <a:ea typeface="Tahoma"/>
                <a:cs typeface="Tahoma"/>
                <a:sym typeface="Tahoma"/>
              </a:rPr>
              <a:t>Christian-Albrechts-Universität zu Kiel</a:t>
            </a:r>
            <a:endParaRPr sz="2400" b="1" i="0" u="none" strike="noStrike" cap="none">
              <a:solidFill>
                <a:schemeClr val="dk1"/>
              </a:solidFill>
              <a:latin typeface="Arial"/>
              <a:ea typeface="Arial"/>
              <a:cs typeface="Arial"/>
              <a:sym typeface="Arial"/>
            </a:endParaRPr>
          </a:p>
          <a:p>
            <a:pPr marL="0" marR="0" lvl="0" indent="0" algn="l" rtl="0">
              <a:spcBef>
                <a:spcPts val="300"/>
              </a:spcBef>
              <a:spcAft>
                <a:spcPts val="0"/>
              </a:spcAft>
              <a:buNone/>
            </a:pPr>
            <a:r>
              <a:rPr lang="de-DE" sz="1200" b="0" i="0" u="none" strike="noStrike" cap="none">
                <a:solidFill>
                  <a:schemeClr val="dk1"/>
                </a:solidFill>
                <a:latin typeface="Tahoma"/>
                <a:ea typeface="Tahoma"/>
                <a:cs typeface="Tahoma"/>
                <a:sym typeface="Tahoma"/>
              </a:rPr>
              <a:t>Kaiserstraße 2</a:t>
            </a:r>
            <a:endParaRPr sz="2400" b="1" i="0" u="none" strike="noStrike" cap="none">
              <a:solidFill>
                <a:schemeClr val="dk1"/>
              </a:solidFill>
              <a:latin typeface="Arial"/>
              <a:ea typeface="Arial"/>
              <a:cs typeface="Arial"/>
              <a:sym typeface="Arial"/>
            </a:endParaRPr>
          </a:p>
          <a:p>
            <a:pPr marL="0" marR="0" lvl="0" indent="0" algn="l" rtl="0">
              <a:spcBef>
                <a:spcPts val="300"/>
              </a:spcBef>
              <a:spcAft>
                <a:spcPts val="0"/>
              </a:spcAft>
              <a:buNone/>
            </a:pPr>
            <a:r>
              <a:rPr lang="de-DE" sz="1200" b="0" i="0" u="none" strike="noStrike" cap="none">
                <a:solidFill>
                  <a:schemeClr val="dk1"/>
                </a:solidFill>
                <a:latin typeface="Tahoma"/>
                <a:ea typeface="Tahoma"/>
                <a:cs typeface="Tahoma"/>
                <a:sym typeface="Tahoma"/>
              </a:rPr>
              <a:t>24143 Kiel</a:t>
            </a:r>
            <a:endParaRPr sz="1200" b="1" i="0" u="none" strike="noStrike" cap="none">
              <a:solidFill>
                <a:schemeClr val="dk1"/>
              </a:solidFill>
              <a:latin typeface="Tahoma"/>
              <a:ea typeface="Tahoma"/>
              <a:cs typeface="Tahoma"/>
              <a:sym typeface="Tahoma"/>
            </a:endParaRPr>
          </a:p>
        </p:txBody>
      </p:sp>
      <p:grpSp>
        <p:nvGrpSpPr>
          <p:cNvPr id="23" name="Google Shape;23;p24"/>
          <p:cNvGrpSpPr/>
          <p:nvPr/>
        </p:nvGrpSpPr>
        <p:grpSpPr>
          <a:xfrm>
            <a:off x="6595950" y="66474"/>
            <a:ext cx="2286000" cy="762000"/>
            <a:chOff x="4320" y="0"/>
            <a:chExt cx="1440" cy="480"/>
          </a:xfrm>
        </p:grpSpPr>
        <p:pic>
          <p:nvPicPr>
            <p:cNvPr id="24" name="Google Shape;24;p24" descr="CAU-Text-0300b"/>
            <p:cNvPicPr preferRelativeResize="0"/>
            <p:nvPr/>
          </p:nvPicPr>
          <p:blipFill rotWithShape="1">
            <a:blip r:embed="rId2">
              <a:alphaModFix/>
            </a:blip>
            <a:srcRect/>
            <a:stretch/>
          </p:blipFill>
          <p:spPr>
            <a:xfrm>
              <a:off x="4320" y="240"/>
              <a:ext cx="1440" cy="240"/>
            </a:xfrm>
            <a:prstGeom prst="rect">
              <a:avLst/>
            </a:prstGeom>
            <a:noFill/>
            <a:ln>
              <a:noFill/>
            </a:ln>
          </p:spPr>
        </p:pic>
        <p:pic>
          <p:nvPicPr>
            <p:cNvPr id="25" name="Google Shape;25;p24" descr="CAU-pur-sw-0150"/>
            <p:cNvPicPr preferRelativeResize="0"/>
            <p:nvPr/>
          </p:nvPicPr>
          <p:blipFill rotWithShape="1">
            <a:blip r:embed="rId3">
              <a:alphaModFix/>
            </a:blip>
            <a:srcRect/>
            <a:stretch/>
          </p:blipFill>
          <p:spPr>
            <a:xfrm>
              <a:off x="4320" y="0"/>
              <a:ext cx="721" cy="240"/>
            </a:xfrm>
            <a:prstGeom prst="rect">
              <a:avLst/>
            </a:prstGeom>
            <a:noFill/>
            <a:ln>
              <a:noFill/>
            </a:ln>
          </p:spPr>
        </p:pic>
      </p:grpSp>
      <p:pic>
        <p:nvPicPr>
          <p:cNvPr id="26" name="Google Shape;26;p24"/>
          <p:cNvPicPr preferRelativeResize="0"/>
          <p:nvPr/>
        </p:nvPicPr>
        <p:blipFill rotWithShape="1">
          <a:blip r:embed="rId4">
            <a:alphaModFix/>
          </a:blip>
          <a:srcRect/>
          <a:stretch/>
        </p:blipFill>
        <p:spPr>
          <a:xfrm>
            <a:off x="457159" y="4115226"/>
            <a:ext cx="913973" cy="913973"/>
          </a:xfrm>
          <a:prstGeom prst="rect">
            <a:avLst/>
          </a:prstGeom>
          <a:noFill/>
          <a:ln>
            <a:noFill/>
          </a:ln>
        </p:spPr>
      </p:pic>
      <p:sp>
        <p:nvSpPr>
          <p:cNvPr id="27" name="Google Shape;27;p24"/>
          <p:cNvSpPr txBox="1">
            <a:spLocks noGrp="1"/>
          </p:cNvSpPr>
          <p:nvPr>
            <p:ph type="body" idx="2"/>
          </p:nvPr>
        </p:nvSpPr>
        <p:spPr>
          <a:xfrm>
            <a:off x="3429000" y="2810922"/>
            <a:ext cx="2276475" cy="417512"/>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0"/>
              </a:spcBef>
              <a:spcAft>
                <a:spcPts val="0"/>
              </a:spcAft>
              <a:buClr>
                <a:schemeClr val="dk1"/>
              </a:buClr>
              <a:buSzPts val="1800"/>
              <a:buFont typeface="Arial"/>
              <a:buNone/>
              <a:defRPr sz="1800" b="0" i="1" u="none" strike="noStrike" cap="none">
                <a:solidFill>
                  <a:schemeClr val="dk1"/>
                </a:solidFill>
                <a:latin typeface="Arial"/>
                <a:ea typeface="Arial"/>
                <a:cs typeface="Arial"/>
                <a:sym typeface="Arial"/>
              </a:defRPr>
            </a:lvl1pPr>
            <a:lvl2pPr marL="914400" marR="0" lvl="1" indent="-393700" algn="l" rtl="0">
              <a:spcBef>
                <a:spcPts val="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2pPr>
            <a:lvl3pPr marL="1371600" marR="0" lvl="2" indent="-374650" algn="l" rtl="0">
              <a:spcBef>
                <a:spcPts val="0"/>
              </a:spcBef>
              <a:spcAft>
                <a:spcPts val="0"/>
              </a:spcAft>
              <a:buClr>
                <a:schemeClr val="dk1"/>
              </a:buClr>
              <a:buSzPts val="2300"/>
              <a:buFont typeface="Arial"/>
              <a:buChar char="•"/>
              <a:defRPr sz="2300" b="0" i="0" u="none" strike="noStrike" cap="none">
                <a:solidFill>
                  <a:schemeClr val="dk1"/>
                </a:solidFill>
                <a:latin typeface="Arial"/>
                <a:ea typeface="Arial"/>
                <a:cs typeface="Arial"/>
                <a:sym typeface="Arial"/>
              </a:defRPr>
            </a:lvl3pPr>
            <a:lvl4pPr marL="1828800" marR="0" lvl="3"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4pPr>
            <a:lvl5pPr marL="2286000" marR="0" lvl="4"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5pPr>
            <a:lvl6pPr marL="2743200" marR="0" lvl="5"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pic>
        <p:nvPicPr>
          <p:cNvPr id="28" name="Google Shape;28;p24"/>
          <p:cNvPicPr preferRelativeResize="0"/>
          <p:nvPr/>
        </p:nvPicPr>
        <p:blipFill rotWithShape="1">
          <a:blip r:embed="rId5">
            <a:alphaModFix/>
          </a:blip>
          <a:srcRect/>
          <a:stretch/>
        </p:blipFill>
        <p:spPr>
          <a:xfrm>
            <a:off x="5634036" y="2713398"/>
            <a:ext cx="3509964" cy="243010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el und Inhalt" type="obj">
  <p:cSld name="OBJECT">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304701" y="87782"/>
            <a:ext cx="6019937" cy="826619"/>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1" i="0" u="none" strike="noStrike" cap="none">
                <a:solidFill>
                  <a:schemeClr val="lt1"/>
                </a:solidFill>
                <a:latin typeface="Arial"/>
                <a:ea typeface="Arial"/>
                <a:cs typeface="Arial"/>
                <a:sym typeface="Arial"/>
              </a:defRPr>
            </a:lvl1pPr>
            <a:lvl2pPr marR="0" lvl="1" algn="ctr" rtl="0">
              <a:spcBef>
                <a:spcPts val="0"/>
              </a:spcBef>
              <a:spcAft>
                <a:spcPts val="0"/>
              </a:spcAft>
              <a:buSzPts val="1400"/>
              <a:buNone/>
              <a:defRPr sz="4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200" b="0" i="0" u="none" strike="noStrike" cap="none">
                <a:solidFill>
                  <a:schemeClr val="dk2"/>
                </a:solidFill>
                <a:latin typeface="Arial"/>
                <a:ea typeface="Arial"/>
                <a:cs typeface="Arial"/>
                <a:sym typeface="Arial"/>
              </a:defRPr>
            </a:lvl9pPr>
          </a:lstStyle>
          <a:p>
            <a:endParaRPr/>
          </a:p>
        </p:txBody>
      </p:sp>
      <p:sp>
        <p:nvSpPr>
          <p:cNvPr id="31" name="Google Shape;31;p25"/>
          <p:cNvSpPr txBox="1">
            <a:spLocks noGrp="1"/>
          </p:cNvSpPr>
          <p:nvPr>
            <p:ph type="body" idx="1"/>
          </p:nvPr>
        </p:nvSpPr>
        <p:spPr>
          <a:xfrm>
            <a:off x="304703" y="1199563"/>
            <a:ext cx="8382350" cy="3392102"/>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0"/>
              </a:spcBef>
              <a:spcAft>
                <a:spcPts val="0"/>
              </a:spcAft>
              <a:buClr>
                <a:schemeClr val="dk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355600" algn="l" rtl="0">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1_Titelfolie" type="title">
  <p:cSld name="TITLE">
    <p:spTree>
      <p:nvGrpSpPr>
        <p:cNvPr id="1" name="Shape 32"/>
        <p:cNvGrpSpPr/>
        <p:nvPr/>
      </p:nvGrpSpPr>
      <p:grpSpPr>
        <a:xfrm>
          <a:off x="0" y="0"/>
          <a:ext cx="0" cy="0"/>
          <a:chOff x="0" y="0"/>
          <a:chExt cx="0" cy="0"/>
        </a:xfrm>
      </p:grpSpPr>
      <p:sp>
        <p:nvSpPr>
          <p:cNvPr id="33" name="Google Shape;33;p26"/>
          <p:cNvSpPr txBox="1">
            <a:spLocks noGrp="1"/>
          </p:cNvSpPr>
          <p:nvPr>
            <p:ph type="ctrTitle"/>
          </p:nvPr>
        </p:nvSpPr>
        <p:spPr>
          <a:xfrm>
            <a:off x="685424" y="1412058"/>
            <a:ext cx="7773156" cy="139886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200" b="0" i="0" u="none" strike="noStrike" cap="none">
                <a:solidFill>
                  <a:schemeClr val="dk2"/>
                </a:solidFill>
                <a:latin typeface="Tahoma"/>
                <a:ea typeface="Tahoma"/>
                <a:cs typeface="Tahoma"/>
                <a:sym typeface="Tahoma"/>
              </a:defRPr>
            </a:lvl1pPr>
            <a:lvl2pPr marR="0" lvl="1" algn="ctr" rtl="0">
              <a:spcBef>
                <a:spcPts val="0"/>
              </a:spcBef>
              <a:spcAft>
                <a:spcPts val="0"/>
              </a:spcAft>
              <a:buSzPts val="1400"/>
              <a:buNone/>
              <a:defRPr sz="4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200" b="0" i="0" u="none" strike="noStrike" cap="none">
                <a:solidFill>
                  <a:schemeClr val="dk2"/>
                </a:solidFill>
                <a:latin typeface="Arial"/>
                <a:ea typeface="Arial"/>
                <a:cs typeface="Arial"/>
                <a:sym typeface="Arial"/>
              </a:defRPr>
            </a:lvl9pPr>
          </a:lstStyle>
          <a:p>
            <a:endParaRPr/>
          </a:p>
        </p:txBody>
      </p:sp>
      <p:sp>
        <p:nvSpPr>
          <p:cNvPr id="34" name="Google Shape;34;p26"/>
          <p:cNvSpPr txBox="1">
            <a:spLocks noGrp="1"/>
          </p:cNvSpPr>
          <p:nvPr>
            <p:ph type="subTitle" idx="1"/>
          </p:nvPr>
        </p:nvSpPr>
        <p:spPr>
          <a:xfrm>
            <a:off x="457159" y="2993335"/>
            <a:ext cx="4573470" cy="905967"/>
          </a:xfrm>
          <a:prstGeom prst="rect">
            <a:avLst/>
          </a:prstGeom>
          <a:noFill/>
          <a:ln>
            <a:noFill/>
          </a:ln>
        </p:spPr>
        <p:txBody>
          <a:bodyPr spcFirstLastPara="1" wrap="square" lIns="0" tIns="45700" rIns="91425" bIns="45700" anchor="t" anchorCtr="0">
            <a:noAutofit/>
          </a:bodyPr>
          <a:lstStyle>
            <a:lvl1pPr marR="0" lvl="0" algn="l" rtl="0">
              <a:spcBef>
                <a:spcPts val="0"/>
              </a:spcBef>
              <a:spcAft>
                <a:spcPts val="0"/>
              </a:spcAft>
              <a:buClr>
                <a:schemeClr val="dk1"/>
              </a:buClr>
              <a:buSzPts val="1800"/>
              <a:buFont typeface="Tahoma"/>
              <a:buNone/>
              <a:defRPr sz="1800" b="0" i="0" u="none" strike="noStrike" cap="none">
                <a:solidFill>
                  <a:schemeClr val="dk1"/>
                </a:solidFill>
                <a:latin typeface="Tahoma"/>
                <a:ea typeface="Tahoma"/>
                <a:cs typeface="Tahoma"/>
                <a:sym typeface="Tahoma"/>
              </a:defRPr>
            </a:lvl1pPr>
            <a:lvl2pPr marR="0" lvl="1" algn="ctr" rtl="0">
              <a:spcBef>
                <a:spcPts val="0"/>
              </a:spcBef>
              <a:spcAft>
                <a:spcPts val="0"/>
              </a:spcAft>
              <a:buClr>
                <a:schemeClr val="dk1"/>
              </a:buClr>
              <a:buSzPts val="2600"/>
              <a:buFont typeface="Arial"/>
              <a:buNone/>
              <a:defRPr sz="2600" b="0" i="0" u="none" strike="noStrike" cap="none">
                <a:solidFill>
                  <a:schemeClr val="dk1"/>
                </a:solidFill>
                <a:latin typeface="Arial"/>
                <a:ea typeface="Arial"/>
                <a:cs typeface="Arial"/>
                <a:sym typeface="Arial"/>
              </a:defRPr>
            </a:lvl2pPr>
            <a:lvl3pPr marR="0" lvl="2" algn="ctr" rtl="0">
              <a:spcBef>
                <a:spcPts val="0"/>
              </a:spcBef>
              <a:spcAft>
                <a:spcPts val="0"/>
              </a:spcAft>
              <a:buClr>
                <a:schemeClr val="dk1"/>
              </a:buClr>
              <a:buSzPts val="2300"/>
              <a:buFont typeface="Arial"/>
              <a:buNone/>
              <a:defRPr sz="2300" b="0" i="0" u="none" strike="noStrike" cap="none">
                <a:solidFill>
                  <a:schemeClr val="dk1"/>
                </a:solidFill>
                <a:latin typeface="Arial"/>
                <a:ea typeface="Arial"/>
                <a:cs typeface="Arial"/>
                <a:sym typeface="Arial"/>
              </a:defRPr>
            </a:lvl3pPr>
            <a:lvl4pPr marR="0" lvl="3" algn="ctr" rtl="0">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4pPr>
            <a:lvl5pPr marR="0" lvl="4" algn="ctr" rtl="0">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5pPr>
            <a:lvl6pPr marR="0" lvl="5" algn="ctr" rtl="0">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6pPr>
            <a:lvl7pPr marR="0" lvl="6" algn="ctr" rtl="0">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7pPr>
            <a:lvl8pPr marR="0" lvl="7" algn="ctr" rtl="0">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8pPr>
            <a:lvl9pPr marR="0" lvl="8" algn="ctr" rtl="0">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9pPr>
          </a:lstStyle>
          <a:p>
            <a:endParaRPr/>
          </a:p>
        </p:txBody>
      </p:sp>
      <p:sp>
        <p:nvSpPr>
          <p:cNvPr id="35" name="Google Shape;35;p26"/>
          <p:cNvSpPr/>
          <p:nvPr/>
        </p:nvSpPr>
        <p:spPr>
          <a:xfrm>
            <a:off x="2" y="1"/>
            <a:ext cx="9144000" cy="914792"/>
          </a:xfrm>
          <a:prstGeom prst="rect">
            <a:avLst/>
          </a:prstGeom>
          <a:solidFill>
            <a:srgbClr val="00219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00"/>
              <a:buFont typeface="Arial"/>
              <a:buNone/>
            </a:pPr>
            <a:endParaRPr sz="1700" b="0" i="0" u="none" strike="noStrike" cap="none">
              <a:solidFill>
                <a:srgbClr val="000000"/>
              </a:solidFill>
              <a:latin typeface="Arial"/>
              <a:ea typeface="Arial"/>
              <a:cs typeface="Arial"/>
              <a:sym typeface="Arial"/>
            </a:endParaRPr>
          </a:p>
        </p:txBody>
      </p:sp>
      <p:sp>
        <p:nvSpPr>
          <p:cNvPr id="36" name="Google Shape;36;p26"/>
          <p:cNvSpPr txBox="1"/>
          <p:nvPr/>
        </p:nvSpPr>
        <p:spPr>
          <a:xfrm>
            <a:off x="1828639" y="4115228"/>
            <a:ext cx="3200473" cy="79382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200"/>
              <a:buFont typeface="Tahoma"/>
              <a:buNone/>
            </a:pPr>
            <a:r>
              <a:rPr lang="de-DE" sz="1200" b="0" i="0" u="none" strike="noStrike" cap="none">
                <a:solidFill>
                  <a:srgbClr val="000000"/>
                </a:solidFill>
                <a:latin typeface="Tahoma"/>
                <a:ea typeface="Tahoma"/>
                <a:cs typeface="Tahoma"/>
                <a:sym typeface="Tahoma"/>
              </a:rPr>
              <a:t>Chair of Power Electronics</a:t>
            </a: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1200"/>
              <a:buFont typeface="Tahoma"/>
              <a:buNone/>
            </a:pPr>
            <a:r>
              <a:rPr lang="de-DE" sz="1200" b="0" i="0" u="none" strike="noStrike" cap="none">
                <a:solidFill>
                  <a:srgbClr val="000000"/>
                </a:solidFill>
                <a:latin typeface="Tahoma"/>
                <a:ea typeface="Tahoma"/>
                <a:cs typeface="Tahoma"/>
                <a:sym typeface="Tahoma"/>
              </a:rPr>
              <a:t>Christian-Albrechts-Universität zu Kiel</a:t>
            </a: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1200"/>
              <a:buFont typeface="Tahoma"/>
              <a:buNone/>
            </a:pPr>
            <a:r>
              <a:rPr lang="de-DE" sz="1200" b="0" i="0" u="none" strike="noStrike" cap="none">
                <a:solidFill>
                  <a:srgbClr val="000000"/>
                </a:solidFill>
                <a:latin typeface="Tahoma"/>
                <a:ea typeface="Tahoma"/>
                <a:cs typeface="Tahoma"/>
                <a:sym typeface="Tahoma"/>
              </a:rPr>
              <a:t>Kaiserstraße 2</a:t>
            </a: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1200"/>
              <a:buFont typeface="Tahoma"/>
              <a:buNone/>
            </a:pPr>
            <a:r>
              <a:rPr lang="de-DE" sz="1200" b="0" i="0" u="none" strike="noStrike" cap="none">
                <a:solidFill>
                  <a:srgbClr val="000000"/>
                </a:solidFill>
                <a:latin typeface="Tahoma"/>
                <a:ea typeface="Tahoma"/>
                <a:cs typeface="Tahoma"/>
                <a:sym typeface="Tahoma"/>
              </a:rPr>
              <a:t>24143 Kiel</a:t>
            </a: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endParaRPr sz="1200" b="1" i="0" u="none" strike="noStrike" cap="none">
              <a:solidFill>
                <a:srgbClr val="000000"/>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1200"/>
              <a:buFont typeface="Arial"/>
              <a:buNone/>
            </a:pPr>
            <a:endParaRPr sz="1200" b="1" i="0" u="none" strike="noStrike" cap="none">
              <a:solidFill>
                <a:srgbClr val="000000"/>
              </a:solidFill>
              <a:latin typeface="Tahoma"/>
              <a:ea typeface="Tahoma"/>
              <a:cs typeface="Tahoma"/>
              <a:sym typeface="Tahoma"/>
            </a:endParaRPr>
          </a:p>
        </p:txBody>
      </p:sp>
      <p:grpSp>
        <p:nvGrpSpPr>
          <p:cNvPr id="37" name="Google Shape;37;p26"/>
          <p:cNvGrpSpPr/>
          <p:nvPr/>
        </p:nvGrpSpPr>
        <p:grpSpPr>
          <a:xfrm>
            <a:off x="6595950" y="66474"/>
            <a:ext cx="2286000" cy="762000"/>
            <a:chOff x="4320" y="0"/>
            <a:chExt cx="1440" cy="480"/>
          </a:xfrm>
        </p:grpSpPr>
        <p:pic>
          <p:nvPicPr>
            <p:cNvPr id="38" name="Google Shape;38;p26" descr="CAU-Text-0300b"/>
            <p:cNvPicPr preferRelativeResize="0"/>
            <p:nvPr/>
          </p:nvPicPr>
          <p:blipFill rotWithShape="1">
            <a:blip r:embed="rId2">
              <a:alphaModFix/>
            </a:blip>
            <a:srcRect/>
            <a:stretch/>
          </p:blipFill>
          <p:spPr>
            <a:xfrm>
              <a:off x="4320" y="240"/>
              <a:ext cx="1440" cy="240"/>
            </a:xfrm>
            <a:prstGeom prst="rect">
              <a:avLst/>
            </a:prstGeom>
            <a:noFill/>
            <a:ln>
              <a:noFill/>
            </a:ln>
          </p:spPr>
        </p:pic>
        <p:pic>
          <p:nvPicPr>
            <p:cNvPr id="39" name="Google Shape;39;p26" descr="CAU-pur-sw-0150"/>
            <p:cNvPicPr preferRelativeResize="0"/>
            <p:nvPr/>
          </p:nvPicPr>
          <p:blipFill rotWithShape="1">
            <a:blip r:embed="rId3">
              <a:alphaModFix/>
            </a:blip>
            <a:srcRect/>
            <a:stretch/>
          </p:blipFill>
          <p:spPr>
            <a:xfrm>
              <a:off x="4320" y="0"/>
              <a:ext cx="721" cy="240"/>
            </a:xfrm>
            <a:prstGeom prst="rect">
              <a:avLst/>
            </a:prstGeom>
            <a:noFill/>
            <a:ln>
              <a:noFill/>
            </a:ln>
          </p:spPr>
        </p:pic>
      </p:grpSp>
      <p:pic>
        <p:nvPicPr>
          <p:cNvPr id="40" name="Google Shape;40;p26"/>
          <p:cNvPicPr preferRelativeResize="0"/>
          <p:nvPr/>
        </p:nvPicPr>
        <p:blipFill rotWithShape="1">
          <a:blip r:embed="rId4">
            <a:alphaModFix/>
          </a:blip>
          <a:srcRect/>
          <a:stretch/>
        </p:blipFill>
        <p:spPr>
          <a:xfrm>
            <a:off x="457159" y="4115227"/>
            <a:ext cx="913973" cy="913973"/>
          </a:xfrm>
          <a:prstGeom prst="rect">
            <a:avLst/>
          </a:prstGeom>
          <a:noFill/>
          <a:ln>
            <a:noFill/>
          </a:ln>
        </p:spPr>
      </p:pic>
      <p:pic>
        <p:nvPicPr>
          <p:cNvPr id="41" name="Google Shape;41;p26"/>
          <p:cNvPicPr preferRelativeResize="0"/>
          <p:nvPr/>
        </p:nvPicPr>
        <p:blipFill rotWithShape="1">
          <a:blip r:embed="rId5">
            <a:alphaModFix/>
          </a:blip>
          <a:srcRect/>
          <a:stretch/>
        </p:blipFill>
        <p:spPr>
          <a:xfrm>
            <a:off x="6511527" y="3320923"/>
            <a:ext cx="2632473" cy="182257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bschnittsüberschrift" type="secHead">
  <p:cSld name="SECTION_HEADER">
    <p:spTree>
      <p:nvGrpSpPr>
        <p:cNvPr id="1" name="Shape 42"/>
        <p:cNvGrpSpPr/>
        <p:nvPr/>
      </p:nvGrpSpPr>
      <p:grpSpPr>
        <a:xfrm>
          <a:off x="0" y="0"/>
          <a:ext cx="0" cy="0"/>
          <a:chOff x="0" y="0"/>
          <a:chExt cx="0" cy="0"/>
        </a:xfrm>
      </p:grpSpPr>
      <p:sp>
        <p:nvSpPr>
          <p:cNvPr id="43" name="Google Shape;43;p27"/>
          <p:cNvSpPr txBox="1">
            <a:spLocks noGrp="1"/>
          </p:cNvSpPr>
          <p:nvPr>
            <p:ph type="title"/>
          </p:nvPr>
        </p:nvSpPr>
        <p:spPr>
          <a:xfrm>
            <a:off x="722383" y="3305096"/>
            <a:ext cx="7773156" cy="102189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000" b="1"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200" b="0" i="0" u="none" strike="noStrike" cap="none">
                <a:solidFill>
                  <a:schemeClr val="dk2"/>
                </a:solidFill>
                <a:latin typeface="Arial"/>
                <a:ea typeface="Arial"/>
                <a:cs typeface="Arial"/>
                <a:sym typeface="Arial"/>
              </a:defRPr>
            </a:lvl9pPr>
          </a:lstStyle>
          <a:p>
            <a:endParaRPr/>
          </a:p>
        </p:txBody>
      </p:sp>
      <p:sp>
        <p:nvSpPr>
          <p:cNvPr id="44" name="Google Shape;44;p27"/>
          <p:cNvSpPr txBox="1">
            <a:spLocks noGrp="1"/>
          </p:cNvSpPr>
          <p:nvPr>
            <p:ph type="body" idx="1"/>
          </p:nvPr>
        </p:nvSpPr>
        <p:spPr>
          <a:xfrm>
            <a:off x="722383" y="2179876"/>
            <a:ext cx="7773156" cy="1125220"/>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Zwei Inhalte">
  <p:cSld name="Zwei Inhalte">
    <p:spTree>
      <p:nvGrpSpPr>
        <p:cNvPr id="1" name="Shape 45"/>
        <p:cNvGrpSpPr/>
        <p:nvPr/>
      </p:nvGrpSpPr>
      <p:grpSpPr>
        <a:xfrm>
          <a:off x="0" y="0"/>
          <a:ext cx="0" cy="0"/>
          <a:chOff x="0" y="0"/>
          <a:chExt cx="0" cy="0"/>
        </a:xfrm>
      </p:grpSpPr>
      <p:sp>
        <p:nvSpPr>
          <p:cNvPr id="46" name="Google Shape;46;p28"/>
          <p:cNvSpPr txBox="1">
            <a:spLocks noGrp="1"/>
          </p:cNvSpPr>
          <p:nvPr>
            <p:ph type="body" idx="1"/>
          </p:nvPr>
        </p:nvSpPr>
        <p:spPr>
          <a:xfrm>
            <a:off x="456948" y="1199563"/>
            <a:ext cx="4033574" cy="3394559"/>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0"/>
              </a:spcBef>
              <a:spcAft>
                <a:spcPts val="0"/>
              </a:spcAft>
              <a:buClr>
                <a:schemeClr val="dk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355600" algn="l" rtl="0">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7" name="Google Shape;47;p28"/>
          <p:cNvSpPr txBox="1">
            <a:spLocks noGrp="1"/>
          </p:cNvSpPr>
          <p:nvPr>
            <p:ph type="body" idx="2"/>
          </p:nvPr>
        </p:nvSpPr>
        <p:spPr>
          <a:xfrm>
            <a:off x="4651800" y="1199563"/>
            <a:ext cx="4035254" cy="3394559"/>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0"/>
              </a:spcBef>
              <a:spcAft>
                <a:spcPts val="0"/>
              </a:spcAft>
              <a:buClr>
                <a:schemeClr val="dk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355600" algn="l" rtl="0">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8" name="Google Shape;48;p28"/>
          <p:cNvSpPr txBox="1">
            <a:spLocks noGrp="1"/>
          </p:cNvSpPr>
          <p:nvPr>
            <p:ph type="title"/>
          </p:nvPr>
        </p:nvSpPr>
        <p:spPr>
          <a:xfrm>
            <a:off x="304701" y="87782"/>
            <a:ext cx="6019937" cy="826619"/>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1" i="0" u="none" strike="noStrike" cap="none">
                <a:solidFill>
                  <a:schemeClr val="lt1"/>
                </a:solidFill>
                <a:latin typeface="Arial"/>
                <a:ea typeface="Arial"/>
                <a:cs typeface="Arial"/>
                <a:sym typeface="Arial"/>
              </a:defRPr>
            </a:lvl1pPr>
            <a:lvl2pPr marR="0" lvl="1" algn="ctr" rtl="0">
              <a:spcBef>
                <a:spcPts val="0"/>
              </a:spcBef>
              <a:spcAft>
                <a:spcPts val="0"/>
              </a:spcAft>
              <a:buSzPts val="1400"/>
              <a:buNone/>
              <a:defRPr sz="4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200" b="0" i="0" u="none" strike="noStrike" cap="none">
                <a:solidFill>
                  <a:schemeClr val="dk2"/>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gleich" type="twoTxTwoObj">
  <p:cSld name="TWO_OBJECTS_WITH_TEXT">
    <p:spTree>
      <p:nvGrpSpPr>
        <p:cNvPr id="1" name="Shape 49"/>
        <p:cNvGrpSpPr/>
        <p:nvPr/>
      </p:nvGrpSpPr>
      <p:grpSpPr>
        <a:xfrm>
          <a:off x="0" y="0"/>
          <a:ext cx="0" cy="0"/>
          <a:chOff x="0" y="0"/>
          <a:chExt cx="0" cy="0"/>
        </a:xfrm>
      </p:grpSpPr>
      <p:sp>
        <p:nvSpPr>
          <p:cNvPr id="50" name="Google Shape;50;p29"/>
          <p:cNvSpPr txBox="1">
            <a:spLocks noGrp="1"/>
          </p:cNvSpPr>
          <p:nvPr>
            <p:ph type="title"/>
          </p:nvPr>
        </p:nvSpPr>
        <p:spPr>
          <a:xfrm>
            <a:off x="456950" y="205389"/>
            <a:ext cx="8230104" cy="85809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200" b="0" i="0" u="none" strike="noStrike" cap="none">
                <a:solidFill>
                  <a:schemeClr val="dk2"/>
                </a:solidFill>
                <a:latin typeface="Arial"/>
                <a:ea typeface="Arial"/>
                <a:cs typeface="Arial"/>
                <a:sym typeface="Arial"/>
              </a:defRPr>
            </a:lvl9pPr>
          </a:lstStyle>
          <a:p>
            <a:endParaRPr/>
          </a:p>
        </p:txBody>
      </p:sp>
      <p:sp>
        <p:nvSpPr>
          <p:cNvPr id="51" name="Google Shape;51;p29"/>
          <p:cNvSpPr txBox="1">
            <a:spLocks noGrp="1"/>
          </p:cNvSpPr>
          <p:nvPr>
            <p:ph type="body" idx="1"/>
          </p:nvPr>
        </p:nvSpPr>
        <p:spPr>
          <a:xfrm>
            <a:off x="456948" y="1151680"/>
            <a:ext cx="4040293" cy="48007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52" name="Google Shape;52;p29"/>
          <p:cNvSpPr txBox="1">
            <a:spLocks noGrp="1"/>
          </p:cNvSpPr>
          <p:nvPr>
            <p:ph type="body" idx="2"/>
          </p:nvPr>
        </p:nvSpPr>
        <p:spPr>
          <a:xfrm>
            <a:off x="456948" y="1631758"/>
            <a:ext cx="4040293" cy="2962363"/>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3" name="Google Shape;53;p29"/>
          <p:cNvSpPr txBox="1">
            <a:spLocks noGrp="1"/>
          </p:cNvSpPr>
          <p:nvPr>
            <p:ph type="body" idx="3"/>
          </p:nvPr>
        </p:nvSpPr>
        <p:spPr>
          <a:xfrm>
            <a:off x="4645080" y="1151680"/>
            <a:ext cx="4041973" cy="48007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54" name="Google Shape;54;p29"/>
          <p:cNvSpPr txBox="1">
            <a:spLocks noGrp="1"/>
          </p:cNvSpPr>
          <p:nvPr>
            <p:ph type="body" idx="4"/>
          </p:nvPr>
        </p:nvSpPr>
        <p:spPr>
          <a:xfrm>
            <a:off x="4645080" y="1631758"/>
            <a:ext cx="4041973" cy="2962363"/>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Nur Titel">
  <p:cSld name="Nur Titel">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304701" y="87782"/>
            <a:ext cx="6019937" cy="826619"/>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1" i="0" u="none" strike="noStrike" cap="none">
                <a:solidFill>
                  <a:schemeClr val="lt1"/>
                </a:solidFill>
                <a:latin typeface="Arial"/>
                <a:ea typeface="Arial"/>
                <a:cs typeface="Arial"/>
                <a:sym typeface="Arial"/>
              </a:defRPr>
            </a:lvl1pPr>
            <a:lvl2pPr marR="0" lvl="1" algn="ctr" rtl="0">
              <a:spcBef>
                <a:spcPts val="0"/>
              </a:spcBef>
              <a:spcAft>
                <a:spcPts val="0"/>
              </a:spcAft>
              <a:buSzPts val="1400"/>
              <a:buNone/>
              <a:defRPr sz="4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200" b="0" i="0" u="none" strike="noStrike" cap="none">
                <a:solidFill>
                  <a:schemeClr val="dk2"/>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eer" type="blank">
  <p:cSld name="BLANK">
    <p:spTree>
      <p:nvGrpSpPr>
        <p:cNvPr id="1" name="Shape 57"/>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nhalt mit Überschrift" type="objTx">
  <p:cSld name="OBJECT_WITH_CAPTION_TEXT">
    <p:spTree>
      <p:nvGrpSpPr>
        <p:cNvPr id="1" name="Shape 58"/>
        <p:cNvGrpSpPr/>
        <p:nvPr/>
      </p:nvGrpSpPr>
      <p:grpSpPr>
        <a:xfrm>
          <a:off x="0" y="0"/>
          <a:ext cx="0" cy="0"/>
          <a:chOff x="0" y="0"/>
          <a:chExt cx="0" cy="0"/>
        </a:xfrm>
      </p:grpSpPr>
      <p:sp>
        <p:nvSpPr>
          <p:cNvPr id="59" name="Google Shape;59;p32"/>
          <p:cNvSpPr txBox="1">
            <a:spLocks noGrp="1"/>
          </p:cNvSpPr>
          <p:nvPr>
            <p:ph type="title"/>
          </p:nvPr>
        </p:nvSpPr>
        <p:spPr>
          <a:xfrm>
            <a:off x="456950" y="205388"/>
            <a:ext cx="3008801" cy="87069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200" b="0" i="0" u="none" strike="noStrike" cap="none">
                <a:solidFill>
                  <a:schemeClr val="dk2"/>
                </a:solidFill>
                <a:latin typeface="Arial"/>
                <a:ea typeface="Arial"/>
                <a:cs typeface="Arial"/>
                <a:sym typeface="Arial"/>
              </a:defRPr>
            </a:lvl9pPr>
          </a:lstStyle>
          <a:p>
            <a:endParaRPr/>
          </a:p>
        </p:txBody>
      </p:sp>
      <p:sp>
        <p:nvSpPr>
          <p:cNvPr id="60" name="Google Shape;60;p32"/>
          <p:cNvSpPr txBox="1">
            <a:spLocks noGrp="1"/>
          </p:cNvSpPr>
          <p:nvPr>
            <p:ph type="body" idx="1"/>
          </p:nvPr>
        </p:nvSpPr>
        <p:spPr>
          <a:xfrm>
            <a:off x="3574948" y="205388"/>
            <a:ext cx="5112106" cy="438873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1" name="Google Shape;61;p32"/>
          <p:cNvSpPr txBox="1">
            <a:spLocks noGrp="1"/>
          </p:cNvSpPr>
          <p:nvPr>
            <p:ph type="body" idx="2"/>
          </p:nvPr>
        </p:nvSpPr>
        <p:spPr>
          <a:xfrm>
            <a:off x="456950" y="1076079"/>
            <a:ext cx="3008801" cy="351804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ld mit Überschrift" type="picTx">
  <p:cSld name="PICTURE_WITH_CAPTION_TEXT">
    <p:spTree>
      <p:nvGrpSpPr>
        <p:cNvPr id="1" name="Shape 62"/>
        <p:cNvGrpSpPr/>
        <p:nvPr/>
      </p:nvGrpSpPr>
      <p:grpSpPr>
        <a:xfrm>
          <a:off x="0" y="0"/>
          <a:ext cx="0" cy="0"/>
          <a:chOff x="0" y="0"/>
          <a:chExt cx="0" cy="0"/>
        </a:xfrm>
      </p:grpSpPr>
      <p:sp>
        <p:nvSpPr>
          <p:cNvPr id="63" name="Google Shape;63;p33"/>
          <p:cNvSpPr txBox="1">
            <a:spLocks noGrp="1"/>
          </p:cNvSpPr>
          <p:nvPr>
            <p:ph type="title"/>
          </p:nvPr>
        </p:nvSpPr>
        <p:spPr>
          <a:xfrm>
            <a:off x="1792515" y="3599948"/>
            <a:ext cx="5486736" cy="42589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200" b="0" i="0" u="none" strike="noStrike" cap="none">
                <a:solidFill>
                  <a:schemeClr val="dk2"/>
                </a:solidFill>
                <a:latin typeface="Arial"/>
                <a:ea typeface="Arial"/>
                <a:cs typeface="Arial"/>
                <a:sym typeface="Arial"/>
              </a:defRPr>
            </a:lvl9pPr>
          </a:lstStyle>
          <a:p>
            <a:endParaRPr/>
          </a:p>
        </p:txBody>
      </p:sp>
      <p:sp>
        <p:nvSpPr>
          <p:cNvPr id="64" name="Google Shape;64;p33"/>
          <p:cNvSpPr>
            <a:spLocks noGrp="1"/>
          </p:cNvSpPr>
          <p:nvPr>
            <p:ph type="pic" idx="2"/>
          </p:nvPr>
        </p:nvSpPr>
        <p:spPr>
          <a:xfrm>
            <a:off x="1792515" y="459917"/>
            <a:ext cx="5486736" cy="3085848"/>
          </a:xfrm>
          <a:prstGeom prst="rect">
            <a:avLst/>
          </a:prstGeom>
          <a:noFill/>
          <a:ln>
            <a:noFill/>
          </a:ln>
        </p:spPr>
      </p:sp>
      <p:sp>
        <p:nvSpPr>
          <p:cNvPr id="65" name="Google Shape;65;p33"/>
          <p:cNvSpPr txBox="1">
            <a:spLocks noGrp="1"/>
          </p:cNvSpPr>
          <p:nvPr>
            <p:ph type="body" idx="1"/>
          </p:nvPr>
        </p:nvSpPr>
        <p:spPr>
          <a:xfrm>
            <a:off x="1792515" y="4025841"/>
            <a:ext cx="5486736" cy="60356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el und vertikaler Text" type="vertTx">
  <p:cSld name="VERTICAL_TEXT">
    <p:spTree>
      <p:nvGrpSpPr>
        <p:cNvPr id="1" name="Shape 66"/>
        <p:cNvGrpSpPr/>
        <p:nvPr/>
      </p:nvGrpSpPr>
      <p:grpSpPr>
        <a:xfrm>
          <a:off x="0" y="0"/>
          <a:ext cx="0" cy="0"/>
          <a:chOff x="0" y="0"/>
          <a:chExt cx="0" cy="0"/>
        </a:xfrm>
      </p:grpSpPr>
      <p:sp>
        <p:nvSpPr>
          <p:cNvPr id="67" name="Google Shape;67;p34"/>
          <p:cNvSpPr txBox="1">
            <a:spLocks noGrp="1"/>
          </p:cNvSpPr>
          <p:nvPr>
            <p:ph type="title"/>
          </p:nvPr>
        </p:nvSpPr>
        <p:spPr>
          <a:xfrm>
            <a:off x="456950" y="205389"/>
            <a:ext cx="8230104" cy="85809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200" b="0" i="0" u="none" strike="noStrike" cap="none">
                <a:solidFill>
                  <a:schemeClr val="dk2"/>
                </a:solidFill>
                <a:latin typeface="Arial"/>
                <a:ea typeface="Arial"/>
                <a:cs typeface="Arial"/>
                <a:sym typeface="Arial"/>
              </a:defRPr>
            </a:lvl9pPr>
          </a:lstStyle>
          <a:p>
            <a:endParaRPr/>
          </a:p>
        </p:txBody>
      </p:sp>
      <p:sp>
        <p:nvSpPr>
          <p:cNvPr id="68" name="Google Shape;68;p34"/>
          <p:cNvSpPr txBox="1">
            <a:spLocks noGrp="1"/>
          </p:cNvSpPr>
          <p:nvPr>
            <p:ph type="body" idx="1"/>
          </p:nvPr>
        </p:nvSpPr>
        <p:spPr>
          <a:xfrm rot="5400000">
            <a:off x="2874723" y="-1218210"/>
            <a:ext cx="3394559" cy="8230104"/>
          </a:xfrm>
          <a:prstGeom prst="rect">
            <a:avLst/>
          </a:prstGeom>
          <a:noFill/>
          <a:ln>
            <a:noFill/>
          </a:ln>
        </p:spPr>
        <p:txBody>
          <a:bodyPr spcFirstLastPara="1" wrap="square" lIns="91425" tIns="45700" rIns="91425" bIns="45700" anchor="t" anchorCtr="0">
            <a:noAutofit/>
          </a:bodyPr>
          <a:lstStyle>
            <a:lvl1pPr marL="457200" marR="0" lvl="0" indent="-419100" algn="l" rtl="0">
              <a:spcBef>
                <a:spcPts val="0"/>
              </a:spcBef>
              <a:spcAft>
                <a:spcPts val="0"/>
              </a:spcAft>
              <a:buClr>
                <a:schemeClr val="dk1"/>
              </a:buClr>
              <a:buSzPts val="3000"/>
              <a:buFont typeface="Arial"/>
              <a:buChar char="•"/>
              <a:defRPr sz="3000" b="0" i="0" u="none" strike="noStrike" cap="none">
                <a:solidFill>
                  <a:schemeClr val="dk1"/>
                </a:solidFill>
                <a:latin typeface="Arial"/>
                <a:ea typeface="Arial"/>
                <a:cs typeface="Arial"/>
                <a:sym typeface="Arial"/>
              </a:defRPr>
            </a:lvl1pPr>
            <a:lvl2pPr marL="914400" marR="0" lvl="1" indent="-393700" algn="l" rtl="0">
              <a:spcBef>
                <a:spcPts val="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2pPr>
            <a:lvl3pPr marL="1371600" marR="0" lvl="2" indent="-374650" algn="l" rtl="0">
              <a:spcBef>
                <a:spcPts val="0"/>
              </a:spcBef>
              <a:spcAft>
                <a:spcPts val="0"/>
              </a:spcAft>
              <a:buClr>
                <a:schemeClr val="dk1"/>
              </a:buClr>
              <a:buSzPts val="2300"/>
              <a:buFont typeface="Arial"/>
              <a:buChar char="•"/>
              <a:defRPr sz="2300" b="0" i="0" u="none" strike="noStrike" cap="none">
                <a:solidFill>
                  <a:schemeClr val="dk1"/>
                </a:solidFill>
                <a:latin typeface="Arial"/>
                <a:ea typeface="Arial"/>
                <a:cs typeface="Arial"/>
                <a:sym typeface="Arial"/>
              </a:defRPr>
            </a:lvl3pPr>
            <a:lvl4pPr marL="1828800" marR="0" lvl="3"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4pPr>
            <a:lvl5pPr marL="2286000" marR="0" lvl="4"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5pPr>
            <a:lvl6pPr marL="2743200" marR="0" lvl="5"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kaler Titel und Text" type="vertTitleAndTx">
  <p:cSld name="VERTICAL_TITLE_AND_VERTICAL_TEXT">
    <p:spTree>
      <p:nvGrpSpPr>
        <p:cNvPr id="1" name="Shape 69"/>
        <p:cNvGrpSpPr/>
        <p:nvPr/>
      </p:nvGrpSpPr>
      <p:grpSpPr>
        <a:xfrm>
          <a:off x="0" y="0"/>
          <a:ext cx="0" cy="0"/>
          <a:chOff x="0" y="0"/>
          <a:chExt cx="0" cy="0"/>
        </a:xfrm>
      </p:grpSpPr>
      <p:sp>
        <p:nvSpPr>
          <p:cNvPr id="70" name="Google Shape;70;p35"/>
          <p:cNvSpPr txBox="1">
            <a:spLocks noGrp="1"/>
          </p:cNvSpPr>
          <p:nvPr>
            <p:ph type="title"/>
          </p:nvPr>
        </p:nvSpPr>
        <p:spPr>
          <a:xfrm rot="5400000">
            <a:off x="5464553" y="1371622"/>
            <a:ext cx="4388733" cy="2056266"/>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200" b="0" i="0" u="none" strike="noStrike" cap="none">
                <a:solidFill>
                  <a:schemeClr val="dk2"/>
                </a:solidFill>
                <a:latin typeface="Arial"/>
                <a:ea typeface="Arial"/>
                <a:cs typeface="Arial"/>
                <a:sym typeface="Arial"/>
              </a:defRPr>
            </a:lvl9pPr>
          </a:lstStyle>
          <a:p>
            <a:endParaRPr/>
          </a:p>
        </p:txBody>
      </p:sp>
      <p:sp>
        <p:nvSpPr>
          <p:cNvPr id="71" name="Google Shape;71;p35"/>
          <p:cNvSpPr txBox="1">
            <a:spLocks noGrp="1"/>
          </p:cNvSpPr>
          <p:nvPr>
            <p:ph type="body" idx="1"/>
          </p:nvPr>
        </p:nvSpPr>
        <p:spPr>
          <a:xfrm rot="5400000">
            <a:off x="1268864" y="-606526"/>
            <a:ext cx="4388733" cy="6012562"/>
          </a:xfrm>
          <a:prstGeom prst="rect">
            <a:avLst/>
          </a:prstGeom>
          <a:noFill/>
          <a:ln>
            <a:noFill/>
          </a:ln>
        </p:spPr>
        <p:txBody>
          <a:bodyPr spcFirstLastPara="1" wrap="square" lIns="91425" tIns="45700" rIns="91425" bIns="45700" anchor="t" anchorCtr="0">
            <a:noAutofit/>
          </a:bodyPr>
          <a:lstStyle>
            <a:lvl1pPr marL="457200" marR="0" lvl="0" indent="-419100" algn="l" rtl="0">
              <a:spcBef>
                <a:spcPts val="0"/>
              </a:spcBef>
              <a:spcAft>
                <a:spcPts val="0"/>
              </a:spcAft>
              <a:buClr>
                <a:schemeClr val="dk1"/>
              </a:buClr>
              <a:buSzPts val="3000"/>
              <a:buFont typeface="Arial"/>
              <a:buChar char="•"/>
              <a:defRPr sz="3000" b="0" i="0" u="none" strike="noStrike" cap="none">
                <a:solidFill>
                  <a:schemeClr val="dk1"/>
                </a:solidFill>
                <a:latin typeface="Arial"/>
                <a:ea typeface="Arial"/>
                <a:cs typeface="Arial"/>
                <a:sym typeface="Arial"/>
              </a:defRPr>
            </a:lvl1pPr>
            <a:lvl2pPr marL="914400" marR="0" lvl="1" indent="-393700" algn="l" rtl="0">
              <a:spcBef>
                <a:spcPts val="0"/>
              </a:spcBef>
              <a:spcAft>
                <a:spcPts val="0"/>
              </a:spcAft>
              <a:buClr>
                <a:schemeClr val="dk1"/>
              </a:buClr>
              <a:buSzPts val="2600"/>
              <a:buFont typeface="Arial"/>
              <a:buChar char="–"/>
              <a:defRPr sz="2600" b="0" i="0" u="none" strike="noStrike" cap="none">
                <a:solidFill>
                  <a:schemeClr val="dk1"/>
                </a:solidFill>
                <a:latin typeface="Arial"/>
                <a:ea typeface="Arial"/>
                <a:cs typeface="Arial"/>
                <a:sym typeface="Arial"/>
              </a:defRPr>
            </a:lvl2pPr>
            <a:lvl3pPr marL="1371600" marR="0" lvl="2" indent="-374650" algn="l" rtl="0">
              <a:spcBef>
                <a:spcPts val="0"/>
              </a:spcBef>
              <a:spcAft>
                <a:spcPts val="0"/>
              </a:spcAft>
              <a:buClr>
                <a:schemeClr val="dk1"/>
              </a:buClr>
              <a:buSzPts val="2300"/>
              <a:buFont typeface="Arial"/>
              <a:buChar char="•"/>
              <a:defRPr sz="2300" b="0" i="0" u="none" strike="noStrike" cap="none">
                <a:solidFill>
                  <a:schemeClr val="dk1"/>
                </a:solidFill>
                <a:latin typeface="Arial"/>
                <a:ea typeface="Arial"/>
                <a:cs typeface="Arial"/>
                <a:sym typeface="Arial"/>
              </a:defRPr>
            </a:lvl3pPr>
            <a:lvl4pPr marL="1828800" marR="0" lvl="3"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4pPr>
            <a:lvl5pPr marL="2286000" marR="0" lvl="4"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5pPr>
            <a:lvl6pPr marL="2743200" marR="0" lvl="5"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spcBef>
                <a:spcPts val="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p:nvPr/>
        </p:nvSpPr>
        <p:spPr>
          <a:xfrm>
            <a:off x="2" y="0"/>
            <a:ext cx="9144000" cy="914792"/>
          </a:xfrm>
          <a:prstGeom prst="rect">
            <a:avLst/>
          </a:prstGeom>
          <a:solidFill>
            <a:srgbClr val="00219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700" b="0" i="0" u="none" strike="noStrike" cap="none">
              <a:solidFill>
                <a:schemeClr val="dk1"/>
              </a:solidFill>
              <a:latin typeface="Arial"/>
              <a:ea typeface="Arial"/>
              <a:cs typeface="Arial"/>
              <a:sym typeface="Arial"/>
            </a:endParaRPr>
          </a:p>
        </p:txBody>
      </p:sp>
      <p:sp>
        <p:nvSpPr>
          <p:cNvPr id="11" name="Google Shape;11;p23"/>
          <p:cNvSpPr/>
          <p:nvPr/>
        </p:nvSpPr>
        <p:spPr>
          <a:xfrm>
            <a:off x="8687052" y="4514739"/>
            <a:ext cx="456948" cy="142385"/>
          </a:xfrm>
          <a:prstGeom prst="rect">
            <a:avLst/>
          </a:prstGeom>
          <a:solidFill>
            <a:srgbClr val="00219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700" b="0" i="0" u="none" strike="noStrike" cap="none">
              <a:solidFill>
                <a:schemeClr val="dk1"/>
              </a:solidFill>
              <a:latin typeface="Arial"/>
              <a:ea typeface="Arial"/>
              <a:cs typeface="Arial"/>
              <a:sym typeface="Arial"/>
            </a:endParaRPr>
          </a:p>
        </p:txBody>
      </p:sp>
      <p:sp>
        <p:nvSpPr>
          <p:cNvPr id="12" name="Google Shape;12;p23"/>
          <p:cNvSpPr txBox="1"/>
          <p:nvPr/>
        </p:nvSpPr>
        <p:spPr>
          <a:xfrm>
            <a:off x="655262" y="4741547"/>
            <a:ext cx="5345246" cy="228068"/>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de-DE" sz="1200" b="0" i="0" u="none" strike="noStrike" cap="none">
                <a:solidFill>
                  <a:schemeClr val="dk1"/>
                </a:solidFill>
                <a:latin typeface="Tahoma"/>
                <a:ea typeface="Tahoma"/>
                <a:cs typeface="Tahoma"/>
                <a:sym typeface="Tahoma"/>
              </a:rPr>
              <a:t>Chair of Power Electronics | </a:t>
            </a:r>
            <a:r>
              <a:rPr lang="de-DE" sz="1200">
                <a:solidFill>
                  <a:schemeClr val="dk1"/>
                </a:solidFill>
                <a:latin typeface="Tahoma"/>
                <a:ea typeface="Tahoma"/>
                <a:cs typeface="Tahoma"/>
                <a:sym typeface="Tahoma"/>
              </a:rPr>
              <a:t>Fernando Troya</a:t>
            </a:r>
            <a:r>
              <a:rPr lang="de-DE" sz="1200" b="0" i="0" u="none" strike="noStrike" cap="none">
                <a:solidFill>
                  <a:schemeClr val="dk1"/>
                </a:solidFill>
                <a:latin typeface="Tahoma"/>
                <a:ea typeface="Tahoma"/>
                <a:cs typeface="Tahoma"/>
                <a:sym typeface="Tahoma"/>
              </a:rPr>
              <a:t>| </a:t>
            </a:r>
            <a:r>
              <a:rPr lang="de-DE" sz="1200">
                <a:solidFill>
                  <a:schemeClr val="dk1"/>
                </a:solidFill>
                <a:latin typeface="Tahoma"/>
                <a:ea typeface="Tahoma"/>
                <a:cs typeface="Tahoma"/>
                <a:sym typeface="Tahoma"/>
              </a:rPr>
              <a:t>fernando.troya@stu.uni-kiel.de</a:t>
            </a:r>
            <a:endParaRPr sz="1200">
              <a:solidFill>
                <a:schemeClr val="dk1"/>
              </a:solidFill>
              <a:latin typeface="Tahoma"/>
              <a:ea typeface="Tahoma"/>
              <a:cs typeface="Tahoma"/>
              <a:sym typeface="Tahoma"/>
            </a:endParaRPr>
          </a:p>
        </p:txBody>
      </p:sp>
      <p:sp>
        <p:nvSpPr>
          <p:cNvPr id="13" name="Google Shape;13;p23"/>
          <p:cNvSpPr txBox="1"/>
          <p:nvPr/>
        </p:nvSpPr>
        <p:spPr>
          <a:xfrm>
            <a:off x="7303125" y="4744067"/>
            <a:ext cx="1649241" cy="228068"/>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fld id="{00000000-1234-1234-1234-123412341234}" type="slidenum">
              <a:rPr lang="de-DE"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grpSp>
        <p:nvGrpSpPr>
          <p:cNvPr id="14" name="Google Shape;14;p23"/>
          <p:cNvGrpSpPr/>
          <p:nvPr/>
        </p:nvGrpSpPr>
        <p:grpSpPr>
          <a:xfrm>
            <a:off x="6595950" y="66474"/>
            <a:ext cx="2286000" cy="762000"/>
            <a:chOff x="4320" y="0"/>
            <a:chExt cx="1440" cy="480"/>
          </a:xfrm>
        </p:grpSpPr>
        <p:pic>
          <p:nvPicPr>
            <p:cNvPr id="15" name="Google Shape;15;p23" descr="CAU-Text-0300b"/>
            <p:cNvPicPr preferRelativeResize="0"/>
            <p:nvPr/>
          </p:nvPicPr>
          <p:blipFill rotWithShape="1">
            <a:blip r:embed="rId14">
              <a:alphaModFix/>
            </a:blip>
            <a:srcRect/>
            <a:stretch/>
          </p:blipFill>
          <p:spPr>
            <a:xfrm>
              <a:off x="4320" y="240"/>
              <a:ext cx="1440" cy="240"/>
            </a:xfrm>
            <a:prstGeom prst="rect">
              <a:avLst/>
            </a:prstGeom>
            <a:noFill/>
            <a:ln>
              <a:noFill/>
            </a:ln>
          </p:spPr>
        </p:pic>
        <p:pic>
          <p:nvPicPr>
            <p:cNvPr id="16" name="Google Shape;16;p23" descr="CAU-pur-sw-0150"/>
            <p:cNvPicPr preferRelativeResize="0"/>
            <p:nvPr/>
          </p:nvPicPr>
          <p:blipFill rotWithShape="1">
            <a:blip r:embed="rId15">
              <a:alphaModFix/>
            </a:blip>
            <a:srcRect/>
            <a:stretch/>
          </p:blipFill>
          <p:spPr>
            <a:xfrm>
              <a:off x="4320" y="0"/>
              <a:ext cx="721" cy="240"/>
            </a:xfrm>
            <a:prstGeom prst="rect">
              <a:avLst/>
            </a:prstGeom>
            <a:noFill/>
            <a:ln>
              <a:noFill/>
            </a:ln>
          </p:spPr>
        </p:pic>
      </p:grpSp>
      <p:pic>
        <p:nvPicPr>
          <p:cNvPr id="17" name="Google Shape;17;p23"/>
          <p:cNvPicPr preferRelativeResize="0"/>
          <p:nvPr/>
        </p:nvPicPr>
        <p:blipFill rotWithShape="1">
          <a:blip r:embed="rId16">
            <a:alphaModFix/>
          </a:blip>
          <a:srcRect/>
          <a:stretch/>
        </p:blipFill>
        <p:spPr>
          <a:xfrm>
            <a:off x="144000" y="4698000"/>
            <a:ext cx="359999" cy="3599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3.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iea.org/data-and-statistics/charts/global-stock-of-public-charging-points-by-speed-2018-2024"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www.comsol.com/model/thermal-analysis-of-a-bipolar-transistor-19701"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g3b1c827341c_0_0"/>
          <p:cNvSpPr txBox="1">
            <a:spLocks noGrp="1"/>
          </p:cNvSpPr>
          <p:nvPr>
            <p:ph type="ctrTitle"/>
          </p:nvPr>
        </p:nvSpPr>
        <p:spPr>
          <a:xfrm>
            <a:off x="685425" y="1057952"/>
            <a:ext cx="7773000" cy="2032500"/>
          </a:xfrm>
          <a:prstGeom prst="rect">
            <a:avLst/>
          </a:prstGeom>
          <a:noFill/>
          <a:ln>
            <a:noFill/>
          </a:ln>
        </p:spPr>
        <p:txBody>
          <a:bodyPr spcFirstLastPara="1" wrap="square" lIns="68575" tIns="34275" rIns="68575" bIns="34275" anchor="t" anchorCtr="0">
            <a:noAutofit/>
          </a:bodyPr>
          <a:lstStyle/>
          <a:p>
            <a:pPr marL="0" lvl="0" indent="0" algn="ctr" rtl="0">
              <a:spcBef>
                <a:spcPts val="0"/>
              </a:spcBef>
              <a:spcAft>
                <a:spcPts val="0"/>
              </a:spcAft>
              <a:buNone/>
            </a:pPr>
            <a:r>
              <a:rPr lang="de-DE" dirty="0"/>
              <a:t>Digital Twin of Power Converter Systems </a:t>
            </a:r>
            <a:br>
              <a:rPr lang="de-DE" dirty="0"/>
            </a:br>
            <a:r>
              <a:rPr lang="de-DE" sz="2800" dirty="0"/>
              <a:t>Identification and Optimization for Reliability</a:t>
            </a:r>
            <a:endParaRPr sz="600" dirty="0">
              <a:solidFill>
                <a:srgbClr val="333333"/>
              </a:solidFill>
              <a:latin typeface="Arial"/>
              <a:ea typeface="Arial"/>
              <a:cs typeface="Arial"/>
              <a:sym typeface="Arial"/>
            </a:endParaRPr>
          </a:p>
          <a:p>
            <a:pPr marL="0" lvl="0" indent="0" algn="ctr" rtl="0">
              <a:spcBef>
                <a:spcPts val="0"/>
              </a:spcBef>
              <a:spcAft>
                <a:spcPts val="0"/>
              </a:spcAft>
              <a:buNone/>
            </a:pPr>
            <a:endParaRPr dirty="0"/>
          </a:p>
        </p:txBody>
      </p:sp>
      <p:sp>
        <p:nvSpPr>
          <p:cNvPr id="78" name="Google Shape;78;g3b1c827341c_0_0"/>
          <p:cNvSpPr txBox="1"/>
          <p:nvPr/>
        </p:nvSpPr>
        <p:spPr>
          <a:xfrm>
            <a:off x="217473" y="3090524"/>
            <a:ext cx="2383200" cy="1034400"/>
          </a:xfrm>
          <a:prstGeom prst="rect">
            <a:avLst/>
          </a:prstGeom>
          <a:noFill/>
          <a:ln>
            <a:noFill/>
          </a:ln>
        </p:spPr>
        <p:txBody>
          <a:bodyPr spcFirstLastPara="1" wrap="square" lIns="0" tIns="34275" rIns="68575" bIns="34275" anchor="t" anchorCtr="0">
            <a:noAutofit/>
          </a:bodyPr>
          <a:lstStyle/>
          <a:p>
            <a:pPr marL="0" marR="0" lvl="0" indent="0" algn="ctr" rtl="0">
              <a:spcBef>
                <a:spcPts val="0"/>
              </a:spcBef>
              <a:spcAft>
                <a:spcPts val="0"/>
              </a:spcAft>
              <a:buClr>
                <a:schemeClr val="dk1"/>
              </a:buClr>
              <a:buSzPts val="1800"/>
              <a:buFont typeface="Tahoma"/>
              <a:buNone/>
            </a:pPr>
            <a:r>
              <a:rPr lang="de-DE" sz="1800">
                <a:solidFill>
                  <a:schemeClr val="dk1"/>
                </a:solidFill>
                <a:latin typeface="Tahoma"/>
                <a:ea typeface="Tahoma"/>
                <a:cs typeface="Tahoma"/>
                <a:sym typeface="Tahoma"/>
              </a:rPr>
              <a:t>Fernando Troya</a:t>
            </a:r>
            <a:endParaRPr sz="1800" b="0" i="0" u="none" strike="noStrike" cap="none">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1800"/>
              <a:buFont typeface="Tahoma"/>
              <a:buNone/>
            </a:pPr>
            <a:r>
              <a:rPr lang="de-DE" sz="1800">
                <a:solidFill>
                  <a:schemeClr val="dk1"/>
                </a:solidFill>
                <a:latin typeface="Tahoma"/>
                <a:ea typeface="Tahoma"/>
                <a:cs typeface="Tahoma"/>
                <a:sym typeface="Tahoma"/>
              </a:rPr>
              <a:t>Dr. Ing. Martin Votava</a:t>
            </a:r>
            <a:endParaRPr sz="1800" b="0" i="0" u="none" strike="noStrike" cap="none">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1800"/>
              <a:buFont typeface="Tahoma"/>
              <a:buNone/>
            </a:pPr>
            <a:r>
              <a:rPr lang="de-DE" sz="1800">
                <a:solidFill>
                  <a:schemeClr val="dk1"/>
                </a:solidFill>
                <a:latin typeface="Tahoma"/>
                <a:ea typeface="Tahoma"/>
                <a:cs typeface="Tahoma"/>
                <a:sym typeface="Tahoma"/>
              </a:rPr>
              <a:t>03</a:t>
            </a:r>
            <a:r>
              <a:rPr lang="de-DE" sz="1800" b="0" i="0" u="none" strike="noStrike" cap="none">
                <a:solidFill>
                  <a:schemeClr val="dk1"/>
                </a:solidFill>
                <a:latin typeface="Tahoma"/>
                <a:ea typeface="Tahoma"/>
                <a:cs typeface="Tahoma"/>
                <a:sym typeface="Tahoma"/>
              </a:rPr>
              <a:t>-</a:t>
            </a:r>
            <a:r>
              <a:rPr lang="de-DE" sz="1800">
                <a:solidFill>
                  <a:schemeClr val="dk1"/>
                </a:solidFill>
                <a:latin typeface="Tahoma"/>
                <a:ea typeface="Tahoma"/>
                <a:cs typeface="Tahoma"/>
                <a:sym typeface="Tahoma"/>
              </a:rPr>
              <a:t>03</a:t>
            </a:r>
            <a:r>
              <a:rPr lang="de-DE" sz="1800" b="0" i="0" u="none" strike="noStrike" cap="none">
                <a:solidFill>
                  <a:schemeClr val="dk1"/>
                </a:solidFill>
                <a:latin typeface="Tahoma"/>
                <a:ea typeface="Tahoma"/>
                <a:cs typeface="Tahoma"/>
                <a:sym typeface="Tahoma"/>
              </a:rPr>
              <a:t>-</a:t>
            </a:r>
            <a:r>
              <a:rPr lang="de-DE" sz="1800">
                <a:solidFill>
                  <a:schemeClr val="dk1"/>
                </a:solidFill>
                <a:latin typeface="Tahoma"/>
                <a:ea typeface="Tahoma"/>
                <a:cs typeface="Tahoma"/>
                <a:sym typeface="Tahoma"/>
              </a:rPr>
              <a:t>2025</a:t>
            </a:r>
            <a:endParaRPr sz="1800" b="0" i="0" u="none" strike="noStrike" cap="none">
              <a:solidFill>
                <a:schemeClr val="dk1"/>
              </a:solidFill>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de-DE"/>
              <a:t>Outline</a:t>
            </a:r>
            <a:endParaRPr/>
          </a:p>
        </p:txBody>
      </p:sp>
      <p:sp>
        <p:nvSpPr>
          <p:cNvPr id="85" name="Google Shape;85;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23850" lvl="0" indent="-323850" algn="l" rtl="0">
              <a:spcBef>
                <a:spcPts val="0"/>
              </a:spcBef>
              <a:spcAft>
                <a:spcPts val="0"/>
              </a:spcAft>
              <a:buClr>
                <a:schemeClr val="dk1"/>
              </a:buClr>
              <a:buSzPts val="1600"/>
              <a:buFont typeface="Noto Sans Symbols"/>
              <a:buChar char="⮚"/>
            </a:pPr>
            <a:r>
              <a:rPr lang="de-DE" sz="1600" dirty="0"/>
              <a:t>Introduction &amp; Motivation</a:t>
            </a:r>
            <a:endParaRPr sz="1600" dirty="0"/>
          </a:p>
          <a:p>
            <a:pPr marL="323850" lvl="0" indent="-323850" algn="l" rtl="0">
              <a:spcBef>
                <a:spcPts val="0"/>
              </a:spcBef>
              <a:spcAft>
                <a:spcPts val="0"/>
              </a:spcAft>
              <a:buClr>
                <a:schemeClr val="dk1"/>
              </a:buClr>
              <a:buSzPts val="1600"/>
              <a:buFont typeface="Noto Sans Symbols"/>
              <a:buChar char="⮚"/>
            </a:pPr>
            <a:r>
              <a:rPr lang="de-DE" sz="1600" dirty="0"/>
              <a:t>Review of Identification Methods</a:t>
            </a:r>
            <a:endParaRPr sz="1600" dirty="0"/>
          </a:p>
          <a:p>
            <a:pPr marL="323850" lvl="0" indent="-323850" algn="l" rtl="0">
              <a:spcBef>
                <a:spcPts val="0"/>
              </a:spcBef>
              <a:spcAft>
                <a:spcPts val="0"/>
              </a:spcAft>
              <a:buSzPts val="1600"/>
              <a:buChar char="⮚"/>
            </a:pPr>
            <a:r>
              <a:rPr lang="de-DE" sz="1600" dirty="0"/>
              <a:t>Methodology</a:t>
            </a:r>
            <a:endParaRPr sz="1600" dirty="0"/>
          </a:p>
          <a:p>
            <a:pPr marL="323850" lvl="0" indent="-323850" algn="l" rtl="0">
              <a:spcBef>
                <a:spcPts val="0"/>
              </a:spcBef>
              <a:spcAft>
                <a:spcPts val="0"/>
              </a:spcAft>
              <a:buClr>
                <a:schemeClr val="dk1"/>
              </a:buClr>
              <a:buSzPts val="1600"/>
              <a:buFont typeface="Noto Sans Symbols"/>
              <a:buChar char="⮚"/>
            </a:pPr>
            <a:r>
              <a:rPr lang="de-DE" sz="1600" dirty="0"/>
              <a:t>Results</a:t>
            </a:r>
            <a:endParaRPr sz="1600" dirty="0"/>
          </a:p>
          <a:p>
            <a:pPr marL="323850" lvl="0" indent="-273050" algn="l" rtl="0">
              <a:spcBef>
                <a:spcPts val="0"/>
              </a:spcBef>
              <a:spcAft>
                <a:spcPts val="0"/>
              </a:spcAft>
              <a:buSzPts val="1600"/>
              <a:buChar char="⮚"/>
            </a:pPr>
            <a:r>
              <a:rPr lang="de-DE" sz="1600" dirty="0"/>
              <a:t>Conclusion</a:t>
            </a:r>
            <a:endParaRPr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de-DE"/>
              <a:t>Motivation</a:t>
            </a:r>
            <a:endParaRPr/>
          </a:p>
        </p:txBody>
      </p:sp>
      <p:sp>
        <p:nvSpPr>
          <p:cNvPr id="92" name="Google Shape;92;p4"/>
          <p:cNvSpPr/>
          <p:nvPr/>
        </p:nvSpPr>
        <p:spPr>
          <a:xfrm rot="-5400001">
            <a:off x="5783825" y="1581844"/>
            <a:ext cx="652517" cy="356999"/>
          </a:xfrm>
          <a:prstGeom prst="rightArrow">
            <a:avLst>
              <a:gd name="adj1" fmla="val 50000"/>
              <a:gd name="adj2" fmla="val 50000"/>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00" b="0" i="0" u="none" strike="noStrike" cap="none">
              <a:solidFill>
                <a:schemeClr val="lt1"/>
              </a:solidFill>
              <a:latin typeface="Arial"/>
              <a:ea typeface="Arial"/>
              <a:cs typeface="Arial"/>
              <a:sym typeface="Arial"/>
            </a:endParaRPr>
          </a:p>
        </p:txBody>
      </p:sp>
      <p:sp>
        <p:nvSpPr>
          <p:cNvPr id="93" name="Google Shape;93;p4"/>
          <p:cNvSpPr txBox="1"/>
          <p:nvPr/>
        </p:nvSpPr>
        <p:spPr>
          <a:xfrm>
            <a:off x="6382047" y="1132602"/>
            <a:ext cx="2189440" cy="915306"/>
          </a:xfrm>
          <a:prstGeom prst="rect">
            <a:avLst/>
          </a:prstGeom>
          <a:noFill/>
          <a:ln>
            <a:noFill/>
          </a:ln>
        </p:spPr>
        <p:txBody>
          <a:bodyPr spcFirstLastPara="1" wrap="square" lIns="0" tIns="0" rIns="0" bIns="0" anchor="t" anchorCtr="0">
            <a:noAutofit/>
          </a:bodyPr>
          <a:lstStyle/>
          <a:p>
            <a:pPr marL="271463" marR="0" lvl="0" indent="-271463" algn="l" rtl="0">
              <a:lnSpc>
                <a:spcPct val="120000"/>
              </a:lnSpc>
              <a:spcBef>
                <a:spcPts val="0"/>
              </a:spcBef>
              <a:spcAft>
                <a:spcPts val="0"/>
              </a:spcAft>
              <a:buClr>
                <a:schemeClr val="dk1"/>
              </a:buClr>
              <a:buSzPts val="1232"/>
              <a:buFont typeface="Noto Sans Symbols"/>
              <a:buChar char="⮚"/>
            </a:pPr>
            <a:r>
              <a:rPr lang="de-DE" dirty="0">
                <a:solidFill>
                  <a:schemeClr val="dk1"/>
                </a:solidFill>
              </a:rPr>
              <a:t>Increase in EV chargers</a:t>
            </a:r>
            <a:endParaRPr sz="2000" b="0" i="0" u="none" strike="noStrike" cap="none" dirty="0">
              <a:solidFill>
                <a:schemeClr val="dk1"/>
              </a:solidFill>
              <a:latin typeface="Arial"/>
              <a:ea typeface="Arial"/>
              <a:cs typeface="Arial"/>
              <a:sym typeface="Arial"/>
            </a:endParaRPr>
          </a:p>
          <a:p>
            <a:pPr marL="271463" marR="0" lvl="0" indent="-271463" algn="l" rtl="0">
              <a:lnSpc>
                <a:spcPct val="120000"/>
              </a:lnSpc>
              <a:spcBef>
                <a:spcPts val="480"/>
              </a:spcBef>
              <a:spcAft>
                <a:spcPts val="0"/>
              </a:spcAft>
              <a:buClr>
                <a:schemeClr val="dk1"/>
              </a:buClr>
              <a:buSzPts val="1232"/>
              <a:buFont typeface="Noto Sans Symbols"/>
              <a:buChar char="⮚"/>
            </a:pPr>
            <a:r>
              <a:rPr lang="de-DE" dirty="0">
                <a:solidFill>
                  <a:schemeClr val="dk1"/>
                </a:solidFill>
              </a:rPr>
              <a:t>Higher power charger trend</a:t>
            </a:r>
            <a:endParaRPr sz="1050" b="0" i="0" u="none" strike="noStrike" cap="none" dirty="0">
              <a:solidFill>
                <a:schemeClr val="dk1"/>
              </a:solidFill>
              <a:latin typeface="Arial"/>
              <a:ea typeface="Arial"/>
              <a:cs typeface="Arial"/>
              <a:sym typeface="Arial"/>
            </a:endParaRPr>
          </a:p>
        </p:txBody>
      </p:sp>
      <p:sp>
        <p:nvSpPr>
          <p:cNvPr id="94" name="Google Shape;94;p4"/>
          <p:cNvSpPr txBox="1"/>
          <p:nvPr/>
        </p:nvSpPr>
        <p:spPr>
          <a:xfrm>
            <a:off x="6399112" y="2027586"/>
            <a:ext cx="2457647" cy="2292315"/>
          </a:xfrm>
          <a:prstGeom prst="rect">
            <a:avLst/>
          </a:prstGeom>
          <a:noFill/>
          <a:ln>
            <a:noFill/>
          </a:ln>
        </p:spPr>
        <p:txBody>
          <a:bodyPr spcFirstLastPara="1" wrap="square" lIns="0" tIns="0" rIns="0" bIns="0" anchor="t" anchorCtr="0">
            <a:noAutofit/>
          </a:bodyPr>
          <a:lstStyle/>
          <a:p>
            <a:pPr marL="271463" marR="0" lvl="0" indent="-271463" algn="l" rtl="0">
              <a:lnSpc>
                <a:spcPct val="120000"/>
              </a:lnSpc>
              <a:spcBef>
                <a:spcPts val="0"/>
              </a:spcBef>
              <a:spcAft>
                <a:spcPts val="0"/>
              </a:spcAft>
              <a:buClr>
                <a:schemeClr val="dk1"/>
              </a:buClr>
              <a:buSzPts val="1232"/>
              <a:buFont typeface="Noto Sans Symbols"/>
              <a:buChar char="⮚"/>
            </a:pPr>
            <a:r>
              <a:rPr lang="de-DE" sz="1400" b="0" i="0" u="none" strike="noStrike" cap="none" dirty="0">
                <a:solidFill>
                  <a:schemeClr val="dk1"/>
                </a:solidFill>
                <a:latin typeface="Arial"/>
                <a:ea typeface="Arial"/>
                <a:cs typeface="Arial"/>
                <a:sym typeface="Arial"/>
              </a:rPr>
              <a:t>Increased converter </a:t>
            </a:r>
            <a:r>
              <a:rPr lang="de-DE" dirty="0">
                <a:solidFill>
                  <a:schemeClr val="dk1"/>
                </a:solidFill>
              </a:rPr>
              <a:t>usage</a:t>
            </a:r>
            <a:endParaRPr sz="2000" b="0" i="0" u="none" strike="noStrike" cap="none" dirty="0">
              <a:solidFill>
                <a:schemeClr val="dk1"/>
              </a:solidFill>
              <a:latin typeface="Arial"/>
              <a:ea typeface="Arial"/>
              <a:cs typeface="Arial"/>
              <a:sym typeface="Arial"/>
            </a:endParaRPr>
          </a:p>
          <a:p>
            <a:pPr marL="271462" marR="0" lvl="0" indent="-271462" algn="l" rtl="0">
              <a:lnSpc>
                <a:spcPct val="120000"/>
              </a:lnSpc>
              <a:spcBef>
                <a:spcPts val="480"/>
              </a:spcBef>
              <a:spcAft>
                <a:spcPts val="0"/>
              </a:spcAft>
              <a:buClr>
                <a:schemeClr val="dk1"/>
              </a:buClr>
              <a:buSzPts val="1232"/>
              <a:buFont typeface="Noto Sans Symbols"/>
              <a:buChar char="⮚"/>
            </a:pPr>
            <a:r>
              <a:rPr lang="de-DE" sz="1400" b="0" i="0" u="none" strike="noStrike" cap="none" dirty="0">
                <a:solidFill>
                  <a:schemeClr val="dk1"/>
                </a:solidFill>
                <a:latin typeface="Arial"/>
                <a:ea typeface="Arial"/>
                <a:cs typeface="Arial"/>
                <a:sym typeface="Arial"/>
              </a:rPr>
              <a:t>Need for </a:t>
            </a:r>
            <a:r>
              <a:rPr lang="de-DE" dirty="0">
                <a:solidFill>
                  <a:schemeClr val="dk1"/>
                </a:solidFill>
              </a:rPr>
              <a:t>robust reliability and health monitoring.</a:t>
            </a:r>
            <a:endParaRPr dirty="0">
              <a:solidFill>
                <a:schemeClr val="dk1"/>
              </a:solidFill>
            </a:endParaRPr>
          </a:p>
          <a:p>
            <a:pPr marL="271463" marR="0" lvl="0" indent="-271463" algn="l" rtl="0">
              <a:lnSpc>
                <a:spcPct val="120000"/>
              </a:lnSpc>
              <a:spcBef>
                <a:spcPts val="480"/>
              </a:spcBef>
              <a:spcAft>
                <a:spcPts val="0"/>
              </a:spcAft>
              <a:buClr>
                <a:schemeClr val="dk1"/>
              </a:buClr>
              <a:buSzPts val="1232"/>
              <a:buFont typeface="Noto Sans Symbols"/>
              <a:buChar char="⮚"/>
            </a:pPr>
            <a:r>
              <a:rPr lang="de-DE" dirty="0">
                <a:solidFill>
                  <a:schemeClr val="dk1"/>
                </a:solidFill>
              </a:rPr>
              <a:t>Need for accurate thermal models to maximize safe converter usage. </a:t>
            </a:r>
          </a:p>
          <a:p>
            <a:pPr marL="271463" marR="0" lvl="0" indent="-271463" algn="l" rtl="0">
              <a:lnSpc>
                <a:spcPct val="120000"/>
              </a:lnSpc>
              <a:spcBef>
                <a:spcPts val="480"/>
              </a:spcBef>
              <a:spcAft>
                <a:spcPts val="0"/>
              </a:spcAft>
              <a:buClr>
                <a:schemeClr val="dk1"/>
              </a:buClr>
              <a:buSzPts val="1232"/>
              <a:buFont typeface="Noto Sans Symbols"/>
              <a:buChar char="⮚"/>
            </a:pPr>
            <a:r>
              <a:rPr lang="de-DE" dirty="0">
                <a:solidFill>
                  <a:schemeClr val="dk1"/>
                </a:solidFill>
              </a:rPr>
              <a:t>Real time embedded deployment of monitoring </a:t>
            </a:r>
          </a:p>
          <a:p>
            <a:pPr marL="271463" marR="0" lvl="0" indent="-271463" algn="l" rtl="0">
              <a:lnSpc>
                <a:spcPct val="120000"/>
              </a:lnSpc>
              <a:spcBef>
                <a:spcPts val="480"/>
              </a:spcBef>
              <a:spcAft>
                <a:spcPts val="0"/>
              </a:spcAft>
              <a:buClr>
                <a:schemeClr val="dk1"/>
              </a:buClr>
              <a:buSzPts val="1232"/>
              <a:buFont typeface="Noto Sans Symbols"/>
              <a:buChar char="⮚"/>
            </a:pPr>
            <a:endParaRPr sz="1400" b="0" i="0" u="none" strike="noStrike" cap="none" dirty="0">
              <a:solidFill>
                <a:schemeClr val="dk1"/>
              </a:solidFill>
              <a:latin typeface="Arial"/>
              <a:ea typeface="Arial"/>
              <a:cs typeface="Arial"/>
              <a:sym typeface="Arial"/>
            </a:endParaRPr>
          </a:p>
        </p:txBody>
      </p:sp>
      <p:sp>
        <p:nvSpPr>
          <p:cNvPr id="97" name="Google Shape;97;p4"/>
          <p:cNvSpPr txBox="1"/>
          <p:nvPr/>
        </p:nvSpPr>
        <p:spPr>
          <a:xfrm>
            <a:off x="2371319" y="1123633"/>
            <a:ext cx="1703916"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de-DE" dirty="0"/>
              <a:t>EV charger Trends</a:t>
            </a:r>
            <a:endParaRPr dirty="0"/>
          </a:p>
        </p:txBody>
      </p:sp>
      <p:sp>
        <p:nvSpPr>
          <p:cNvPr id="2" name="Google Shape;97;p4">
            <a:extLst>
              <a:ext uri="{FF2B5EF4-FFF2-40B4-BE49-F238E27FC236}">
                <a16:creationId xmlns:a16="http://schemas.microsoft.com/office/drawing/2014/main" id="{2CB4B909-2CFF-BF70-84CD-27074179BEE2}"/>
              </a:ext>
            </a:extLst>
          </p:cNvPr>
          <p:cNvSpPr txBox="1"/>
          <p:nvPr/>
        </p:nvSpPr>
        <p:spPr>
          <a:xfrm>
            <a:off x="6072127" y="857584"/>
            <a:ext cx="1886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de-DE" dirty="0"/>
              <a:t>EV charger Trends:</a:t>
            </a:r>
            <a:endParaRPr dirty="0"/>
          </a:p>
        </p:txBody>
      </p:sp>
      <p:grpSp>
        <p:nvGrpSpPr>
          <p:cNvPr id="6" name="Group 5">
            <a:extLst>
              <a:ext uri="{FF2B5EF4-FFF2-40B4-BE49-F238E27FC236}">
                <a16:creationId xmlns:a16="http://schemas.microsoft.com/office/drawing/2014/main" id="{8013F8EA-3214-38C4-6994-3DAD49522935}"/>
              </a:ext>
            </a:extLst>
          </p:cNvPr>
          <p:cNvGrpSpPr/>
          <p:nvPr/>
        </p:nvGrpSpPr>
        <p:grpSpPr>
          <a:xfrm>
            <a:off x="227077" y="1115004"/>
            <a:ext cx="5464131" cy="3210265"/>
            <a:chOff x="227077" y="1115004"/>
            <a:chExt cx="5464131" cy="3210265"/>
          </a:xfrm>
        </p:grpSpPr>
        <p:sp>
          <p:nvSpPr>
            <p:cNvPr id="95" name="Google Shape;95;p4"/>
            <p:cNvSpPr/>
            <p:nvPr/>
          </p:nvSpPr>
          <p:spPr>
            <a:xfrm>
              <a:off x="1901269" y="4017469"/>
              <a:ext cx="24180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b="1" dirty="0">
                  <a:solidFill>
                    <a:schemeClr val="dk1"/>
                  </a:solidFill>
                </a:rPr>
                <a:t>Fig.1 </a:t>
              </a:r>
              <a:r>
                <a:rPr lang="de-DE" dirty="0">
                  <a:solidFill>
                    <a:schemeClr val="dk1"/>
                  </a:solidFill>
                </a:rPr>
                <a:t>EV charger Trends [1]</a:t>
              </a:r>
              <a:r>
                <a:rPr lang="de-DE" sz="1400" b="0" i="0" u="none" strike="noStrike" cap="none" dirty="0">
                  <a:solidFill>
                    <a:schemeClr val="dk1"/>
                  </a:solidFill>
                  <a:latin typeface="Arial"/>
                  <a:ea typeface="Arial"/>
                  <a:cs typeface="Arial"/>
                  <a:sym typeface="Arial"/>
                </a:rPr>
                <a:t> </a:t>
              </a:r>
              <a:endParaRPr sz="1700" b="0" i="0" u="none" strike="noStrike" cap="none" dirty="0">
                <a:solidFill>
                  <a:schemeClr val="dk1"/>
                </a:solidFill>
                <a:latin typeface="Arial"/>
                <a:ea typeface="Arial"/>
                <a:cs typeface="Arial"/>
                <a:sym typeface="Arial"/>
              </a:endParaRPr>
            </a:p>
          </p:txBody>
        </p:sp>
        <p:pic>
          <p:nvPicPr>
            <p:cNvPr id="96" name="Google Shape;96;p4"/>
            <p:cNvPicPr preferRelativeResize="0"/>
            <p:nvPr/>
          </p:nvPicPr>
          <p:blipFill>
            <a:blip r:embed="rId3">
              <a:alphaModFix/>
            </a:blip>
            <a:stretch>
              <a:fillRect/>
            </a:stretch>
          </p:blipFill>
          <p:spPr>
            <a:xfrm>
              <a:off x="227077" y="1115004"/>
              <a:ext cx="5464131" cy="2913491"/>
            </a:xfrm>
            <a:prstGeom prst="rect">
              <a:avLst/>
            </a:prstGeom>
            <a:noFill/>
            <a:ln>
              <a:noFill/>
            </a:ln>
          </p:spPr>
        </p:pic>
        <p:sp>
          <p:nvSpPr>
            <p:cNvPr id="3" name="Gestreifter Pfeil nach rechts 26">
              <a:extLst>
                <a:ext uri="{FF2B5EF4-FFF2-40B4-BE49-F238E27FC236}">
                  <a16:creationId xmlns:a16="http://schemas.microsoft.com/office/drawing/2014/main" id="{85AA094B-B0A6-E23B-DB71-A998ED0C284B}"/>
                </a:ext>
              </a:extLst>
            </p:cNvPr>
            <p:cNvSpPr/>
            <p:nvPr/>
          </p:nvSpPr>
          <p:spPr bwMode="auto">
            <a:xfrm rot="19996164">
              <a:off x="2281908" y="1930038"/>
              <a:ext cx="1573212" cy="262569"/>
            </a:xfrm>
            <a:prstGeom prst="stripedRightArrow">
              <a:avLst>
                <a:gd name="adj1" fmla="val 50000"/>
                <a:gd name="adj2"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algn="l" rtl="0">
                <a:spcBef>
                  <a:spcPts val="0"/>
                </a:spcBef>
                <a:spcAft>
                  <a:spcPts val="0"/>
                </a:spcAft>
                <a:defRPr sz="1700">
                  <a:solidFill>
                    <a:schemeClr val="lt1"/>
                  </a:solidFill>
                  <a:latin typeface="+mn-lt"/>
                  <a:ea typeface="+mn-ea"/>
                  <a:cs typeface="+mn-cs"/>
                </a:defRPr>
              </a:lvl1pPr>
              <a:lvl2pPr marL="457200" algn="l" rtl="0">
                <a:spcBef>
                  <a:spcPts val="0"/>
                </a:spcBef>
                <a:spcAft>
                  <a:spcPts val="0"/>
                </a:spcAft>
                <a:defRPr sz="1700">
                  <a:solidFill>
                    <a:schemeClr val="lt1"/>
                  </a:solidFill>
                  <a:latin typeface="+mn-lt"/>
                  <a:ea typeface="+mn-ea"/>
                  <a:cs typeface="+mn-cs"/>
                </a:defRPr>
              </a:lvl2pPr>
              <a:lvl3pPr marL="914400" algn="l" rtl="0">
                <a:spcBef>
                  <a:spcPts val="0"/>
                </a:spcBef>
                <a:spcAft>
                  <a:spcPts val="0"/>
                </a:spcAft>
                <a:defRPr sz="1700">
                  <a:solidFill>
                    <a:schemeClr val="lt1"/>
                  </a:solidFill>
                  <a:latin typeface="+mn-lt"/>
                  <a:ea typeface="+mn-ea"/>
                  <a:cs typeface="+mn-cs"/>
                </a:defRPr>
              </a:lvl3pPr>
              <a:lvl4pPr marL="1371600" algn="l" rtl="0">
                <a:spcBef>
                  <a:spcPts val="0"/>
                </a:spcBef>
                <a:spcAft>
                  <a:spcPts val="0"/>
                </a:spcAft>
                <a:defRPr sz="1700">
                  <a:solidFill>
                    <a:schemeClr val="lt1"/>
                  </a:solidFill>
                  <a:latin typeface="+mn-lt"/>
                  <a:ea typeface="+mn-ea"/>
                  <a:cs typeface="+mn-cs"/>
                </a:defRPr>
              </a:lvl4pPr>
              <a:lvl5pPr marL="1828800" algn="l" rtl="0">
                <a:spcBef>
                  <a:spcPts val="0"/>
                </a:spcBef>
                <a:spcAft>
                  <a:spcPts val="0"/>
                </a:spcAft>
                <a:defRPr sz="1700">
                  <a:solidFill>
                    <a:schemeClr val="lt1"/>
                  </a:solidFill>
                  <a:latin typeface="+mn-lt"/>
                  <a:ea typeface="+mn-ea"/>
                  <a:cs typeface="+mn-cs"/>
                </a:defRPr>
              </a:lvl5pPr>
              <a:lvl6pPr marL="2286000" algn="l" defTabSz="914400" rtl="0">
                <a:defRPr sz="1700">
                  <a:solidFill>
                    <a:schemeClr val="lt1"/>
                  </a:solidFill>
                  <a:latin typeface="+mn-lt"/>
                  <a:ea typeface="+mn-ea"/>
                  <a:cs typeface="+mn-cs"/>
                </a:defRPr>
              </a:lvl6pPr>
              <a:lvl7pPr marL="2743200" algn="l" defTabSz="914400" rtl="0">
                <a:defRPr sz="1700">
                  <a:solidFill>
                    <a:schemeClr val="lt1"/>
                  </a:solidFill>
                  <a:latin typeface="+mn-lt"/>
                  <a:ea typeface="+mn-ea"/>
                  <a:cs typeface="+mn-cs"/>
                </a:defRPr>
              </a:lvl7pPr>
              <a:lvl8pPr marL="3200400" algn="l" defTabSz="914400" rtl="0">
                <a:defRPr sz="1700">
                  <a:solidFill>
                    <a:schemeClr val="lt1"/>
                  </a:solidFill>
                  <a:latin typeface="+mn-lt"/>
                  <a:ea typeface="+mn-ea"/>
                  <a:cs typeface="+mn-cs"/>
                </a:defRPr>
              </a:lvl8pPr>
              <a:lvl9pPr marL="3657600" algn="l" defTabSz="914400" rtl="0">
                <a:defRPr sz="1700">
                  <a:solidFill>
                    <a:schemeClr val="lt1"/>
                  </a:solidFill>
                  <a:latin typeface="+mn-lt"/>
                  <a:ea typeface="+mn-ea"/>
                  <a:cs typeface="+mn-cs"/>
                </a:defRPr>
              </a:lvl9pPr>
            </a:lstStyle>
            <a:p>
              <a:pPr algn="ctr">
                <a:defRPr/>
              </a:pPr>
              <a:endParaRPr lang="de-DE" sz="1800"/>
            </a:p>
          </p:txBody>
        </p:sp>
        <p:sp>
          <p:nvSpPr>
            <p:cNvPr id="5" name="TextBox 4">
              <a:extLst>
                <a:ext uri="{FF2B5EF4-FFF2-40B4-BE49-F238E27FC236}">
                  <a16:creationId xmlns:a16="http://schemas.microsoft.com/office/drawing/2014/main" id="{BAB2A593-E0EA-36BC-BF15-B813C90E1017}"/>
                </a:ext>
              </a:extLst>
            </p:cNvPr>
            <p:cNvSpPr txBox="1"/>
            <p:nvPr/>
          </p:nvSpPr>
          <p:spPr>
            <a:xfrm rot="20022930">
              <a:off x="1881183" y="1681006"/>
              <a:ext cx="1983309" cy="307777"/>
            </a:xfrm>
            <a:prstGeom prst="rect">
              <a:avLst/>
            </a:prstGeom>
            <a:noFill/>
          </p:spPr>
          <p:txBody>
            <a:bodyPr wrap="square">
              <a:spAutoFit/>
            </a:bodyPr>
            <a:lstStyle/>
            <a:p>
              <a:pPr>
                <a:defRPr/>
              </a:pPr>
              <a:r>
                <a:rPr lang="en-AU" b="1" dirty="0">
                  <a:solidFill>
                    <a:srgbClr val="00B050"/>
                  </a:solidFill>
                </a:rPr>
                <a:t> Fast charging </a:t>
              </a:r>
              <a:endParaRPr lang="de-DE" sz="1400" b="1" dirty="0">
                <a:solidFill>
                  <a:srgbClr val="00B050"/>
                </a:solidFill>
              </a:endParaRPr>
            </a:p>
          </p:txBody>
        </p:sp>
      </p:grpSp>
      <p:grpSp>
        <p:nvGrpSpPr>
          <p:cNvPr id="11" name="Group 10">
            <a:extLst>
              <a:ext uri="{FF2B5EF4-FFF2-40B4-BE49-F238E27FC236}">
                <a16:creationId xmlns:a16="http://schemas.microsoft.com/office/drawing/2014/main" id="{7972FF41-A6B0-8E63-98A4-B1A21D75D7B2}"/>
              </a:ext>
            </a:extLst>
          </p:cNvPr>
          <p:cNvGrpSpPr/>
          <p:nvPr/>
        </p:nvGrpSpPr>
        <p:grpSpPr>
          <a:xfrm>
            <a:off x="5209536" y="4494390"/>
            <a:ext cx="3453271" cy="215444"/>
            <a:chOff x="5209536" y="4494390"/>
            <a:chExt cx="3453271" cy="215444"/>
          </a:xfrm>
        </p:grpSpPr>
        <p:sp>
          <p:nvSpPr>
            <p:cNvPr id="7" name="Rechteck 3">
              <a:extLst>
                <a:ext uri="{FF2B5EF4-FFF2-40B4-BE49-F238E27FC236}">
                  <a16:creationId xmlns:a16="http://schemas.microsoft.com/office/drawing/2014/main" id="{31BE17AB-C6D7-7242-E673-FBC087B7EF47}"/>
                </a:ext>
              </a:extLst>
            </p:cNvPr>
            <p:cNvSpPr/>
            <p:nvPr/>
          </p:nvSpPr>
          <p:spPr bwMode="auto">
            <a:xfrm>
              <a:off x="5209536"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solidFill>
                    <a:schemeClr val="bg1"/>
                  </a:solidFill>
                </a:rPr>
                <a:t>Introduction</a:t>
              </a:r>
            </a:p>
          </p:txBody>
        </p:sp>
        <p:sp>
          <p:nvSpPr>
            <p:cNvPr id="8" name="Rechteck 4">
              <a:extLst>
                <a:ext uri="{FF2B5EF4-FFF2-40B4-BE49-F238E27FC236}">
                  <a16:creationId xmlns:a16="http://schemas.microsoft.com/office/drawing/2014/main" id="{E66BBC3D-0544-1F97-0CB4-6AADEC508F21}"/>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9" name="Rechteck 5">
              <a:extLst>
                <a:ext uri="{FF2B5EF4-FFF2-40B4-BE49-F238E27FC236}">
                  <a16:creationId xmlns:a16="http://schemas.microsoft.com/office/drawing/2014/main" id="{46FE77D8-FD67-B3D8-6907-6519B3EB609B}"/>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863599" rtl="0">
                <a:lnSpc>
                  <a:spcPct val="100000"/>
                </a:lnSpc>
                <a:spcBef>
                  <a:spcPts val="0"/>
                </a:spcBef>
                <a:spcAft>
                  <a:spcPts val="0"/>
                </a:spcAft>
                <a:buClrTx/>
                <a:buSzTx/>
                <a:buFontTx/>
                <a:buNone/>
                <a:defRPr/>
              </a:pPr>
              <a:r>
                <a:rPr lang="de-DE" sz="800" dirty="0">
                  <a:latin typeface="Arial"/>
                </a:rPr>
                <a:t>Methodology</a:t>
              </a:r>
              <a:endParaRPr lang="de-DE" sz="800" b="0" i="0" u="none" strike="noStrike" cap="none" dirty="0">
                <a:ln>
                  <a:noFill/>
                </a:ln>
                <a:solidFill>
                  <a:schemeClr val="tx1"/>
                </a:solidFill>
                <a:latin typeface="Arial"/>
              </a:endParaRPr>
            </a:p>
          </p:txBody>
        </p:sp>
        <p:sp>
          <p:nvSpPr>
            <p:cNvPr id="10" name="Rechteck 6">
              <a:extLst>
                <a:ext uri="{FF2B5EF4-FFF2-40B4-BE49-F238E27FC236}">
                  <a16:creationId xmlns:a16="http://schemas.microsoft.com/office/drawing/2014/main" id="{4905A62E-B76A-1243-C11E-E8FD0CBB76DA}"/>
                </a:ext>
              </a:extLst>
            </p:cNvPr>
            <p:cNvSpPr/>
            <p:nvPr/>
          </p:nvSpPr>
          <p:spPr bwMode="auto">
            <a:xfrm>
              <a:off x="7798711"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863599" rtl="0">
                <a:lnSpc>
                  <a:spcPct val="100000"/>
                </a:lnSpc>
                <a:spcBef>
                  <a:spcPts val="0"/>
                </a:spcBef>
                <a:spcAft>
                  <a:spcPts val="0"/>
                </a:spcAft>
                <a:buClrTx/>
                <a:buSzTx/>
                <a:buFontTx/>
                <a:buNone/>
                <a:defRPr/>
              </a:pPr>
              <a:r>
                <a:rPr lang="de-DE" sz="800" dirty="0">
                  <a:latin typeface="Arial"/>
                </a:rPr>
                <a:t>Results</a:t>
              </a:r>
              <a:endParaRPr lang="de-DE" sz="800" b="0" i="0" u="none" strike="noStrike" cap="none" dirty="0">
                <a:ln>
                  <a:noFill/>
                </a:ln>
                <a:solidFill>
                  <a:schemeClr val="tx1"/>
                </a:solidFill>
                <a:latin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3cbd0e6f7a2_2_0"/>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Introduction to Digital Twins</a:t>
            </a:r>
            <a:endParaRPr/>
          </a:p>
        </p:txBody>
      </p:sp>
      <mc:AlternateContent xmlns:mc="http://schemas.openxmlformats.org/markup-compatibility/2006" xmlns:a14="http://schemas.microsoft.com/office/drawing/2010/main">
        <mc:Choice Requires="a14">
          <p:sp>
            <p:nvSpPr>
              <p:cNvPr id="104" name="Google Shape;104;g3cbd0e6f7a2_2_0"/>
              <p:cNvSpPr txBox="1">
                <a:spLocks noGrp="1"/>
              </p:cNvSpPr>
              <p:nvPr>
                <p:ph type="body" idx="1"/>
              </p:nvPr>
            </p:nvSpPr>
            <p:spPr>
              <a:xfrm>
                <a:off x="304699" y="1079925"/>
                <a:ext cx="8522777" cy="3637148"/>
              </a:xfrm>
              <a:prstGeom prst="rect">
                <a:avLst/>
              </a:prstGeom>
            </p:spPr>
            <p:txBody>
              <a:bodyPr spcFirstLastPara="1" wrap="square" lIns="91425" tIns="45700" rIns="91425" bIns="45700" anchor="t" anchorCtr="0">
                <a:noAutofit/>
              </a:bodyPr>
              <a:lstStyle/>
              <a:p>
                <a:pPr marL="457200" lvl="0" indent="-336550" algn="just" rtl="0">
                  <a:spcBef>
                    <a:spcPts val="0"/>
                  </a:spcBef>
                  <a:spcAft>
                    <a:spcPts val="0"/>
                  </a:spcAft>
                  <a:buSzPts val="1700"/>
                  <a:buChar char="✔"/>
                </a:pPr>
                <a:r>
                  <a:rPr lang="de-DE" sz="1700" dirty="0"/>
                  <a:t>The DT processes real-time sensor data </a:t>
                </a:r>
                <a14:m>
                  <m:oMath xmlns:m="http://schemas.openxmlformats.org/officeDocument/2006/math">
                    <m:r>
                      <a:rPr lang="de-DE" sz="1700" i="1" dirty="0" smtClean="0">
                        <a:latin typeface="Cambria Math" panose="02040503050406030204" pitchFamily="18" charset="0"/>
                      </a:rPr>
                      <m:t>(</m:t>
                    </m:r>
                    <m:r>
                      <a:rPr lang="de-DE" sz="1700" i="1" dirty="0" smtClean="0">
                        <a:latin typeface="Cambria Math" panose="02040503050406030204" pitchFamily="18" charset="0"/>
                      </a:rPr>
                      <m:t>𝐼</m:t>
                    </m:r>
                    <m:r>
                      <a:rPr lang="de-DE" sz="1700" i="1" dirty="0" smtClean="0">
                        <a:latin typeface="Cambria Math" panose="02040503050406030204" pitchFamily="18" charset="0"/>
                      </a:rPr>
                      <m:t>,</m:t>
                    </m:r>
                    <m:r>
                      <a:rPr lang="de-DE" sz="1700" i="1" dirty="0" smtClean="0">
                        <a:latin typeface="Cambria Math" panose="02040503050406030204" pitchFamily="18" charset="0"/>
                      </a:rPr>
                      <m:t>𝑉</m:t>
                    </m:r>
                    <m:r>
                      <a:rPr lang="de-DE" sz="1700" i="1" dirty="0" smtClean="0">
                        <a:latin typeface="Cambria Math" panose="02040503050406030204" pitchFamily="18" charset="0"/>
                      </a:rPr>
                      <m:t>,</m:t>
                    </m:r>
                    <m:r>
                      <a:rPr lang="de-DE" sz="1700" i="1" dirty="0" smtClean="0">
                        <a:latin typeface="Cambria Math" panose="02040503050406030204" pitchFamily="18" charset="0"/>
                      </a:rPr>
                      <m:t>𝑇</m:t>
                    </m:r>
                    <m:r>
                      <a:rPr lang="de-DE" sz="1700" i="1" dirty="0" smtClean="0">
                        <a:latin typeface="Cambria Math" panose="02040503050406030204" pitchFamily="18" charset="0"/>
                      </a:rPr>
                      <m:t>) </m:t>
                    </m:r>
                  </m:oMath>
                </a14:m>
                <a:r>
                  <a:rPr lang="de-DE" sz="1700" dirty="0"/>
                  <a:t>to adapt a twin model of a process.</a:t>
                </a:r>
                <a:endParaRPr sz="1700" dirty="0"/>
              </a:p>
              <a:p>
                <a:pPr marL="457200" lvl="0" indent="-336550" algn="just" rtl="0">
                  <a:spcBef>
                    <a:spcPts val="0"/>
                  </a:spcBef>
                  <a:spcAft>
                    <a:spcPts val="0"/>
                  </a:spcAft>
                  <a:buSzPts val="1700"/>
                  <a:buChar char="✔"/>
                </a:pPr>
                <a:r>
                  <a:rPr lang="de-DE" sz="1700" dirty="0"/>
                  <a:t>Thermal 'constants' drift due to aging; the Digital Twin adaptively mirrors the physical module's degradation.</a:t>
                </a:r>
                <a:endParaRPr sz="1700" dirty="0"/>
              </a:p>
            </p:txBody>
          </p:sp>
        </mc:Choice>
        <mc:Fallback xmlns="">
          <p:sp>
            <p:nvSpPr>
              <p:cNvPr id="104" name="Google Shape;104;g3cbd0e6f7a2_2_0"/>
              <p:cNvSpPr txBox="1">
                <a:spLocks noGrp="1" noRot="1" noChangeAspect="1" noMove="1" noResize="1" noEditPoints="1" noAdjustHandles="1" noChangeArrowheads="1" noChangeShapeType="1" noTextEdit="1"/>
              </p:cNvSpPr>
              <p:nvPr>
                <p:ph type="body" idx="1"/>
              </p:nvPr>
            </p:nvSpPr>
            <p:spPr>
              <a:xfrm>
                <a:off x="304699" y="1079925"/>
                <a:ext cx="8522777" cy="3637148"/>
              </a:xfrm>
              <a:prstGeom prst="rect">
                <a:avLst/>
              </a:prstGeom>
              <a:blipFill>
                <a:blip r:embed="rId3"/>
                <a:stretch>
                  <a:fillRect t="-1508" r="-429"/>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93530104-8808-0514-4462-3642019278F6}"/>
              </a:ext>
            </a:extLst>
          </p:cNvPr>
          <p:cNvGrpSpPr/>
          <p:nvPr/>
        </p:nvGrpSpPr>
        <p:grpSpPr>
          <a:xfrm>
            <a:off x="1838874" y="2270847"/>
            <a:ext cx="5454425" cy="2324279"/>
            <a:chOff x="1838874" y="2270847"/>
            <a:chExt cx="5454425" cy="2324279"/>
          </a:xfrm>
        </p:grpSpPr>
        <p:pic>
          <p:nvPicPr>
            <p:cNvPr id="105" name="Google Shape;105;g3cbd0e6f7a2_2_0"/>
            <p:cNvPicPr preferRelativeResize="0"/>
            <p:nvPr/>
          </p:nvPicPr>
          <p:blipFill>
            <a:blip r:embed="rId4">
              <a:alphaModFix/>
            </a:blip>
            <a:stretch>
              <a:fillRect/>
            </a:stretch>
          </p:blipFill>
          <p:spPr>
            <a:xfrm>
              <a:off x="1838874" y="2270847"/>
              <a:ext cx="5454425" cy="2004800"/>
            </a:xfrm>
            <a:prstGeom prst="rect">
              <a:avLst/>
            </a:prstGeom>
            <a:noFill/>
            <a:ln>
              <a:noFill/>
            </a:ln>
          </p:spPr>
        </p:pic>
        <p:sp>
          <p:nvSpPr>
            <p:cNvPr id="2" name="Google Shape;95;p4">
              <a:extLst>
                <a:ext uri="{FF2B5EF4-FFF2-40B4-BE49-F238E27FC236}">
                  <a16:creationId xmlns:a16="http://schemas.microsoft.com/office/drawing/2014/main" id="{544745F0-7C35-F490-7F93-02AAE8E5BB91}"/>
                </a:ext>
              </a:extLst>
            </p:cNvPr>
            <p:cNvSpPr/>
            <p:nvPr/>
          </p:nvSpPr>
          <p:spPr>
            <a:xfrm>
              <a:off x="3081297" y="4287390"/>
              <a:ext cx="2693789"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b="1" dirty="0">
                  <a:solidFill>
                    <a:schemeClr val="dk1"/>
                  </a:solidFill>
                </a:rPr>
                <a:t>Fig.2 </a:t>
              </a:r>
              <a:r>
                <a:rPr lang="de-DE" dirty="0">
                  <a:solidFill>
                    <a:schemeClr val="dk1"/>
                  </a:solidFill>
                </a:rPr>
                <a:t>Digital twin Topology [2]</a:t>
              </a:r>
              <a:r>
                <a:rPr lang="de-DE" sz="1400" b="0" i="0" u="none" strike="noStrike" cap="none" dirty="0">
                  <a:solidFill>
                    <a:schemeClr val="dk1"/>
                  </a:solidFill>
                  <a:latin typeface="Arial"/>
                  <a:ea typeface="Arial"/>
                  <a:cs typeface="Arial"/>
                  <a:sym typeface="Arial"/>
                </a:rPr>
                <a:t> </a:t>
              </a:r>
              <a:endParaRPr sz="1700" b="0" i="0" u="none" strike="noStrike" cap="none" dirty="0">
                <a:solidFill>
                  <a:schemeClr val="dk1"/>
                </a:solidFill>
                <a:latin typeface="Arial"/>
                <a:ea typeface="Arial"/>
                <a:cs typeface="Arial"/>
                <a:sym typeface="Arial"/>
              </a:endParaRPr>
            </a:p>
          </p:txBody>
        </p:sp>
      </p:grpSp>
      <p:grpSp>
        <p:nvGrpSpPr>
          <p:cNvPr id="4" name="Group 3">
            <a:extLst>
              <a:ext uri="{FF2B5EF4-FFF2-40B4-BE49-F238E27FC236}">
                <a16:creationId xmlns:a16="http://schemas.microsoft.com/office/drawing/2014/main" id="{113CE698-A6DC-D9F1-77F5-2DDB0F872A60}"/>
              </a:ext>
            </a:extLst>
          </p:cNvPr>
          <p:cNvGrpSpPr/>
          <p:nvPr/>
        </p:nvGrpSpPr>
        <p:grpSpPr>
          <a:xfrm>
            <a:off x="5690729" y="4487468"/>
            <a:ext cx="3453271" cy="215444"/>
            <a:chOff x="5209536" y="4494390"/>
            <a:chExt cx="3453271" cy="215444"/>
          </a:xfrm>
        </p:grpSpPr>
        <p:sp>
          <p:nvSpPr>
            <p:cNvPr id="5" name="Rechteck 3">
              <a:extLst>
                <a:ext uri="{FF2B5EF4-FFF2-40B4-BE49-F238E27FC236}">
                  <a16:creationId xmlns:a16="http://schemas.microsoft.com/office/drawing/2014/main" id="{3C616FA5-2764-0038-9662-B4596AA8CBB2}"/>
                </a:ext>
              </a:extLst>
            </p:cNvPr>
            <p:cNvSpPr/>
            <p:nvPr/>
          </p:nvSpPr>
          <p:spPr bwMode="auto">
            <a:xfrm>
              <a:off x="5209536"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solidFill>
                    <a:schemeClr val="bg1"/>
                  </a:solidFill>
                </a:rPr>
                <a:t>Introduction</a:t>
              </a:r>
            </a:p>
          </p:txBody>
        </p:sp>
        <p:sp>
          <p:nvSpPr>
            <p:cNvPr id="6" name="Rechteck 4">
              <a:extLst>
                <a:ext uri="{FF2B5EF4-FFF2-40B4-BE49-F238E27FC236}">
                  <a16:creationId xmlns:a16="http://schemas.microsoft.com/office/drawing/2014/main" id="{CCBF0B44-3C74-FD07-BB89-F6BAE91BF18B}"/>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7" name="Rechteck 5">
              <a:extLst>
                <a:ext uri="{FF2B5EF4-FFF2-40B4-BE49-F238E27FC236}">
                  <a16:creationId xmlns:a16="http://schemas.microsoft.com/office/drawing/2014/main" id="{C1B0F7AB-4937-3677-43D4-31CB278DE49B}"/>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863599" rtl="0">
                <a:lnSpc>
                  <a:spcPct val="100000"/>
                </a:lnSpc>
                <a:spcBef>
                  <a:spcPts val="0"/>
                </a:spcBef>
                <a:spcAft>
                  <a:spcPts val="0"/>
                </a:spcAft>
                <a:buClrTx/>
                <a:buSzTx/>
                <a:buFontTx/>
                <a:buNone/>
                <a:defRPr/>
              </a:pPr>
              <a:r>
                <a:rPr lang="de-DE" sz="800" dirty="0">
                  <a:latin typeface="Arial"/>
                </a:rPr>
                <a:t>Methodology</a:t>
              </a:r>
              <a:endParaRPr lang="de-DE" sz="800" b="0" i="0" u="none" strike="noStrike" cap="none" dirty="0">
                <a:ln>
                  <a:noFill/>
                </a:ln>
                <a:solidFill>
                  <a:schemeClr val="tx1"/>
                </a:solidFill>
                <a:latin typeface="Arial"/>
              </a:endParaRPr>
            </a:p>
          </p:txBody>
        </p:sp>
        <p:sp>
          <p:nvSpPr>
            <p:cNvPr id="8" name="Rechteck 6">
              <a:extLst>
                <a:ext uri="{FF2B5EF4-FFF2-40B4-BE49-F238E27FC236}">
                  <a16:creationId xmlns:a16="http://schemas.microsoft.com/office/drawing/2014/main" id="{4C51646F-1D90-8ACD-51DB-3D6AEF6DC905}"/>
                </a:ext>
              </a:extLst>
            </p:cNvPr>
            <p:cNvSpPr/>
            <p:nvPr/>
          </p:nvSpPr>
          <p:spPr bwMode="auto">
            <a:xfrm>
              <a:off x="7798711"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863599" rtl="0">
                <a:lnSpc>
                  <a:spcPct val="100000"/>
                </a:lnSpc>
                <a:spcBef>
                  <a:spcPts val="0"/>
                </a:spcBef>
                <a:spcAft>
                  <a:spcPts val="0"/>
                </a:spcAft>
                <a:buClrTx/>
                <a:buSzTx/>
                <a:buFontTx/>
                <a:buNone/>
                <a:defRPr/>
              </a:pPr>
              <a:r>
                <a:rPr lang="de-DE" sz="800" dirty="0">
                  <a:latin typeface="Arial"/>
                </a:rPr>
                <a:t>Results</a:t>
              </a:r>
              <a:endParaRPr lang="de-DE" sz="800" b="0" i="0" u="none" strike="noStrike" cap="none" dirty="0">
                <a:ln>
                  <a:noFill/>
                </a:ln>
                <a:solidFill>
                  <a:schemeClr val="tx1"/>
                </a:solidFill>
                <a:latin typeface="Arial"/>
              </a:endParaRPr>
            </a:p>
          </p:txBody>
        </p:sp>
      </p:grpSp>
      <p:sp>
        <p:nvSpPr>
          <p:cNvPr id="9" name="TextBox 8">
            <a:extLst>
              <a:ext uri="{FF2B5EF4-FFF2-40B4-BE49-F238E27FC236}">
                <a16:creationId xmlns:a16="http://schemas.microsoft.com/office/drawing/2014/main" id="{66BFCEA7-257F-D4A5-A72E-6F85B51BB3EF}"/>
              </a:ext>
            </a:extLst>
          </p:cNvPr>
          <p:cNvSpPr txBox="1"/>
          <p:nvPr/>
        </p:nvSpPr>
        <p:spPr>
          <a:xfrm>
            <a:off x="6154911" y="4778618"/>
            <a:ext cx="2282158" cy="307777"/>
          </a:xfrm>
          <a:prstGeom prst="rect">
            <a:avLst/>
          </a:prstGeom>
          <a:noFill/>
        </p:spPr>
        <p:txBody>
          <a:bodyPr wrap="square" rtlCol="0">
            <a:spAutoFit/>
          </a:bodyPr>
          <a:lstStyle/>
          <a:p>
            <a:r>
              <a:rPr lang="en-US" sz="700" dirty="0"/>
              <a:t>Kuprat et al. Dynamic mode decomposition with control [2]</a:t>
            </a:r>
            <a:endParaRPr lang="en-US" sz="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de-DE"/>
              <a:t>Models</a:t>
            </a:r>
            <a:endParaRPr/>
          </a:p>
        </p:txBody>
      </p:sp>
      <p:sp>
        <p:nvSpPr>
          <p:cNvPr id="113" name="Google Shape;113;p5"/>
          <p:cNvSpPr txBox="1"/>
          <p:nvPr/>
        </p:nvSpPr>
        <p:spPr>
          <a:xfrm>
            <a:off x="13974" y="914400"/>
            <a:ext cx="90807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de-DE" sz="1600" dirty="0">
                <a:solidFill>
                  <a:schemeClr val="dk1"/>
                </a:solidFill>
              </a:rPr>
              <a:t>Common modeling approaches include Lumped Parameter Thermal Networks (LPTN), FEA, and Data-Driven models.</a:t>
            </a:r>
            <a:endParaRPr sz="1700" b="0" i="0" u="none" strike="noStrike" cap="none" dirty="0">
              <a:solidFill>
                <a:schemeClr val="dk1"/>
              </a:solidFill>
              <a:latin typeface="Arial"/>
              <a:ea typeface="Arial"/>
              <a:cs typeface="Arial"/>
              <a:sym typeface="Arial"/>
            </a:endParaRPr>
          </a:p>
        </p:txBody>
      </p:sp>
      <p:pic>
        <p:nvPicPr>
          <p:cNvPr id="114" name="Google Shape;114;p5"/>
          <p:cNvPicPr preferRelativeResize="0"/>
          <p:nvPr/>
        </p:nvPicPr>
        <p:blipFill>
          <a:blip r:embed="rId3">
            <a:alphaModFix/>
          </a:blip>
          <a:stretch>
            <a:fillRect/>
          </a:stretch>
        </p:blipFill>
        <p:spPr>
          <a:xfrm>
            <a:off x="2582139" y="1498450"/>
            <a:ext cx="2953505" cy="2308399"/>
          </a:xfrm>
          <a:prstGeom prst="rect">
            <a:avLst/>
          </a:prstGeom>
          <a:noFill/>
          <a:ln>
            <a:noFill/>
          </a:ln>
        </p:spPr>
      </p:pic>
      <p:pic>
        <p:nvPicPr>
          <p:cNvPr id="115" name="Google Shape;115;p5"/>
          <p:cNvPicPr preferRelativeResize="0"/>
          <p:nvPr/>
        </p:nvPicPr>
        <p:blipFill>
          <a:blip r:embed="rId4">
            <a:alphaModFix/>
          </a:blip>
          <a:stretch>
            <a:fillRect/>
          </a:stretch>
        </p:blipFill>
        <p:spPr>
          <a:xfrm>
            <a:off x="456025" y="1498450"/>
            <a:ext cx="1748726" cy="2374250"/>
          </a:xfrm>
          <a:prstGeom prst="rect">
            <a:avLst/>
          </a:prstGeom>
          <a:noFill/>
          <a:ln>
            <a:noFill/>
          </a:ln>
        </p:spPr>
      </p:pic>
      <p:pic>
        <p:nvPicPr>
          <p:cNvPr id="116" name="Google Shape;116;p5"/>
          <p:cNvPicPr preferRelativeResize="0"/>
          <p:nvPr/>
        </p:nvPicPr>
        <p:blipFill rotWithShape="1">
          <a:blip r:embed="rId5">
            <a:alphaModFix/>
          </a:blip>
          <a:srcRect l="383" t="5015" b="5081"/>
          <a:stretch>
            <a:fillRect/>
          </a:stretch>
        </p:blipFill>
        <p:spPr>
          <a:xfrm>
            <a:off x="5535644" y="1637862"/>
            <a:ext cx="3466145" cy="2075351"/>
          </a:xfrm>
          <a:prstGeom prst="rect">
            <a:avLst/>
          </a:prstGeom>
          <a:noFill/>
          <a:ln>
            <a:noFill/>
          </a:ln>
        </p:spPr>
      </p:pic>
      <p:sp>
        <p:nvSpPr>
          <p:cNvPr id="117" name="Google Shape;117;p5"/>
          <p:cNvSpPr/>
          <p:nvPr/>
        </p:nvSpPr>
        <p:spPr>
          <a:xfrm>
            <a:off x="329377" y="3871046"/>
            <a:ext cx="2252762"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de-DE" b="1" dirty="0">
                <a:solidFill>
                  <a:schemeClr val="dk1"/>
                </a:solidFill>
              </a:rPr>
              <a:t>Fig.3 </a:t>
            </a:r>
            <a:r>
              <a:rPr lang="de-DE" dirty="0">
                <a:solidFill>
                  <a:schemeClr val="dk1"/>
                </a:solidFill>
              </a:rPr>
              <a:t>Cauer Network [2]</a:t>
            </a:r>
            <a:endParaRPr sz="1700" b="0" i="0" u="none" strike="noStrike" cap="none" dirty="0">
              <a:solidFill>
                <a:schemeClr val="dk1"/>
              </a:solidFill>
              <a:latin typeface="Arial"/>
              <a:ea typeface="Arial"/>
              <a:cs typeface="Arial"/>
              <a:sym typeface="Arial"/>
            </a:endParaRPr>
          </a:p>
        </p:txBody>
      </p:sp>
      <p:sp>
        <p:nvSpPr>
          <p:cNvPr id="118" name="Google Shape;118;p5"/>
          <p:cNvSpPr/>
          <p:nvPr/>
        </p:nvSpPr>
        <p:spPr>
          <a:xfrm>
            <a:off x="2612500" y="3760911"/>
            <a:ext cx="3094394"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de-DE" b="1" dirty="0">
                <a:solidFill>
                  <a:schemeClr val="dk1"/>
                </a:solidFill>
              </a:rPr>
              <a:t>Fig.4 </a:t>
            </a:r>
            <a:r>
              <a:rPr lang="de-DE" dirty="0">
                <a:solidFill>
                  <a:schemeClr val="dk1"/>
                </a:solidFill>
              </a:rPr>
              <a:t>Semiconductor Heating FEA[3]</a:t>
            </a:r>
            <a:r>
              <a:rPr lang="de-DE" sz="1400" b="0" i="0" u="none" strike="noStrike" cap="none" dirty="0">
                <a:solidFill>
                  <a:schemeClr val="dk1"/>
                </a:solidFill>
                <a:latin typeface="Arial"/>
                <a:ea typeface="Arial"/>
                <a:cs typeface="Arial"/>
                <a:sym typeface="Arial"/>
              </a:rPr>
              <a:t> </a:t>
            </a:r>
            <a:endParaRPr sz="1700" b="0" i="0" u="none" strike="noStrike" cap="none" dirty="0">
              <a:solidFill>
                <a:schemeClr val="dk1"/>
              </a:solidFill>
              <a:latin typeface="Arial"/>
              <a:ea typeface="Arial"/>
              <a:cs typeface="Arial"/>
              <a:sym typeface="Arial"/>
            </a:endParaRPr>
          </a:p>
        </p:txBody>
      </p:sp>
      <p:sp>
        <p:nvSpPr>
          <p:cNvPr id="119" name="Google Shape;119;p5"/>
          <p:cNvSpPr/>
          <p:nvPr/>
        </p:nvSpPr>
        <p:spPr>
          <a:xfrm>
            <a:off x="6188346" y="3603375"/>
            <a:ext cx="27747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de-DE" b="1" dirty="0">
                <a:solidFill>
                  <a:schemeClr val="dk1"/>
                </a:solidFill>
              </a:rPr>
              <a:t>Fig.5 </a:t>
            </a:r>
            <a:r>
              <a:rPr lang="de-DE" dirty="0">
                <a:solidFill>
                  <a:schemeClr val="dk1"/>
                </a:solidFill>
              </a:rPr>
              <a:t>Data driven modelling [4]</a:t>
            </a:r>
            <a:r>
              <a:rPr lang="de-DE" sz="1400" b="0" i="0" u="none" strike="noStrike" cap="none" dirty="0">
                <a:solidFill>
                  <a:schemeClr val="dk1"/>
                </a:solidFill>
                <a:latin typeface="Arial"/>
                <a:ea typeface="Arial"/>
                <a:cs typeface="Arial"/>
                <a:sym typeface="Arial"/>
              </a:rPr>
              <a:t> </a:t>
            </a:r>
            <a:endParaRPr sz="1700" b="0" i="0" u="none" strike="noStrike" cap="none" dirty="0">
              <a:solidFill>
                <a:schemeClr val="dk1"/>
              </a:solidFill>
              <a:latin typeface="Arial"/>
              <a:ea typeface="Arial"/>
              <a:cs typeface="Arial"/>
              <a:sym typeface="Arial"/>
            </a:endParaRPr>
          </a:p>
        </p:txBody>
      </p:sp>
      <p:grpSp>
        <p:nvGrpSpPr>
          <p:cNvPr id="2" name="Group 1">
            <a:extLst>
              <a:ext uri="{FF2B5EF4-FFF2-40B4-BE49-F238E27FC236}">
                <a16:creationId xmlns:a16="http://schemas.microsoft.com/office/drawing/2014/main" id="{1BA26CE7-30BC-34A7-8BD6-24A858122FDE}"/>
              </a:ext>
            </a:extLst>
          </p:cNvPr>
          <p:cNvGrpSpPr/>
          <p:nvPr/>
        </p:nvGrpSpPr>
        <p:grpSpPr>
          <a:xfrm>
            <a:off x="5248840" y="4476297"/>
            <a:ext cx="3453271" cy="215444"/>
            <a:chOff x="5209536" y="4494390"/>
            <a:chExt cx="3453271" cy="215444"/>
          </a:xfrm>
        </p:grpSpPr>
        <p:sp>
          <p:nvSpPr>
            <p:cNvPr id="3" name="Rechteck 3">
              <a:extLst>
                <a:ext uri="{FF2B5EF4-FFF2-40B4-BE49-F238E27FC236}">
                  <a16:creationId xmlns:a16="http://schemas.microsoft.com/office/drawing/2014/main" id="{32C14FDF-70F5-6CE8-6E4E-29A94D1220A8}"/>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Introduction</a:t>
              </a:r>
              <a:endParaRPr lang="de-DE" sz="800" dirty="0"/>
            </a:p>
          </p:txBody>
        </p:sp>
        <p:sp>
          <p:nvSpPr>
            <p:cNvPr id="4" name="Rechteck 4">
              <a:extLst>
                <a:ext uri="{FF2B5EF4-FFF2-40B4-BE49-F238E27FC236}">
                  <a16:creationId xmlns:a16="http://schemas.microsoft.com/office/drawing/2014/main" id="{A94AC1DE-203F-3460-55F4-E858FD8CA5E9}"/>
                </a:ext>
              </a:extLst>
            </p:cNvPr>
            <p:cNvSpPr/>
            <p:nvPr/>
          </p:nvSpPr>
          <p:spPr bwMode="auto">
            <a:xfrm>
              <a:off x="6070519"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solidFill>
                    <a:schemeClr val="bg1"/>
                  </a:solidFill>
                </a:rPr>
                <a:t>Review</a:t>
              </a:r>
            </a:p>
          </p:txBody>
        </p:sp>
        <p:sp>
          <p:nvSpPr>
            <p:cNvPr id="5" name="Rechteck 5">
              <a:extLst>
                <a:ext uri="{FF2B5EF4-FFF2-40B4-BE49-F238E27FC236}">
                  <a16:creationId xmlns:a16="http://schemas.microsoft.com/office/drawing/2014/main" id="{54FAA2AC-8784-F8F0-E19F-656E73EEAADF}"/>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863599" rtl="0">
                <a:lnSpc>
                  <a:spcPct val="100000"/>
                </a:lnSpc>
                <a:spcBef>
                  <a:spcPts val="0"/>
                </a:spcBef>
                <a:spcAft>
                  <a:spcPts val="0"/>
                </a:spcAft>
                <a:buClrTx/>
                <a:buSzTx/>
                <a:buFontTx/>
                <a:buNone/>
                <a:defRPr/>
              </a:pPr>
              <a:r>
                <a:rPr lang="de-DE" sz="800" dirty="0">
                  <a:latin typeface="Arial"/>
                </a:rPr>
                <a:t>Methodology</a:t>
              </a:r>
              <a:endParaRPr lang="de-DE" sz="800" b="0" i="0" u="none" strike="noStrike" cap="none" dirty="0">
                <a:ln>
                  <a:noFill/>
                </a:ln>
                <a:solidFill>
                  <a:schemeClr val="tx1"/>
                </a:solidFill>
                <a:latin typeface="Arial"/>
              </a:endParaRPr>
            </a:p>
          </p:txBody>
        </p:sp>
        <p:sp>
          <p:nvSpPr>
            <p:cNvPr id="6" name="Rechteck 6">
              <a:extLst>
                <a:ext uri="{FF2B5EF4-FFF2-40B4-BE49-F238E27FC236}">
                  <a16:creationId xmlns:a16="http://schemas.microsoft.com/office/drawing/2014/main" id="{EF534DBD-F881-A632-F643-E812E4D2F4CC}"/>
                </a:ext>
              </a:extLst>
            </p:cNvPr>
            <p:cNvSpPr/>
            <p:nvPr/>
          </p:nvSpPr>
          <p:spPr bwMode="auto">
            <a:xfrm>
              <a:off x="7798711"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863599" rtl="0">
                <a:lnSpc>
                  <a:spcPct val="100000"/>
                </a:lnSpc>
                <a:spcBef>
                  <a:spcPts val="0"/>
                </a:spcBef>
                <a:spcAft>
                  <a:spcPts val="0"/>
                </a:spcAft>
                <a:buClrTx/>
                <a:buSzTx/>
                <a:buFontTx/>
                <a:buNone/>
                <a:defRPr/>
              </a:pPr>
              <a:r>
                <a:rPr lang="de-DE" sz="800" dirty="0">
                  <a:latin typeface="Arial"/>
                </a:rPr>
                <a:t>Results</a:t>
              </a:r>
              <a:endParaRPr lang="de-DE" sz="800" b="0" i="0" u="none" strike="noStrike" cap="none" dirty="0">
                <a:ln>
                  <a:noFill/>
                </a:ln>
                <a:solidFill>
                  <a:schemeClr val="tx1"/>
                </a:solidFill>
                <a:latin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de-DE"/>
              <a:t>Cauer network Parameter identification</a:t>
            </a:r>
            <a:endParaRPr/>
          </a:p>
        </p:txBody>
      </p:sp>
      <p:sp>
        <p:nvSpPr>
          <p:cNvPr id="126" name="Google Shape;126;p6"/>
          <p:cNvSpPr/>
          <p:nvPr/>
        </p:nvSpPr>
        <p:spPr>
          <a:xfrm>
            <a:off x="5012650" y="3965249"/>
            <a:ext cx="3888300" cy="523200"/>
          </a:xfrm>
          <a:prstGeom prst="roundRect">
            <a:avLst>
              <a:gd name="adj" fmla="val 16667"/>
            </a:avLst>
          </a:prstGeom>
          <a:solidFill>
            <a:srgbClr val="00219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de-DE" sz="1200" b="1" dirty="0">
                <a:solidFill>
                  <a:schemeClr val="lt1"/>
                </a:solidFill>
              </a:rPr>
              <a:t>A reliable computationally light identification method is required </a:t>
            </a:r>
            <a:endParaRPr sz="1200" b="1" i="0" u="none" strike="noStrike" cap="none" dirty="0">
              <a:solidFill>
                <a:schemeClr val="lt1"/>
              </a:solidFill>
              <a:latin typeface="Arial"/>
              <a:ea typeface="Arial"/>
              <a:cs typeface="Arial"/>
              <a:sym typeface="Arial"/>
            </a:endParaRPr>
          </a:p>
        </p:txBody>
      </p:sp>
      <p:sp>
        <p:nvSpPr>
          <p:cNvPr id="127" name="Google Shape;127;p6"/>
          <p:cNvSpPr/>
          <p:nvPr/>
        </p:nvSpPr>
        <p:spPr>
          <a:xfrm>
            <a:off x="155350" y="3500525"/>
            <a:ext cx="2589000" cy="826500"/>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rgbClr val="00B050"/>
              </a:buClr>
              <a:buSzPts val="1200"/>
              <a:buFont typeface="Noto Sans Symbols"/>
              <a:buChar char="✔"/>
            </a:pPr>
            <a:r>
              <a:rPr lang="de-DE" sz="1200">
                <a:solidFill>
                  <a:schemeClr val="dk1"/>
                </a:solidFill>
              </a:rPr>
              <a:t>Easy Implementation in embedded systems</a:t>
            </a:r>
            <a:r>
              <a:rPr lang="de-DE" sz="1200" b="0" i="0" u="none" strike="noStrike" cap="none">
                <a:solidFill>
                  <a:schemeClr val="dk1"/>
                </a:solidFill>
                <a:latin typeface="Arial"/>
                <a:ea typeface="Arial"/>
                <a:cs typeface="Arial"/>
                <a:sym typeface="Arial"/>
              </a:rPr>
              <a:t> </a:t>
            </a:r>
            <a:endParaRPr sz="1700" b="0" i="0" u="none" strike="noStrike" cap="none">
              <a:solidFill>
                <a:schemeClr val="dk1"/>
              </a:solidFill>
              <a:latin typeface="Arial"/>
              <a:ea typeface="Arial"/>
              <a:cs typeface="Arial"/>
              <a:sym typeface="Arial"/>
            </a:endParaRPr>
          </a:p>
          <a:p>
            <a:pPr marL="285750" marR="0" lvl="0" indent="-285750" algn="just" rtl="0">
              <a:spcBef>
                <a:spcPts val="0"/>
              </a:spcBef>
              <a:spcAft>
                <a:spcPts val="0"/>
              </a:spcAft>
              <a:buClr>
                <a:srgbClr val="00B050"/>
              </a:buClr>
              <a:buSzPts val="1200"/>
              <a:buFont typeface="Noto Sans Symbols"/>
              <a:buChar char="✔"/>
            </a:pPr>
            <a:r>
              <a:rPr lang="de-DE" sz="1200">
                <a:solidFill>
                  <a:schemeClr val="dk1"/>
                </a:solidFill>
              </a:rPr>
              <a:t>Computationally light</a:t>
            </a:r>
            <a:endParaRPr sz="1700" b="0" i="0" u="none" strike="noStrike" cap="none">
              <a:solidFill>
                <a:schemeClr val="dk1"/>
              </a:solidFill>
              <a:latin typeface="Arial"/>
              <a:ea typeface="Arial"/>
              <a:cs typeface="Arial"/>
              <a:sym typeface="Arial"/>
            </a:endParaRPr>
          </a:p>
          <a:p>
            <a:pPr marL="285750" marR="0" lvl="0" indent="-285750" algn="just" rtl="0">
              <a:spcBef>
                <a:spcPts val="0"/>
              </a:spcBef>
              <a:spcAft>
                <a:spcPts val="0"/>
              </a:spcAft>
              <a:buClr>
                <a:srgbClr val="00B050"/>
              </a:buClr>
              <a:buSzPts val="1200"/>
              <a:buFont typeface="Noto Sans Symbols"/>
              <a:buChar char="✔"/>
            </a:pPr>
            <a:r>
              <a:rPr lang="de-DE" sz="1200">
                <a:solidFill>
                  <a:schemeClr val="dk1"/>
                </a:solidFill>
              </a:rPr>
              <a:t>Easy interpretation</a:t>
            </a:r>
            <a:endParaRPr sz="1700" b="0" i="0" u="none" strike="noStrike" cap="none">
              <a:solidFill>
                <a:schemeClr val="dk1"/>
              </a:solidFill>
              <a:latin typeface="Arial"/>
              <a:ea typeface="Arial"/>
              <a:cs typeface="Arial"/>
              <a:sym typeface="Arial"/>
            </a:endParaRPr>
          </a:p>
        </p:txBody>
      </p:sp>
      <p:sp>
        <p:nvSpPr>
          <p:cNvPr id="128" name="Google Shape;128;p6"/>
          <p:cNvSpPr/>
          <p:nvPr/>
        </p:nvSpPr>
        <p:spPr>
          <a:xfrm>
            <a:off x="2826575" y="3512250"/>
            <a:ext cx="1993200" cy="1192800"/>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rgbClr val="FF0000"/>
              </a:buClr>
              <a:buSzPts val="1200"/>
              <a:buFont typeface="Arimo"/>
              <a:buChar char="r"/>
            </a:pPr>
            <a:r>
              <a:rPr lang="de-DE" sz="1200" dirty="0">
                <a:solidFill>
                  <a:schemeClr val="dk1"/>
                </a:solidFill>
              </a:rPr>
              <a:t>Over-simplifies dynamics </a:t>
            </a:r>
            <a:endParaRPr sz="1700" b="0" i="0" u="none" strike="noStrike" cap="none" dirty="0">
              <a:solidFill>
                <a:schemeClr val="dk1"/>
              </a:solidFill>
              <a:latin typeface="Arial"/>
              <a:ea typeface="Arial"/>
              <a:cs typeface="Arial"/>
              <a:sym typeface="Arial"/>
            </a:endParaRPr>
          </a:p>
          <a:p>
            <a:pPr marL="285750" marR="0" lvl="0" indent="-285750" algn="just" rtl="0">
              <a:spcBef>
                <a:spcPts val="0"/>
              </a:spcBef>
              <a:spcAft>
                <a:spcPts val="0"/>
              </a:spcAft>
              <a:buClr>
                <a:srgbClr val="FF0000"/>
              </a:buClr>
              <a:buSzPts val="1200"/>
              <a:buFont typeface="Arimo"/>
              <a:buChar char="r"/>
            </a:pPr>
            <a:r>
              <a:rPr lang="de-DE" sz="1200" dirty="0">
                <a:solidFill>
                  <a:schemeClr val="dk1"/>
                </a:solidFill>
              </a:rPr>
              <a:t>Parameters are not measurable </a:t>
            </a:r>
            <a:endParaRPr sz="1200" dirty="0">
              <a:solidFill>
                <a:schemeClr val="dk1"/>
              </a:solidFill>
            </a:endParaRPr>
          </a:p>
          <a:p>
            <a:pPr marL="285750" marR="0" lvl="0" indent="-285750" algn="just" rtl="0">
              <a:spcBef>
                <a:spcPts val="0"/>
              </a:spcBef>
              <a:spcAft>
                <a:spcPts val="0"/>
              </a:spcAft>
              <a:buClr>
                <a:schemeClr val="dk1"/>
              </a:buClr>
              <a:buSzPts val="1200"/>
              <a:buChar char="r"/>
            </a:pPr>
            <a:r>
              <a:rPr lang="de-DE" sz="1200" dirty="0">
                <a:solidFill>
                  <a:schemeClr val="dk1"/>
                </a:solidFill>
              </a:rPr>
              <a:t>Thermal parameters are fixed</a:t>
            </a:r>
            <a:endParaRPr sz="1200" dirty="0">
              <a:solidFill>
                <a:schemeClr val="dk1"/>
              </a:solidFill>
            </a:endParaRPr>
          </a:p>
        </p:txBody>
      </p:sp>
      <p:sp>
        <p:nvSpPr>
          <p:cNvPr id="129" name="Google Shape;129;p6"/>
          <p:cNvSpPr txBox="1"/>
          <p:nvPr/>
        </p:nvSpPr>
        <p:spPr>
          <a:xfrm>
            <a:off x="289130" y="3151972"/>
            <a:ext cx="1219886" cy="215444"/>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de-DE" sz="1400" b="1" i="0" u="none" strike="noStrike" cap="none">
                <a:solidFill>
                  <a:srgbClr val="00B050"/>
                </a:solidFill>
                <a:latin typeface="Arial"/>
                <a:ea typeface="Arial"/>
                <a:cs typeface="Arial"/>
                <a:sym typeface="Arial"/>
              </a:rPr>
              <a:t>Advantages</a:t>
            </a:r>
            <a:endParaRPr sz="1700" b="0" i="0" u="none" strike="noStrike" cap="none">
              <a:solidFill>
                <a:schemeClr val="dk1"/>
              </a:solidFill>
              <a:latin typeface="Arial"/>
              <a:ea typeface="Arial"/>
              <a:cs typeface="Arial"/>
              <a:sym typeface="Arial"/>
            </a:endParaRPr>
          </a:p>
        </p:txBody>
      </p:sp>
      <p:sp>
        <p:nvSpPr>
          <p:cNvPr id="130" name="Google Shape;130;p6"/>
          <p:cNvSpPr txBox="1"/>
          <p:nvPr/>
        </p:nvSpPr>
        <p:spPr>
          <a:xfrm>
            <a:off x="2951882" y="3155315"/>
            <a:ext cx="1261564" cy="215444"/>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de-DE" sz="1400" b="1" i="0" u="none" strike="noStrike" cap="none" dirty="0">
                <a:solidFill>
                  <a:srgbClr val="FF0000"/>
                </a:solidFill>
                <a:latin typeface="Arial"/>
                <a:ea typeface="Arial"/>
                <a:cs typeface="Arial"/>
                <a:sym typeface="Arial"/>
              </a:rPr>
              <a:t>Disadvantages</a:t>
            </a:r>
            <a:endParaRPr sz="1700" b="0" i="0" u="none" strike="noStrike" cap="none" dirty="0">
              <a:solidFill>
                <a:schemeClr val="dk1"/>
              </a:solidFill>
              <a:latin typeface="Arial"/>
              <a:ea typeface="Arial"/>
              <a:cs typeface="Arial"/>
              <a:sym typeface="Arial"/>
            </a:endParaRPr>
          </a:p>
        </p:txBody>
      </p:sp>
      <p:sp>
        <p:nvSpPr>
          <p:cNvPr id="131" name="Google Shape;131;p6"/>
          <p:cNvSpPr/>
          <p:nvPr/>
        </p:nvSpPr>
        <p:spPr>
          <a:xfrm>
            <a:off x="155350" y="1450724"/>
            <a:ext cx="5028028" cy="907900"/>
          </a:xfrm>
          <a:prstGeom prst="rect">
            <a:avLst/>
          </a:prstGeom>
          <a:noFill/>
          <a:ln>
            <a:noFill/>
          </a:ln>
        </p:spPr>
        <p:txBody>
          <a:bodyPr spcFirstLastPara="1" wrap="square" lIns="91425" tIns="45700" rIns="91425" bIns="45700" anchor="ctr" anchorCtr="0">
            <a:spAutoFit/>
          </a:bodyPr>
          <a:lstStyle/>
          <a:p>
            <a:pPr marL="171450" marR="0" lvl="0" indent="-171450" algn="l" rtl="0">
              <a:lnSpc>
                <a:spcPct val="100000"/>
              </a:lnSpc>
              <a:spcBef>
                <a:spcPts val="0"/>
              </a:spcBef>
              <a:spcAft>
                <a:spcPts val="0"/>
              </a:spcAft>
              <a:buClr>
                <a:srgbClr val="002193"/>
              </a:buClr>
              <a:buSzPts val="1200"/>
              <a:buFont typeface="Noto Sans Symbols"/>
              <a:buChar char="⮚"/>
            </a:pPr>
            <a:r>
              <a:rPr lang="de-DE" sz="1200" b="1" dirty="0">
                <a:solidFill>
                  <a:srgbClr val="002193"/>
                </a:solidFill>
              </a:rPr>
              <a:t>Network layers </a:t>
            </a:r>
            <a:r>
              <a:rPr lang="de-DE" sz="1200" dirty="0">
                <a:solidFill>
                  <a:schemeClr val="dk1"/>
                </a:solidFill>
              </a:rPr>
              <a:t>represent physical layers.</a:t>
            </a:r>
          </a:p>
          <a:p>
            <a:pPr marL="171450" marR="0" lvl="0" indent="-171450" algn="l" rtl="0">
              <a:lnSpc>
                <a:spcPct val="100000"/>
              </a:lnSpc>
              <a:spcBef>
                <a:spcPts val="0"/>
              </a:spcBef>
              <a:spcAft>
                <a:spcPts val="0"/>
              </a:spcAft>
              <a:buClr>
                <a:srgbClr val="002193"/>
              </a:buClr>
              <a:buSzPts val="1200"/>
              <a:buFont typeface="Noto Sans Symbols"/>
              <a:buChar char="⮚"/>
            </a:pPr>
            <a:r>
              <a:rPr lang="de-DE" sz="1200" b="1" dirty="0">
                <a:solidFill>
                  <a:srgbClr val="002193"/>
                </a:solidFill>
              </a:rPr>
              <a:t>Node Temperatures </a:t>
            </a:r>
            <a:r>
              <a:rPr lang="de-DE" sz="1200" b="0" i="0" u="none" strike="noStrike" cap="none" dirty="0">
                <a:solidFill>
                  <a:schemeClr val="dk1"/>
                </a:solidFill>
                <a:latin typeface="Arial"/>
                <a:ea typeface="Arial"/>
                <a:cs typeface="Arial"/>
                <a:sym typeface="Arial"/>
              </a:rPr>
              <a:t>represent average physical temperatures</a:t>
            </a:r>
            <a:endParaRPr sz="1700" b="0" i="0" u="none" strike="noStrike" cap="none" dirty="0">
              <a:solidFill>
                <a:schemeClr val="dk1"/>
              </a:solidFill>
              <a:latin typeface="Arial"/>
              <a:ea typeface="Arial"/>
              <a:cs typeface="Arial"/>
              <a:sym typeface="Arial"/>
            </a:endParaRPr>
          </a:p>
          <a:p>
            <a:pPr marL="171450" marR="0" lvl="0" indent="-171450" algn="l" rtl="0">
              <a:lnSpc>
                <a:spcPct val="100000"/>
              </a:lnSpc>
              <a:spcBef>
                <a:spcPts val="600"/>
              </a:spcBef>
              <a:spcAft>
                <a:spcPts val="0"/>
              </a:spcAft>
              <a:buClr>
                <a:srgbClr val="002193"/>
              </a:buClr>
              <a:buSzPts val="1200"/>
              <a:buFont typeface="Noto Sans Symbols"/>
              <a:buChar char="⮚"/>
            </a:pPr>
            <a:r>
              <a:rPr lang="de-DE" sz="1200" b="1" dirty="0">
                <a:solidFill>
                  <a:srgbClr val="002193"/>
                </a:solidFill>
              </a:rPr>
              <a:t>Variation in thermal parameters</a:t>
            </a:r>
            <a:r>
              <a:rPr lang="de-DE" sz="1200" b="1" i="0" u="none" strike="noStrike" cap="none" dirty="0">
                <a:solidFill>
                  <a:srgbClr val="002193"/>
                </a:solidFill>
                <a:latin typeface="Arial"/>
                <a:ea typeface="Arial"/>
                <a:cs typeface="Arial"/>
                <a:sym typeface="Arial"/>
              </a:rPr>
              <a:t> </a:t>
            </a:r>
            <a:r>
              <a:rPr lang="de-DE" sz="1200" b="0" i="0" u="none" strike="noStrike" cap="none" dirty="0">
                <a:solidFill>
                  <a:schemeClr val="dk1"/>
                </a:solidFill>
                <a:latin typeface="Arial"/>
                <a:ea typeface="Arial"/>
                <a:cs typeface="Arial"/>
                <a:sym typeface="Arial"/>
              </a:rPr>
              <a:t>co</a:t>
            </a:r>
            <a:r>
              <a:rPr lang="de-DE" sz="1200" dirty="0">
                <a:solidFill>
                  <a:schemeClr val="dk1"/>
                </a:solidFill>
              </a:rPr>
              <a:t>rrelated with physical degradation.</a:t>
            </a:r>
            <a:endParaRPr sz="1700" b="0" i="0" u="none" strike="noStrike" cap="none" dirty="0">
              <a:solidFill>
                <a:schemeClr val="dk1"/>
              </a:solidFill>
              <a:latin typeface="Arial"/>
              <a:ea typeface="Arial"/>
              <a:cs typeface="Arial"/>
              <a:sym typeface="Arial"/>
            </a:endParaRPr>
          </a:p>
        </p:txBody>
      </p:sp>
      <p:sp>
        <p:nvSpPr>
          <p:cNvPr id="132" name="Google Shape;132;p6"/>
          <p:cNvSpPr txBox="1"/>
          <p:nvPr/>
        </p:nvSpPr>
        <p:spPr>
          <a:xfrm>
            <a:off x="304701" y="1102212"/>
            <a:ext cx="2521874"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Noto Sans Symbols"/>
              <a:buNone/>
            </a:pPr>
            <a:r>
              <a:rPr lang="de-DE" b="1" dirty="0"/>
              <a:t>Monitoring Principle</a:t>
            </a:r>
            <a:endParaRPr sz="1400" b="1" i="0" u="none" strike="noStrike" cap="none" dirty="0">
              <a:solidFill>
                <a:srgbClr val="000000"/>
              </a:solidFill>
              <a:latin typeface="Arial"/>
              <a:ea typeface="Arial"/>
              <a:cs typeface="Arial"/>
              <a:sym typeface="Arial"/>
            </a:endParaRPr>
          </a:p>
        </p:txBody>
      </p:sp>
      <p:pic>
        <p:nvPicPr>
          <p:cNvPr id="133" name="Google Shape;133;p6"/>
          <p:cNvPicPr preferRelativeResize="0"/>
          <p:nvPr/>
        </p:nvPicPr>
        <p:blipFill>
          <a:blip r:embed="rId3">
            <a:alphaModFix/>
          </a:blip>
          <a:stretch>
            <a:fillRect/>
          </a:stretch>
        </p:blipFill>
        <p:spPr>
          <a:xfrm>
            <a:off x="5886739" y="1023556"/>
            <a:ext cx="1890900" cy="2633893"/>
          </a:xfrm>
          <a:prstGeom prst="rect">
            <a:avLst/>
          </a:prstGeom>
          <a:noFill/>
          <a:ln>
            <a:noFill/>
          </a:ln>
        </p:spPr>
      </p:pic>
      <p:sp>
        <p:nvSpPr>
          <p:cNvPr id="134" name="Google Shape;134;p6"/>
          <p:cNvSpPr/>
          <p:nvPr/>
        </p:nvSpPr>
        <p:spPr>
          <a:xfrm>
            <a:off x="5755293" y="3612823"/>
            <a:ext cx="23999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de-DE" b="1" dirty="0">
                <a:solidFill>
                  <a:schemeClr val="dk1"/>
                </a:solidFill>
              </a:rPr>
              <a:t>Fig.3 </a:t>
            </a:r>
            <a:r>
              <a:rPr lang="de-DE" dirty="0">
                <a:solidFill>
                  <a:schemeClr val="dk1"/>
                </a:solidFill>
              </a:rPr>
              <a:t>Cauer Network [2] </a:t>
            </a:r>
            <a:endParaRPr sz="1700" b="0" i="0" u="none" strike="noStrike" cap="none" dirty="0">
              <a:solidFill>
                <a:schemeClr val="dk1"/>
              </a:solidFill>
              <a:latin typeface="Arial"/>
              <a:ea typeface="Arial"/>
              <a:cs typeface="Arial"/>
              <a:sym typeface="Arial"/>
            </a:endParaRPr>
          </a:p>
        </p:txBody>
      </p:sp>
      <p:grpSp>
        <p:nvGrpSpPr>
          <p:cNvPr id="2" name="Group 1">
            <a:extLst>
              <a:ext uri="{FF2B5EF4-FFF2-40B4-BE49-F238E27FC236}">
                <a16:creationId xmlns:a16="http://schemas.microsoft.com/office/drawing/2014/main" id="{02B6992B-C48D-766D-3E64-DCE5DD210F20}"/>
              </a:ext>
            </a:extLst>
          </p:cNvPr>
          <p:cNvGrpSpPr/>
          <p:nvPr/>
        </p:nvGrpSpPr>
        <p:grpSpPr>
          <a:xfrm>
            <a:off x="5230164" y="4544806"/>
            <a:ext cx="3453271" cy="215444"/>
            <a:chOff x="5209536" y="4494390"/>
            <a:chExt cx="3453271" cy="215444"/>
          </a:xfrm>
        </p:grpSpPr>
        <p:sp>
          <p:nvSpPr>
            <p:cNvPr id="3" name="Rechteck 3">
              <a:extLst>
                <a:ext uri="{FF2B5EF4-FFF2-40B4-BE49-F238E27FC236}">
                  <a16:creationId xmlns:a16="http://schemas.microsoft.com/office/drawing/2014/main" id="{8A4854E8-409D-71DF-451B-2B7E0AC8CC93}"/>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Introduction</a:t>
              </a:r>
              <a:endParaRPr lang="de-DE" sz="800" dirty="0"/>
            </a:p>
          </p:txBody>
        </p:sp>
        <p:sp>
          <p:nvSpPr>
            <p:cNvPr id="4" name="Rechteck 4">
              <a:extLst>
                <a:ext uri="{FF2B5EF4-FFF2-40B4-BE49-F238E27FC236}">
                  <a16:creationId xmlns:a16="http://schemas.microsoft.com/office/drawing/2014/main" id="{3F3EF0E1-B2EC-C713-CD34-D506B9A1780D}"/>
                </a:ext>
              </a:extLst>
            </p:cNvPr>
            <p:cNvSpPr/>
            <p:nvPr/>
          </p:nvSpPr>
          <p:spPr bwMode="auto">
            <a:xfrm>
              <a:off x="6070519"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solidFill>
                    <a:schemeClr val="bg1"/>
                  </a:solidFill>
                </a:rPr>
                <a:t>Review</a:t>
              </a:r>
            </a:p>
          </p:txBody>
        </p:sp>
        <p:sp>
          <p:nvSpPr>
            <p:cNvPr id="5" name="Rechteck 5">
              <a:extLst>
                <a:ext uri="{FF2B5EF4-FFF2-40B4-BE49-F238E27FC236}">
                  <a16:creationId xmlns:a16="http://schemas.microsoft.com/office/drawing/2014/main" id="{A6A04257-FF5E-5991-4E1F-1EE8913B712A}"/>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863599" rtl="0">
                <a:lnSpc>
                  <a:spcPct val="100000"/>
                </a:lnSpc>
                <a:spcBef>
                  <a:spcPts val="0"/>
                </a:spcBef>
                <a:spcAft>
                  <a:spcPts val="0"/>
                </a:spcAft>
                <a:buClrTx/>
                <a:buSzTx/>
                <a:buFontTx/>
                <a:buNone/>
                <a:defRPr/>
              </a:pPr>
              <a:r>
                <a:rPr lang="de-DE" sz="800" dirty="0">
                  <a:latin typeface="Arial"/>
                </a:rPr>
                <a:t>Methodology</a:t>
              </a:r>
              <a:endParaRPr lang="de-DE" sz="800" b="0" i="0" u="none" strike="noStrike" cap="none" dirty="0">
                <a:ln>
                  <a:noFill/>
                </a:ln>
                <a:solidFill>
                  <a:schemeClr val="tx1"/>
                </a:solidFill>
                <a:latin typeface="Arial"/>
              </a:endParaRPr>
            </a:p>
          </p:txBody>
        </p:sp>
        <p:sp>
          <p:nvSpPr>
            <p:cNvPr id="6" name="Rechteck 6">
              <a:extLst>
                <a:ext uri="{FF2B5EF4-FFF2-40B4-BE49-F238E27FC236}">
                  <a16:creationId xmlns:a16="http://schemas.microsoft.com/office/drawing/2014/main" id="{17A14F29-5BEB-AE69-E77D-0D098A58D1EA}"/>
                </a:ext>
              </a:extLst>
            </p:cNvPr>
            <p:cNvSpPr/>
            <p:nvPr/>
          </p:nvSpPr>
          <p:spPr bwMode="auto">
            <a:xfrm>
              <a:off x="7798711"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863599" rtl="0">
                <a:lnSpc>
                  <a:spcPct val="100000"/>
                </a:lnSpc>
                <a:spcBef>
                  <a:spcPts val="0"/>
                </a:spcBef>
                <a:spcAft>
                  <a:spcPts val="0"/>
                </a:spcAft>
                <a:buClrTx/>
                <a:buSzTx/>
                <a:buFontTx/>
                <a:buNone/>
                <a:defRPr/>
              </a:pPr>
              <a:r>
                <a:rPr lang="de-DE" sz="800" dirty="0">
                  <a:latin typeface="Arial"/>
                </a:rPr>
                <a:t>Results</a:t>
              </a:r>
              <a:endParaRPr lang="de-DE" sz="800" b="0" i="0" u="none" strike="noStrike" cap="none" dirty="0">
                <a:ln>
                  <a:noFill/>
                </a:ln>
                <a:solidFill>
                  <a:schemeClr val="tx1"/>
                </a:solidFill>
                <a:latin typeface="Arial"/>
              </a:endParaRPr>
            </a:p>
          </p:txBody>
        </p:sp>
      </p:grpSp>
      <p:sp>
        <p:nvSpPr>
          <p:cNvPr id="8" name="TextBox 7">
            <a:extLst>
              <a:ext uri="{FF2B5EF4-FFF2-40B4-BE49-F238E27FC236}">
                <a16:creationId xmlns:a16="http://schemas.microsoft.com/office/drawing/2014/main" id="{2F751197-DDEA-F8B4-DF7A-DF4C638196E6}"/>
              </a:ext>
            </a:extLst>
          </p:cNvPr>
          <p:cNvSpPr txBox="1"/>
          <p:nvPr/>
        </p:nvSpPr>
        <p:spPr>
          <a:xfrm>
            <a:off x="6246212" y="4816607"/>
            <a:ext cx="2282158" cy="307777"/>
          </a:xfrm>
          <a:prstGeom prst="rect">
            <a:avLst/>
          </a:prstGeom>
          <a:noFill/>
        </p:spPr>
        <p:txBody>
          <a:bodyPr wrap="square" rtlCol="0">
            <a:spAutoFit/>
          </a:bodyPr>
          <a:lstStyle/>
          <a:p>
            <a:r>
              <a:rPr lang="en-US" sz="700" dirty="0"/>
              <a:t>Kuprat et al. Dynamic mode decomposition with control [2]</a:t>
            </a:r>
            <a:endParaRPr lang="en-US" sz="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cbd0e6f7a2_2_8"/>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Experimental Validation</a:t>
            </a:r>
            <a:endParaRPr/>
          </a:p>
        </p:txBody>
      </p:sp>
      <p:sp>
        <p:nvSpPr>
          <p:cNvPr id="153" name="Google Shape;153;g3cbd0e6f7a2_2_8"/>
          <p:cNvSpPr txBox="1"/>
          <p:nvPr/>
        </p:nvSpPr>
        <p:spPr>
          <a:xfrm>
            <a:off x="0" y="819038"/>
            <a:ext cx="9213000" cy="1153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de-DE" sz="1300" b="1" dirty="0">
                <a:solidFill>
                  <a:schemeClr val="dk1"/>
                </a:solidFill>
              </a:rPr>
              <a:t>Experimental Validation Strategy: </a:t>
            </a:r>
            <a:r>
              <a:rPr lang="de-DE" sz="1300" dirty="0">
                <a:solidFill>
                  <a:schemeClr val="dk1"/>
                </a:solidFill>
              </a:rPr>
              <a:t>EKF, PSO and a data driven apporach will be analyze for feasability </a:t>
            </a:r>
            <a:endParaRPr sz="1300" dirty="0">
              <a:solidFill>
                <a:schemeClr val="dk1"/>
              </a:solidFill>
            </a:endParaRPr>
          </a:p>
          <a:p>
            <a:pPr marL="457200" lvl="0" indent="-298450" algn="l" rtl="0">
              <a:lnSpc>
                <a:spcPct val="115000"/>
              </a:lnSpc>
              <a:spcBef>
                <a:spcPts val="400"/>
              </a:spcBef>
              <a:spcAft>
                <a:spcPts val="0"/>
              </a:spcAft>
              <a:buClr>
                <a:schemeClr val="dk1"/>
              </a:buClr>
              <a:buSzPts val="1100"/>
              <a:buChar char="●"/>
            </a:pPr>
            <a:r>
              <a:rPr lang="de-DE" sz="1100" b="1" dirty="0">
                <a:solidFill>
                  <a:schemeClr val="dk1"/>
                </a:solidFill>
              </a:rPr>
              <a:t>(PSO &amp; EKF):</a:t>
            </a:r>
            <a:r>
              <a:rPr lang="de-DE" sz="1100" dirty="0">
                <a:solidFill>
                  <a:schemeClr val="dk1"/>
                </a:solidFill>
              </a:rPr>
              <a:t> Validated on </a:t>
            </a:r>
            <a:r>
              <a:rPr lang="de-DE" sz="1100" b="1" dirty="0">
                <a:solidFill>
                  <a:schemeClr val="dk1"/>
                </a:solidFill>
              </a:rPr>
              <a:t>single-chip</a:t>
            </a:r>
            <a:r>
              <a:rPr lang="de-DE" sz="1100" dirty="0">
                <a:solidFill>
                  <a:schemeClr val="dk1"/>
                </a:solidFill>
              </a:rPr>
              <a:t> self-heating data to identify localized Cauer parameters.</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de-DE" sz="1100" b="1" dirty="0">
                <a:solidFill>
                  <a:schemeClr val="dk1"/>
                </a:solidFill>
              </a:rPr>
              <a:t>Data-Driven (H-DMD):</a:t>
            </a:r>
            <a:r>
              <a:rPr lang="de-DE" sz="1100" dirty="0">
                <a:solidFill>
                  <a:schemeClr val="dk1"/>
                </a:solidFill>
              </a:rPr>
              <a:t> Validated on a </a:t>
            </a:r>
            <a:r>
              <a:rPr lang="de-DE" sz="1100" b="1" dirty="0">
                <a:solidFill>
                  <a:schemeClr val="dk1"/>
                </a:solidFill>
              </a:rPr>
              <a:t>dual-chip</a:t>
            </a:r>
            <a:r>
              <a:rPr lang="de-DE" sz="1100" dirty="0">
                <a:solidFill>
                  <a:schemeClr val="dk1"/>
                </a:solidFill>
              </a:rPr>
              <a:t> setup with cycling power to capture complex thermal cross-coupling.</a:t>
            </a:r>
            <a:endParaRPr sz="1100" dirty="0">
              <a:solidFill>
                <a:schemeClr val="dk1"/>
              </a:solidFill>
            </a:endParaRPr>
          </a:p>
          <a:p>
            <a:pPr marL="457200" lvl="0" indent="0" algn="l" rtl="0">
              <a:lnSpc>
                <a:spcPct val="115000"/>
              </a:lnSpc>
              <a:spcBef>
                <a:spcPts val="1200"/>
              </a:spcBef>
              <a:spcAft>
                <a:spcPts val="0"/>
              </a:spcAft>
              <a:buNone/>
            </a:pPr>
            <a:r>
              <a:rPr lang="de-DE" sz="1100" dirty="0">
                <a:solidFill>
                  <a:schemeClr val="dk1"/>
                </a:solidFill>
              </a:rPr>
              <a:t>.</a:t>
            </a:r>
            <a:endParaRPr sz="1100" dirty="0">
              <a:solidFill>
                <a:schemeClr val="dk1"/>
              </a:solidFill>
            </a:endParaRPr>
          </a:p>
          <a:p>
            <a:pPr marL="0" lvl="0" indent="0" algn="l" rtl="0">
              <a:lnSpc>
                <a:spcPct val="115000"/>
              </a:lnSpc>
              <a:spcBef>
                <a:spcPts val="1200"/>
              </a:spcBef>
              <a:spcAft>
                <a:spcPts val="1200"/>
              </a:spcAft>
              <a:buNone/>
            </a:pPr>
            <a:endParaRPr sz="1100" dirty="0">
              <a:solidFill>
                <a:schemeClr val="dk1"/>
              </a:solidFill>
            </a:endParaRPr>
          </a:p>
        </p:txBody>
      </p:sp>
      <p:grpSp>
        <p:nvGrpSpPr>
          <p:cNvPr id="9" name="Group 8">
            <a:extLst>
              <a:ext uri="{FF2B5EF4-FFF2-40B4-BE49-F238E27FC236}">
                <a16:creationId xmlns:a16="http://schemas.microsoft.com/office/drawing/2014/main" id="{EA2C92D2-FA81-74D6-2C19-BA8BF14EDCD3}"/>
              </a:ext>
            </a:extLst>
          </p:cNvPr>
          <p:cNvGrpSpPr/>
          <p:nvPr/>
        </p:nvGrpSpPr>
        <p:grpSpPr>
          <a:xfrm>
            <a:off x="456744" y="1606365"/>
            <a:ext cx="2857857" cy="2953907"/>
            <a:chOff x="504093" y="1751090"/>
            <a:chExt cx="2857857" cy="2953907"/>
          </a:xfrm>
        </p:grpSpPr>
        <p:sp>
          <p:nvSpPr>
            <p:cNvPr id="150" name="Google Shape;150;g3cbd0e6f7a2_2_8"/>
            <p:cNvSpPr txBox="1"/>
            <p:nvPr/>
          </p:nvSpPr>
          <p:spPr>
            <a:xfrm>
              <a:off x="504093" y="4339597"/>
              <a:ext cx="2857857" cy="365400"/>
            </a:xfrm>
            <a:prstGeom prst="rect">
              <a:avLst/>
            </a:prstGeom>
            <a:noFill/>
            <a:ln>
              <a:noFill/>
            </a:ln>
          </p:spPr>
          <p:txBody>
            <a:bodyPr spcFirstLastPara="1" wrap="square" lIns="91425" tIns="91425" rIns="91425" bIns="91425" anchor="t" anchorCtr="0">
              <a:noAutofit/>
            </a:bodyPr>
            <a:lstStyle/>
            <a:p>
              <a:pPr lvl="0"/>
              <a:r>
                <a:rPr lang="de-DE" b="1" dirty="0"/>
                <a:t>Fig. 6 </a:t>
              </a:r>
              <a:r>
                <a:rPr lang="de-DE" dirty="0"/>
                <a:t>Experiment A self heat </a:t>
              </a:r>
              <a:r>
                <a:rPr lang="en-US" sz="700" dirty="0"/>
                <a:t>[†]</a:t>
              </a:r>
              <a:endParaRPr dirty="0"/>
            </a:p>
          </p:txBody>
        </p:sp>
        <p:pic>
          <p:nvPicPr>
            <p:cNvPr id="3" name="Graphic 2">
              <a:extLst>
                <a:ext uri="{FF2B5EF4-FFF2-40B4-BE49-F238E27FC236}">
                  <a16:creationId xmlns:a16="http://schemas.microsoft.com/office/drawing/2014/main" id="{A33CA960-13F1-A343-D565-6BEBBED1D5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6540" y="1751090"/>
              <a:ext cx="1841213" cy="2654510"/>
            </a:xfrm>
            <a:prstGeom prst="rect">
              <a:avLst/>
            </a:prstGeom>
          </p:spPr>
        </p:pic>
      </p:grpSp>
      <p:grpSp>
        <p:nvGrpSpPr>
          <p:cNvPr id="10" name="Group 9">
            <a:extLst>
              <a:ext uri="{FF2B5EF4-FFF2-40B4-BE49-F238E27FC236}">
                <a16:creationId xmlns:a16="http://schemas.microsoft.com/office/drawing/2014/main" id="{E9E0880E-FA0B-6638-4983-9CB713EEDFF7}"/>
              </a:ext>
            </a:extLst>
          </p:cNvPr>
          <p:cNvGrpSpPr/>
          <p:nvPr/>
        </p:nvGrpSpPr>
        <p:grpSpPr>
          <a:xfrm>
            <a:off x="3607452" y="1585058"/>
            <a:ext cx="2717186" cy="2981934"/>
            <a:chOff x="3703677" y="1723063"/>
            <a:chExt cx="2717186" cy="2981934"/>
          </a:xfrm>
        </p:grpSpPr>
        <p:sp>
          <p:nvSpPr>
            <p:cNvPr id="152" name="Google Shape;152;g3cbd0e6f7a2_2_8"/>
            <p:cNvSpPr txBox="1"/>
            <p:nvPr/>
          </p:nvSpPr>
          <p:spPr>
            <a:xfrm>
              <a:off x="3703677" y="4339597"/>
              <a:ext cx="2717186" cy="365400"/>
            </a:xfrm>
            <a:prstGeom prst="rect">
              <a:avLst/>
            </a:prstGeom>
            <a:noFill/>
            <a:ln>
              <a:noFill/>
            </a:ln>
          </p:spPr>
          <p:txBody>
            <a:bodyPr spcFirstLastPara="1" wrap="square" lIns="91425" tIns="91425" rIns="91425" bIns="91425" anchor="t" anchorCtr="0">
              <a:noAutofit/>
            </a:bodyPr>
            <a:lstStyle/>
            <a:p>
              <a:pPr lvl="0"/>
              <a:r>
                <a:rPr lang="de-DE" b="1" dirty="0"/>
                <a:t>Fig. 7 </a:t>
              </a:r>
              <a:r>
                <a:rPr lang="de-DE" dirty="0"/>
                <a:t>Experiment B self heat </a:t>
              </a:r>
              <a:r>
                <a:rPr lang="en-US" sz="800" dirty="0"/>
                <a:t>[†]</a:t>
              </a:r>
              <a:endParaRPr lang="de-DE" dirty="0"/>
            </a:p>
          </p:txBody>
        </p:sp>
        <p:pic>
          <p:nvPicPr>
            <p:cNvPr id="5" name="Graphic 4">
              <a:extLst>
                <a:ext uri="{FF2B5EF4-FFF2-40B4-BE49-F238E27FC236}">
                  <a16:creationId xmlns:a16="http://schemas.microsoft.com/office/drawing/2014/main" id="{755BAD01-94A7-C836-1A65-0136B594982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66043" y="1723063"/>
              <a:ext cx="1841213" cy="2654509"/>
            </a:xfrm>
            <a:prstGeom prst="rect">
              <a:avLst/>
            </a:prstGeom>
          </p:spPr>
        </p:pic>
      </p:grpSp>
      <p:grpSp>
        <p:nvGrpSpPr>
          <p:cNvPr id="11" name="Group 10">
            <a:extLst>
              <a:ext uri="{FF2B5EF4-FFF2-40B4-BE49-F238E27FC236}">
                <a16:creationId xmlns:a16="http://schemas.microsoft.com/office/drawing/2014/main" id="{F891EE35-A869-1929-A8A2-45B3299E46DE}"/>
              </a:ext>
            </a:extLst>
          </p:cNvPr>
          <p:cNvGrpSpPr/>
          <p:nvPr/>
        </p:nvGrpSpPr>
        <p:grpSpPr>
          <a:xfrm>
            <a:off x="6228276" y="1585059"/>
            <a:ext cx="2620824" cy="2959748"/>
            <a:chOff x="6228276" y="1671433"/>
            <a:chExt cx="2620824" cy="3071539"/>
          </a:xfrm>
        </p:grpSpPr>
        <p:pic>
          <p:nvPicPr>
            <p:cNvPr id="7" name="Graphic 6">
              <a:extLst>
                <a:ext uri="{FF2B5EF4-FFF2-40B4-BE49-F238E27FC236}">
                  <a16:creationId xmlns:a16="http://schemas.microsoft.com/office/drawing/2014/main" id="{50A07E33-D523-025D-C58F-63ABC0DEA3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50763" y="1671433"/>
              <a:ext cx="1948498" cy="2809185"/>
            </a:xfrm>
            <a:prstGeom prst="rect">
              <a:avLst/>
            </a:prstGeom>
          </p:spPr>
        </p:pic>
        <p:sp>
          <p:nvSpPr>
            <p:cNvPr id="8" name="Google Shape;152;g3cbd0e6f7a2_2_8">
              <a:extLst>
                <a:ext uri="{FF2B5EF4-FFF2-40B4-BE49-F238E27FC236}">
                  <a16:creationId xmlns:a16="http://schemas.microsoft.com/office/drawing/2014/main" id="{92B697B9-9B8D-8D24-2CD3-E9E5EF4B0042}"/>
                </a:ext>
              </a:extLst>
            </p:cNvPr>
            <p:cNvSpPr txBox="1"/>
            <p:nvPr/>
          </p:nvSpPr>
          <p:spPr>
            <a:xfrm>
              <a:off x="6228276" y="4377572"/>
              <a:ext cx="2620824" cy="365400"/>
            </a:xfrm>
            <a:prstGeom prst="rect">
              <a:avLst/>
            </a:prstGeom>
            <a:noFill/>
            <a:ln>
              <a:noFill/>
            </a:ln>
          </p:spPr>
          <p:txBody>
            <a:bodyPr spcFirstLastPara="1" wrap="square" lIns="91425" tIns="91425" rIns="91425" bIns="91425" anchor="t" anchorCtr="0">
              <a:noAutofit/>
            </a:bodyPr>
            <a:lstStyle/>
            <a:p>
              <a:pPr lvl="0"/>
              <a:r>
                <a:rPr lang="de-DE" b="1" dirty="0"/>
                <a:t>Fig. 8 </a:t>
              </a:r>
              <a:r>
                <a:rPr lang="de-DE" dirty="0"/>
                <a:t>Experiment C cycling </a:t>
              </a:r>
              <a:r>
                <a:rPr lang="en-US" sz="800" dirty="0"/>
                <a:t>[†]</a:t>
              </a:r>
              <a:endParaRPr lang="de-DE" dirty="0"/>
            </a:p>
          </p:txBody>
        </p:sp>
      </p:grpSp>
      <p:grpSp>
        <p:nvGrpSpPr>
          <p:cNvPr id="12" name="Group 11">
            <a:extLst>
              <a:ext uri="{FF2B5EF4-FFF2-40B4-BE49-F238E27FC236}">
                <a16:creationId xmlns:a16="http://schemas.microsoft.com/office/drawing/2014/main" id="{7AF51E8B-6141-9133-F2AC-7439C07C943E}"/>
              </a:ext>
            </a:extLst>
          </p:cNvPr>
          <p:cNvGrpSpPr/>
          <p:nvPr/>
        </p:nvGrpSpPr>
        <p:grpSpPr>
          <a:xfrm>
            <a:off x="5230164" y="4544806"/>
            <a:ext cx="3453271" cy="215444"/>
            <a:chOff x="5209536" y="4494390"/>
            <a:chExt cx="3453271" cy="215444"/>
          </a:xfrm>
        </p:grpSpPr>
        <p:sp>
          <p:nvSpPr>
            <p:cNvPr id="13" name="Rechteck 3">
              <a:extLst>
                <a:ext uri="{FF2B5EF4-FFF2-40B4-BE49-F238E27FC236}">
                  <a16:creationId xmlns:a16="http://schemas.microsoft.com/office/drawing/2014/main" id="{E137AD09-F69C-A714-E6B4-AD842E2BD99D}"/>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t>Introduction</a:t>
              </a:r>
            </a:p>
          </p:txBody>
        </p:sp>
        <p:sp>
          <p:nvSpPr>
            <p:cNvPr id="14" name="Rechteck 4">
              <a:extLst>
                <a:ext uri="{FF2B5EF4-FFF2-40B4-BE49-F238E27FC236}">
                  <a16:creationId xmlns:a16="http://schemas.microsoft.com/office/drawing/2014/main" id="{20EE7B8B-2411-A8E7-93CC-E83571EA4592}"/>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15" name="Rechteck 5">
              <a:extLst>
                <a:ext uri="{FF2B5EF4-FFF2-40B4-BE49-F238E27FC236}">
                  <a16:creationId xmlns:a16="http://schemas.microsoft.com/office/drawing/2014/main" id="{3EC69141-92AA-D64D-0542-7821B4A89EE7}"/>
                </a:ext>
              </a:extLst>
            </p:cNvPr>
            <p:cNvSpPr/>
            <p:nvPr/>
          </p:nvSpPr>
          <p:spPr bwMode="auto">
            <a:xfrm>
              <a:off x="6934615"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solidFill>
                    <a:schemeClr val="bg1"/>
                  </a:solidFill>
                </a:rPr>
                <a:t>Methodology</a:t>
              </a:r>
            </a:p>
          </p:txBody>
        </p:sp>
        <p:sp>
          <p:nvSpPr>
            <p:cNvPr id="16" name="Rechteck 6">
              <a:extLst>
                <a:ext uri="{FF2B5EF4-FFF2-40B4-BE49-F238E27FC236}">
                  <a16:creationId xmlns:a16="http://schemas.microsoft.com/office/drawing/2014/main" id="{20D383C3-7B1F-79AF-5389-A5EEDED032F3}"/>
                </a:ext>
              </a:extLst>
            </p:cNvPr>
            <p:cNvSpPr/>
            <p:nvPr/>
          </p:nvSpPr>
          <p:spPr bwMode="auto">
            <a:xfrm>
              <a:off x="7798711"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863599" rtl="0">
                <a:lnSpc>
                  <a:spcPct val="100000"/>
                </a:lnSpc>
                <a:spcBef>
                  <a:spcPts val="0"/>
                </a:spcBef>
                <a:spcAft>
                  <a:spcPts val="0"/>
                </a:spcAft>
                <a:buClrTx/>
                <a:buSzTx/>
                <a:buFontTx/>
                <a:buNone/>
                <a:defRPr/>
              </a:pPr>
              <a:r>
                <a:rPr lang="de-DE" sz="800" dirty="0">
                  <a:latin typeface="Arial"/>
                </a:rPr>
                <a:t>Results</a:t>
              </a:r>
              <a:endParaRPr lang="de-DE" sz="800" b="0" i="0" u="none" strike="noStrike" cap="none" dirty="0">
                <a:ln>
                  <a:noFill/>
                </a:ln>
                <a:solidFill>
                  <a:schemeClr val="tx1"/>
                </a:solidFill>
                <a:latin typeface="Arial"/>
              </a:endParaRPr>
            </a:p>
          </p:txBody>
        </p:sp>
      </p:grpSp>
      <p:cxnSp>
        <p:nvCxnSpPr>
          <p:cNvPr id="2" name="Straight Arrow Connector 1">
            <a:extLst>
              <a:ext uri="{FF2B5EF4-FFF2-40B4-BE49-F238E27FC236}">
                <a16:creationId xmlns:a16="http://schemas.microsoft.com/office/drawing/2014/main" id="{2D45B6B6-E11E-9ABD-F61A-A6F5B631D5D3}"/>
              </a:ext>
            </a:extLst>
          </p:cNvPr>
          <p:cNvCxnSpPr>
            <a:cxnSpLocks/>
          </p:cNvCxnSpPr>
          <p:nvPr/>
        </p:nvCxnSpPr>
        <p:spPr>
          <a:xfrm flipH="1">
            <a:off x="2188941" y="2076930"/>
            <a:ext cx="26897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 name="Straight Arrow Connector 3">
            <a:extLst>
              <a:ext uri="{FF2B5EF4-FFF2-40B4-BE49-F238E27FC236}">
                <a16:creationId xmlns:a16="http://schemas.microsoft.com/office/drawing/2014/main" id="{94BEF645-5E84-8966-7B7C-D11C43217324}"/>
              </a:ext>
            </a:extLst>
          </p:cNvPr>
          <p:cNvCxnSpPr>
            <a:cxnSpLocks/>
          </p:cNvCxnSpPr>
          <p:nvPr/>
        </p:nvCxnSpPr>
        <p:spPr>
          <a:xfrm flipH="1">
            <a:off x="2188941" y="3022433"/>
            <a:ext cx="26897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 name="Straight Arrow Connector 5">
            <a:extLst>
              <a:ext uri="{FF2B5EF4-FFF2-40B4-BE49-F238E27FC236}">
                <a16:creationId xmlns:a16="http://schemas.microsoft.com/office/drawing/2014/main" id="{4535A361-ECDC-394C-F51B-A27901BBB2ED}"/>
              </a:ext>
            </a:extLst>
          </p:cNvPr>
          <p:cNvCxnSpPr>
            <a:cxnSpLocks/>
          </p:cNvCxnSpPr>
          <p:nvPr/>
        </p:nvCxnSpPr>
        <p:spPr>
          <a:xfrm flipH="1">
            <a:off x="4897929" y="1972238"/>
            <a:ext cx="26897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8DF627D9-CF0F-8EC5-881E-7905206DEFC1}"/>
              </a:ext>
            </a:extLst>
          </p:cNvPr>
          <p:cNvCxnSpPr>
            <a:cxnSpLocks/>
          </p:cNvCxnSpPr>
          <p:nvPr/>
        </p:nvCxnSpPr>
        <p:spPr>
          <a:xfrm flipH="1">
            <a:off x="4897929" y="3003085"/>
            <a:ext cx="26897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8" name="TextBox 17">
            <a:extLst>
              <a:ext uri="{FF2B5EF4-FFF2-40B4-BE49-F238E27FC236}">
                <a16:creationId xmlns:a16="http://schemas.microsoft.com/office/drawing/2014/main" id="{7C1ABAAF-9FF6-99B5-4E18-94B9D56ADB71}"/>
              </a:ext>
            </a:extLst>
          </p:cNvPr>
          <p:cNvSpPr txBox="1"/>
          <p:nvPr/>
        </p:nvSpPr>
        <p:spPr>
          <a:xfrm>
            <a:off x="2342812" y="2076930"/>
            <a:ext cx="1134521" cy="215444"/>
          </a:xfrm>
          <a:prstGeom prst="rect">
            <a:avLst/>
          </a:prstGeom>
          <a:noFill/>
        </p:spPr>
        <p:txBody>
          <a:bodyPr wrap="square" rtlCol="0">
            <a:spAutoFit/>
          </a:bodyPr>
          <a:lstStyle/>
          <a:p>
            <a:r>
              <a:rPr lang="en-US" sz="800" dirty="0">
                <a:solidFill>
                  <a:schemeClr val="tx2">
                    <a:lumMod val="75000"/>
                  </a:schemeClr>
                </a:solidFill>
              </a:rPr>
              <a:t>P2</a:t>
            </a:r>
          </a:p>
        </p:txBody>
      </p:sp>
      <p:sp>
        <p:nvSpPr>
          <p:cNvPr id="19" name="TextBox 18">
            <a:extLst>
              <a:ext uri="{FF2B5EF4-FFF2-40B4-BE49-F238E27FC236}">
                <a16:creationId xmlns:a16="http://schemas.microsoft.com/office/drawing/2014/main" id="{6A3D7542-32DA-CC3C-529D-AB7C38E56AC9}"/>
              </a:ext>
            </a:extLst>
          </p:cNvPr>
          <p:cNvSpPr txBox="1"/>
          <p:nvPr/>
        </p:nvSpPr>
        <p:spPr>
          <a:xfrm>
            <a:off x="2324103" y="3022432"/>
            <a:ext cx="1134521" cy="215444"/>
          </a:xfrm>
          <a:prstGeom prst="rect">
            <a:avLst/>
          </a:prstGeom>
          <a:noFill/>
        </p:spPr>
        <p:txBody>
          <a:bodyPr wrap="square" rtlCol="0">
            <a:spAutoFit/>
          </a:bodyPr>
          <a:lstStyle/>
          <a:p>
            <a:r>
              <a:rPr lang="en-US" sz="800" dirty="0">
                <a:solidFill>
                  <a:schemeClr val="tx2">
                    <a:lumMod val="75000"/>
                  </a:schemeClr>
                </a:solidFill>
              </a:rPr>
              <a:t>T2</a:t>
            </a:r>
          </a:p>
        </p:txBody>
      </p:sp>
      <p:sp>
        <p:nvSpPr>
          <p:cNvPr id="20" name="TextBox 19">
            <a:extLst>
              <a:ext uri="{FF2B5EF4-FFF2-40B4-BE49-F238E27FC236}">
                <a16:creationId xmlns:a16="http://schemas.microsoft.com/office/drawing/2014/main" id="{BE6AF05C-6525-C9EA-5627-83969A4A301C}"/>
              </a:ext>
            </a:extLst>
          </p:cNvPr>
          <p:cNvSpPr txBox="1"/>
          <p:nvPr/>
        </p:nvSpPr>
        <p:spPr>
          <a:xfrm>
            <a:off x="5032418" y="1981124"/>
            <a:ext cx="1134521" cy="215444"/>
          </a:xfrm>
          <a:prstGeom prst="rect">
            <a:avLst/>
          </a:prstGeom>
          <a:noFill/>
        </p:spPr>
        <p:txBody>
          <a:bodyPr wrap="square" rtlCol="0">
            <a:spAutoFit/>
          </a:bodyPr>
          <a:lstStyle/>
          <a:p>
            <a:r>
              <a:rPr lang="en-US" sz="800" dirty="0">
                <a:solidFill>
                  <a:schemeClr val="tx2">
                    <a:lumMod val="75000"/>
                  </a:schemeClr>
                </a:solidFill>
              </a:rPr>
              <a:t>P1</a:t>
            </a:r>
          </a:p>
        </p:txBody>
      </p:sp>
      <p:sp>
        <p:nvSpPr>
          <p:cNvPr id="21" name="TextBox 20">
            <a:extLst>
              <a:ext uri="{FF2B5EF4-FFF2-40B4-BE49-F238E27FC236}">
                <a16:creationId xmlns:a16="http://schemas.microsoft.com/office/drawing/2014/main" id="{5B0896CC-9513-8E6C-4776-2DAA40E98075}"/>
              </a:ext>
            </a:extLst>
          </p:cNvPr>
          <p:cNvSpPr txBox="1"/>
          <p:nvPr/>
        </p:nvSpPr>
        <p:spPr>
          <a:xfrm>
            <a:off x="5094951" y="3056189"/>
            <a:ext cx="1134521" cy="215444"/>
          </a:xfrm>
          <a:prstGeom prst="rect">
            <a:avLst/>
          </a:prstGeom>
          <a:noFill/>
        </p:spPr>
        <p:txBody>
          <a:bodyPr wrap="square" rtlCol="0">
            <a:spAutoFit/>
          </a:bodyPr>
          <a:lstStyle/>
          <a:p>
            <a:r>
              <a:rPr lang="en-US" sz="800" dirty="0">
                <a:solidFill>
                  <a:schemeClr val="tx2">
                    <a:lumMod val="75000"/>
                  </a:schemeClr>
                </a:solidFill>
              </a:rPr>
              <a:t>T1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958929c9b2_1_18"/>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EKF</a:t>
            </a:r>
            <a:endParaRPr/>
          </a:p>
        </p:txBody>
      </p:sp>
      <p:sp>
        <p:nvSpPr>
          <p:cNvPr id="17" name="TextBox 16">
            <a:extLst>
              <a:ext uri="{FF2B5EF4-FFF2-40B4-BE49-F238E27FC236}">
                <a16:creationId xmlns:a16="http://schemas.microsoft.com/office/drawing/2014/main" id="{75923A7D-B444-C39B-6A3D-5817257A9A5D}"/>
              </a:ext>
            </a:extLst>
          </p:cNvPr>
          <p:cNvSpPr txBox="1"/>
          <p:nvPr/>
        </p:nvSpPr>
        <p:spPr>
          <a:xfrm>
            <a:off x="269795" y="3901216"/>
            <a:ext cx="3181794" cy="738664"/>
          </a:xfrm>
          <a:prstGeom prst="rect">
            <a:avLst/>
          </a:prstGeom>
          <a:noFill/>
        </p:spPr>
        <p:txBody>
          <a:bodyPr wrap="square" rtlCol="0">
            <a:spAutoFit/>
          </a:bodyPr>
          <a:lstStyle/>
          <a:p>
            <a:pPr marL="285750" indent="-285750">
              <a:buFont typeface="Arial" panose="020B0604020202020204" pitchFamily="34" charset="0"/>
              <a:buChar char="•"/>
            </a:pPr>
            <a:r>
              <a:rPr lang="en-US" dirty="0"/>
              <a:t>Good for one step prediction</a:t>
            </a:r>
          </a:p>
          <a:p>
            <a:pPr marL="285750" indent="-285750">
              <a:buFont typeface="Arial" panose="020B0604020202020204" pitchFamily="34" charset="0"/>
              <a:buChar char="•"/>
            </a:pPr>
            <a:r>
              <a:rPr lang="en-US" dirty="0"/>
              <a:t>Can not  separate the fast and slow dynamics </a:t>
            </a:r>
          </a:p>
        </p:txBody>
      </p:sp>
      <p:grpSp>
        <p:nvGrpSpPr>
          <p:cNvPr id="22" name="Group 21">
            <a:extLst>
              <a:ext uri="{FF2B5EF4-FFF2-40B4-BE49-F238E27FC236}">
                <a16:creationId xmlns:a16="http://schemas.microsoft.com/office/drawing/2014/main" id="{0D449520-121A-20FF-9AC6-7A05F91D9D11}"/>
              </a:ext>
            </a:extLst>
          </p:cNvPr>
          <p:cNvGrpSpPr/>
          <p:nvPr/>
        </p:nvGrpSpPr>
        <p:grpSpPr>
          <a:xfrm>
            <a:off x="69837" y="1460324"/>
            <a:ext cx="3416658" cy="2382898"/>
            <a:chOff x="69837" y="1460324"/>
            <a:chExt cx="3416658" cy="2382898"/>
          </a:xfrm>
        </p:grpSpPr>
        <p:grpSp>
          <p:nvGrpSpPr>
            <p:cNvPr id="8" name="Group 7">
              <a:extLst>
                <a:ext uri="{FF2B5EF4-FFF2-40B4-BE49-F238E27FC236}">
                  <a16:creationId xmlns:a16="http://schemas.microsoft.com/office/drawing/2014/main" id="{08685FA2-FEFC-AD21-F7A8-77DCDFF4EE0D}"/>
                </a:ext>
              </a:extLst>
            </p:cNvPr>
            <p:cNvGrpSpPr/>
            <p:nvPr/>
          </p:nvGrpSpPr>
          <p:grpSpPr>
            <a:xfrm>
              <a:off x="69837" y="1460324"/>
              <a:ext cx="3416658" cy="2216731"/>
              <a:chOff x="4105482" y="1030321"/>
              <a:chExt cx="4911355" cy="2912624"/>
            </a:xfrm>
          </p:grpSpPr>
          <p:pic>
            <p:nvPicPr>
              <p:cNvPr id="2054" name="Picture 6">
                <a:extLst>
                  <a:ext uri="{FF2B5EF4-FFF2-40B4-BE49-F238E27FC236}">
                    <a16:creationId xmlns:a16="http://schemas.microsoft.com/office/drawing/2014/main" id="{EFEE2C3D-0B0D-7051-7FC7-716131DA3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5482" y="1030321"/>
                <a:ext cx="4911355" cy="268078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35F3978-7E29-E96E-AF12-4DCADB46852F}"/>
                  </a:ext>
                </a:extLst>
              </p:cNvPr>
              <p:cNvSpPr/>
              <p:nvPr/>
            </p:nvSpPr>
            <p:spPr>
              <a:xfrm>
                <a:off x="4189379" y="2010383"/>
                <a:ext cx="1316476" cy="19325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F4C4B253-7220-CF54-6D2D-52596E42D624}"/>
                  </a:ext>
                </a:extLst>
              </p:cNvPr>
              <p:cNvSpPr/>
              <p:nvPr/>
            </p:nvSpPr>
            <p:spPr>
              <a:xfrm>
                <a:off x="4768298" y="2976664"/>
                <a:ext cx="1246524" cy="6582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Google Shape;150;g3cbd0e6f7a2_2_8">
              <a:extLst>
                <a:ext uri="{FF2B5EF4-FFF2-40B4-BE49-F238E27FC236}">
                  <a16:creationId xmlns:a16="http://schemas.microsoft.com/office/drawing/2014/main" id="{DAAFBDC7-C979-4761-BECF-A5B3161F05F1}"/>
                </a:ext>
              </a:extLst>
            </p:cNvPr>
            <p:cNvSpPr txBox="1"/>
            <p:nvPr/>
          </p:nvSpPr>
          <p:spPr>
            <a:xfrm>
              <a:off x="1237239" y="3477822"/>
              <a:ext cx="1784248"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b="1" dirty="0"/>
                <a:t>Fig. 9 </a:t>
              </a:r>
              <a:r>
                <a:rPr lang="de-DE" dirty="0"/>
                <a:t>EKF scheme</a:t>
              </a:r>
              <a:endParaRPr dirty="0"/>
            </a:p>
          </p:txBody>
        </p:sp>
      </p:grpSp>
      <p:grpSp>
        <p:nvGrpSpPr>
          <p:cNvPr id="23" name="Group 22">
            <a:extLst>
              <a:ext uri="{FF2B5EF4-FFF2-40B4-BE49-F238E27FC236}">
                <a16:creationId xmlns:a16="http://schemas.microsoft.com/office/drawing/2014/main" id="{26C8B62B-D7B6-D8F9-0E79-A99013325DEF}"/>
              </a:ext>
            </a:extLst>
          </p:cNvPr>
          <p:cNvGrpSpPr/>
          <p:nvPr/>
        </p:nvGrpSpPr>
        <p:grpSpPr>
          <a:xfrm>
            <a:off x="3486495" y="1294815"/>
            <a:ext cx="3351551" cy="2755905"/>
            <a:chOff x="3486495" y="1328011"/>
            <a:chExt cx="3351551" cy="2755905"/>
          </a:xfrm>
        </p:grpSpPr>
        <p:grpSp>
          <p:nvGrpSpPr>
            <p:cNvPr id="18" name="Group 17">
              <a:extLst>
                <a:ext uri="{FF2B5EF4-FFF2-40B4-BE49-F238E27FC236}">
                  <a16:creationId xmlns:a16="http://schemas.microsoft.com/office/drawing/2014/main" id="{2AB698B6-46E1-7F37-6B81-CAED3F45D900}"/>
                </a:ext>
              </a:extLst>
            </p:cNvPr>
            <p:cNvGrpSpPr/>
            <p:nvPr/>
          </p:nvGrpSpPr>
          <p:grpSpPr>
            <a:xfrm>
              <a:off x="3486495" y="1328011"/>
              <a:ext cx="3351551" cy="2477285"/>
              <a:chOff x="3486495" y="1328011"/>
              <a:chExt cx="3351551" cy="2477285"/>
            </a:xfrm>
          </p:grpSpPr>
          <p:pic>
            <p:nvPicPr>
              <p:cNvPr id="5" name="Graphic 4">
                <a:extLst>
                  <a:ext uri="{FF2B5EF4-FFF2-40B4-BE49-F238E27FC236}">
                    <a16:creationId xmlns:a16="http://schemas.microsoft.com/office/drawing/2014/main" id="{34353A02-185A-6FA2-70DF-00CD49C40DA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86495" y="1460324"/>
                <a:ext cx="3111981" cy="2344972"/>
              </a:xfrm>
              <a:prstGeom prst="rect">
                <a:avLst/>
              </a:prstGeom>
            </p:spPr>
          </p:pic>
          <p:cxnSp>
            <p:nvCxnSpPr>
              <p:cNvPr id="11" name="Straight Arrow Connector 10">
                <a:extLst>
                  <a:ext uri="{FF2B5EF4-FFF2-40B4-BE49-F238E27FC236}">
                    <a16:creationId xmlns:a16="http://schemas.microsoft.com/office/drawing/2014/main" id="{5487D050-34C3-DD01-2D6D-C90FFF908D56}"/>
                  </a:ext>
                </a:extLst>
              </p:cNvPr>
              <p:cNvCxnSpPr>
                <a:cxnSpLocks/>
              </p:cNvCxnSpPr>
              <p:nvPr/>
            </p:nvCxnSpPr>
            <p:spPr>
              <a:xfrm flipH="1">
                <a:off x="5574892" y="2159647"/>
                <a:ext cx="194553" cy="972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26337463-1E0D-CBC6-E04F-909F23688C08}"/>
                  </a:ext>
                </a:extLst>
              </p:cNvPr>
              <p:cNvCxnSpPr>
                <a:cxnSpLocks/>
              </p:cNvCxnSpPr>
              <p:nvPr/>
            </p:nvCxnSpPr>
            <p:spPr>
              <a:xfrm>
                <a:off x="3651115" y="1543455"/>
                <a:ext cx="163070" cy="1752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FA060A73-2FC1-2B5A-E787-7783DBBCE89C}"/>
                  </a:ext>
                </a:extLst>
              </p:cNvPr>
              <p:cNvSpPr txBox="1"/>
              <p:nvPr/>
            </p:nvSpPr>
            <p:spPr>
              <a:xfrm>
                <a:off x="5703525" y="1992841"/>
                <a:ext cx="1134521" cy="215444"/>
              </a:xfrm>
              <a:prstGeom prst="rect">
                <a:avLst/>
              </a:prstGeom>
              <a:noFill/>
            </p:spPr>
            <p:txBody>
              <a:bodyPr wrap="square" rtlCol="0">
                <a:spAutoFit/>
              </a:bodyPr>
              <a:lstStyle/>
              <a:p>
                <a:r>
                  <a:rPr lang="en-US" sz="800" dirty="0">
                    <a:solidFill>
                      <a:schemeClr val="tx2">
                        <a:lumMod val="75000"/>
                      </a:schemeClr>
                    </a:solidFill>
                  </a:rPr>
                  <a:t>adapted model</a:t>
                </a:r>
              </a:p>
            </p:txBody>
          </p:sp>
          <p:sp>
            <p:nvSpPr>
              <p:cNvPr id="16" name="TextBox 15">
                <a:extLst>
                  <a:ext uri="{FF2B5EF4-FFF2-40B4-BE49-F238E27FC236}">
                    <a16:creationId xmlns:a16="http://schemas.microsoft.com/office/drawing/2014/main" id="{717E5E2F-C6E0-1DD6-DE9A-C25E711BBE88}"/>
                  </a:ext>
                </a:extLst>
              </p:cNvPr>
              <p:cNvSpPr txBox="1"/>
              <p:nvPr/>
            </p:nvSpPr>
            <p:spPr>
              <a:xfrm>
                <a:off x="3486495" y="1328011"/>
                <a:ext cx="1134521" cy="215444"/>
              </a:xfrm>
              <a:prstGeom prst="rect">
                <a:avLst/>
              </a:prstGeom>
              <a:noFill/>
            </p:spPr>
            <p:txBody>
              <a:bodyPr wrap="square" rtlCol="0">
                <a:spAutoFit/>
              </a:bodyPr>
              <a:lstStyle/>
              <a:p>
                <a:r>
                  <a:rPr lang="en-US" sz="800" dirty="0">
                    <a:solidFill>
                      <a:schemeClr val="tx2">
                        <a:lumMod val="75000"/>
                      </a:schemeClr>
                    </a:solidFill>
                  </a:rPr>
                  <a:t>Initial guess</a:t>
                </a:r>
              </a:p>
            </p:txBody>
          </p:sp>
        </p:grpSp>
        <p:sp>
          <p:nvSpPr>
            <p:cNvPr id="20" name="Google Shape;150;g3cbd0e6f7a2_2_8">
              <a:extLst>
                <a:ext uri="{FF2B5EF4-FFF2-40B4-BE49-F238E27FC236}">
                  <a16:creationId xmlns:a16="http://schemas.microsoft.com/office/drawing/2014/main" id="{84C0FB3F-BA87-75F8-9A06-2C6261B4DD5B}"/>
                </a:ext>
              </a:extLst>
            </p:cNvPr>
            <p:cNvSpPr txBox="1"/>
            <p:nvPr/>
          </p:nvSpPr>
          <p:spPr>
            <a:xfrm>
              <a:off x="4157584" y="3718516"/>
              <a:ext cx="2214350"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b="1" dirty="0"/>
                <a:t>Fig. 10 </a:t>
              </a:r>
              <a:r>
                <a:rPr lang="de-DE" dirty="0"/>
                <a:t>EKF convergence</a:t>
              </a:r>
              <a:endParaRPr dirty="0"/>
            </a:p>
          </p:txBody>
        </p:sp>
      </p:grpSp>
      <p:grpSp>
        <p:nvGrpSpPr>
          <p:cNvPr id="24" name="Group 23">
            <a:extLst>
              <a:ext uri="{FF2B5EF4-FFF2-40B4-BE49-F238E27FC236}">
                <a16:creationId xmlns:a16="http://schemas.microsoft.com/office/drawing/2014/main" id="{098A5A5E-2167-3D3D-E0A5-C25F0DA671C2}"/>
              </a:ext>
            </a:extLst>
          </p:cNvPr>
          <p:cNvGrpSpPr/>
          <p:nvPr/>
        </p:nvGrpSpPr>
        <p:grpSpPr>
          <a:xfrm>
            <a:off x="6592934" y="1275480"/>
            <a:ext cx="2551066" cy="2775240"/>
            <a:chOff x="6592934" y="1275480"/>
            <a:chExt cx="2551066" cy="2775240"/>
          </a:xfrm>
        </p:grpSpPr>
        <p:pic>
          <p:nvPicPr>
            <p:cNvPr id="9" name="Graphic 8">
              <a:extLst>
                <a:ext uri="{FF2B5EF4-FFF2-40B4-BE49-F238E27FC236}">
                  <a16:creationId xmlns:a16="http://schemas.microsoft.com/office/drawing/2014/main" id="{279F103C-62B6-4FB1-5F09-DCC7DEEB118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92934" y="1275480"/>
              <a:ext cx="2529816" cy="2529816"/>
            </a:xfrm>
            <a:prstGeom prst="rect">
              <a:avLst/>
            </a:prstGeom>
          </p:spPr>
        </p:pic>
        <p:sp>
          <p:nvSpPr>
            <p:cNvPr id="21" name="Google Shape;150;g3cbd0e6f7a2_2_8">
              <a:extLst>
                <a:ext uri="{FF2B5EF4-FFF2-40B4-BE49-F238E27FC236}">
                  <a16:creationId xmlns:a16="http://schemas.microsoft.com/office/drawing/2014/main" id="{7DC41F74-07EB-C7AB-8AE0-68C743C86623}"/>
                </a:ext>
              </a:extLst>
            </p:cNvPr>
            <p:cNvSpPr txBox="1"/>
            <p:nvPr/>
          </p:nvSpPr>
          <p:spPr>
            <a:xfrm>
              <a:off x="6929650" y="3685320"/>
              <a:ext cx="2214350"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b="1" dirty="0"/>
                <a:t>Fig. 11 </a:t>
              </a:r>
              <a:r>
                <a:rPr lang="de-DE" dirty="0"/>
                <a:t>EKF validation</a:t>
              </a:r>
              <a:endParaRPr dirty="0"/>
            </a:p>
          </p:txBody>
        </p:sp>
      </p:grpSp>
      <p:grpSp>
        <p:nvGrpSpPr>
          <p:cNvPr id="25" name="Group 24">
            <a:extLst>
              <a:ext uri="{FF2B5EF4-FFF2-40B4-BE49-F238E27FC236}">
                <a16:creationId xmlns:a16="http://schemas.microsoft.com/office/drawing/2014/main" id="{C87CB6B1-A427-5E6F-3DBB-790338AFD847}"/>
              </a:ext>
            </a:extLst>
          </p:cNvPr>
          <p:cNvGrpSpPr/>
          <p:nvPr/>
        </p:nvGrpSpPr>
        <p:grpSpPr>
          <a:xfrm>
            <a:off x="5203014" y="4428370"/>
            <a:ext cx="3453271" cy="215444"/>
            <a:chOff x="5209536" y="4494390"/>
            <a:chExt cx="3453271" cy="215444"/>
          </a:xfrm>
        </p:grpSpPr>
        <p:sp>
          <p:nvSpPr>
            <p:cNvPr id="26" name="Rechteck 3">
              <a:extLst>
                <a:ext uri="{FF2B5EF4-FFF2-40B4-BE49-F238E27FC236}">
                  <a16:creationId xmlns:a16="http://schemas.microsoft.com/office/drawing/2014/main" id="{8AC2B03D-BB30-6956-1D86-B1610FB679BB}"/>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t>Introduction</a:t>
              </a:r>
            </a:p>
          </p:txBody>
        </p:sp>
        <p:sp>
          <p:nvSpPr>
            <p:cNvPr id="27" name="Rechteck 4">
              <a:extLst>
                <a:ext uri="{FF2B5EF4-FFF2-40B4-BE49-F238E27FC236}">
                  <a16:creationId xmlns:a16="http://schemas.microsoft.com/office/drawing/2014/main" id="{08F5E41A-036A-C357-5168-129134664CEB}"/>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28" name="Rechteck 5">
              <a:extLst>
                <a:ext uri="{FF2B5EF4-FFF2-40B4-BE49-F238E27FC236}">
                  <a16:creationId xmlns:a16="http://schemas.microsoft.com/office/drawing/2014/main" id="{CB4240F5-8D90-12A9-9181-56116E883EB5}"/>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Methodology</a:t>
              </a:r>
              <a:endParaRPr lang="de-DE" sz="800" dirty="0"/>
            </a:p>
          </p:txBody>
        </p:sp>
        <p:sp>
          <p:nvSpPr>
            <p:cNvPr id="29" name="Rechteck 6">
              <a:extLst>
                <a:ext uri="{FF2B5EF4-FFF2-40B4-BE49-F238E27FC236}">
                  <a16:creationId xmlns:a16="http://schemas.microsoft.com/office/drawing/2014/main" id="{16ECD61C-86DD-C820-11B6-F754A236C1CA}"/>
                </a:ext>
              </a:extLst>
            </p:cNvPr>
            <p:cNvSpPr/>
            <p:nvPr/>
          </p:nvSpPr>
          <p:spPr bwMode="auto">
            <a:xfrm>
              <a:off x="7798711"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solidFill>
                    <a:schemeClr val="bg1"/>
                  </a:solidFill>
                </a:rPr>
                <a:t>Results</a:t>
              </a:r>
              <a:endParaRPr lang="de-DE" sz="800" dirty="0">
                <a:solidFill>
                  <a:schemeClr val="bg1"/>
                </a:solidFill>
              </a:endParaRPr>
            </a:p>
          </p:txBody>
        </p:sp>
      </p:grpSp>
      <p:cxnSp>
        <p:nvCxnSpPr>
          <p:cNvPr id="2" name="Straight Arrow Connector 1">
            <a:extLst>
              <a:ext uri="{FF2B5EF4-FFF2-40B4-BE49-F238E27FC236}">
                <a16:creationId xmlns:a16="http://schemas.microsoft.com/office/drawing/2014/main" id="{73AED538-CC7D-7452-6998-AF45A1FCF7C4}"/>
              </a:ext>
            </a:extLst>
          </p:cNvPr>
          <p:cNvCxnSpPr>
            <a:cxnSpLocks/>
          </p:cNvCxnSpPr>
          <p:nvPr/>
        </p:nvCxnSpPr>
        <p:spPr>
          <a:xfrm flipH="1">
            <a:off x="7955259" y="1577743"/>
            <a:ext cx="26897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 name="Straight Arrow Connector 3">
            <a:extLst>
              <a:ext uri="{FF2B5EF4-FFF2-40B4-BE49-F238E27FC236}">
                <a16:creationId xmlns:a16="http://schemas.microsoft.com/office/drawing/2014/main" id="{9DC332B3-C945-3474-02C5-3ADA7EF5DB8B}"/>
              </a:ext>
            </a:extLst>
          </p:cNvPr>
          <p:cNvCxnSpPr>
            <a:cxnSpLocks/>
          </p:cNvCxnSpPr>
          <p:nvPr/>
        </p:nvCxnSpPr>
        <p:spPr>
          <a:xfrm flipH="1" flipV="1">
            <a:off x="7455031" y="1830287"/>
            <a:ext cx="219398" cy="23708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44E5528-61A0-B7B1-20E9-89DB4E062A82}"/>
              </a:ext>
            </a:extLst>
          </p:cNvPr>
          <p:cNvSpPr txBox="1"/>
          <p:nvPr/>
        </p:nvSpPr>
        <p:spPr>
          <a:xfrm>
            <a:off x="7386840" y="2008284"/>
            <a:ext cx="1134521" cy="215444"/>
          </a:xfrm>
          <a:prstGeom prst="rect">
            <a:avLst/>
          </a:prstGeom>
          <a:noFill/>
        </p:spPr>
        <p:txBody>
          <a:bodyPr wrap="square" rtlCol="0">
            <a:spAutoFit/>
          </a:bodyPr>
          <a:lstStyle/>
          <a:p>
            <a:r>
              <a:rPr lang="en-US" sz="800" dirty="0">
                <a:solidFill>
                  <a:schemeClr val="tx2">
                    <a:lumMod val="75000"/>
                  </a:schemeClr>
                </a:solidFill>
              </a:rPr>
              <a:t>adapted model</a:t>
            </a:r>
          </a:p>
        </p:txBody>
      </p:sp>
      <p:sp>
        <p:nvSpPr>
          <p:cNvPr id="30" name="TextBox 29">
            <a:extLst>
              <a:ext uri="{FF2B5EF4-FFF2-40B4-BE49-F238E27FC236}">
                <a16:creationId xmlns:a16="http://schemas.microsoft.com/office/drawing/2014/main" id="{93E382BB-B0E5-2E65-5644-706183DFD86E}"/>
              </a:ext>
            </a:extLst>
          </p:cNvPr>
          <p:cNvSpPr txBox="1"/>
          <p:nvPr/>
        </p:nvSpPr>
        <p:spPr>
          <a:xfrm>
            <a:off x="8089748" y="1584273"/>
            <a:ext cx="1134521" cy="215444"/>
          </a:xfrm>
          <a:prstGeom prst="rect">
            <a:avLst/>
          </a:prstGeom>
          <a:noFill/>
        </p:spPr>
        <p:txBody>
          <a:bodyPr wrap="square" rtlCol="0">
            <a:spAutoFit/>
          </a:bodyPr>
          <a:lstStyle/>
          <a:p>
            <a:r>
              <a:rPr lang="en-US" sz="800" dirty="0">
                <a:solidFill>
                  <a:schemeClr val="tx2">
                    <a:lumMod val="75000"/>
                  </a:schemeClr>
                </a:solidFill>
              </a:rPr>
              <a:t>Initial guess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3958929c9b2_1_8"/>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PSO</a:t>
            </a:r>
            <a:endParaRPr/>
          </a:p>
        </p:txBody>
      </p:sp>
      <mc:AlternateContent xmlns:mc="http://schemas.openxmlformats.org/markup-compatibility/2006" xmlns:a14="http://schemas.microsoft.com/office/drawing/2010/main">
        <mc:Choice Requires="a14">
          <p:sp>
            <p:nvSpPr>
              <p:cNvPr id="162" name="Google Shape;162;g3958929c9b2_1_8"/>
              <p:cNvSpPr txBox="1">
                <a:spLocks noGrp="1"/>
              </p:cNvSpPr>
              <p:nvPr>
                <p:ph type="body" idx="1"/>
              </p:nvPr>
            </p:nvSpPr>
            <p:spPr>
              <a:xfrm>
                <a:off x="-87400" y="950100"/>
                <a:ext cx="5693400" cy="1658100"/>
              </a:xfrm>
              <a:prstGeom prst="rect">
                <a:avLst/>
              </a:prstGeom>
            </p:spPr>
            <p:txBody>
              <a:bodyPr spcFirstLastPara="1" wrap="square" lIns="91425" tIns="45700" rIns="91425" bIns="45700" anchor="t" anchorCtr="0">
                <a:noAutofit/>
              </a:bodyPr>
              <a:lstStyle/>
              <a:p>
                <a:pPr marL="457200" lvl="0" indent="-298450" algn="l" rtl="0">
                  <a:lnSpc>
                    <a:spcPct val="115000"/>
                  </a:lnSpc>
                  <a:spcBef>
                    <a:spcPts val="0"/>
                  </a:spcBef>
                  <a:spcAft>
                    <a:spcPts val="0"/>
                  </a:spcAft>
                  <a:buSzPts val="1100"/>
                  <a:buFont typeface="Arial"/>
                  <a:buChar char="●"/>
                </a:pPr>
                <a:r>
                  <a:rPr lang="de-DE" sz="1100" b="1" dirty="0"/>
                  <a:t>Global Identification</a:t>
                </a:r>
                <a:r>
                  <a:rPr lang="de-DE" sz="1100" dirty="0"/>
                  <a:t>: Optimizes </a:t>
                </a:r>
                <a14:m>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𝑅</m:t>
                        </m:r>
                      </m:e>
                      <m:sub>
                        <m:r>
                          <a:rPr lang="en-US" sz="1100" b="0" i="1" smtClean="0">
                            <a:latin typeface="Cambria Math" panose="02040503050406030204" pitchFamily="18" charset="0"/>
                          </a:rPr>
                          <m:t>𝑡h</m:t>
                        </m:r>
                      </m:sub>
                    </m:sSub>
                  </m:oMath>
                </a14:m>
                <a:r>
                  <a:rPr lang="en-US" sz="1100" dirty="0"/>
                  <a:t> </a:t>
                </a:r>
                <a:r>
                  <a:rPr lang="de-DE" sz="1100" dirty="0"/>
                  <a:t>and  </a:t>
                </a:r>
                <a14:m>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𝐶</m:t>
                        </m:r>
                      </m:e>
                      <m:sub>
                        <m:r>
                          <a:rPr lang="en-US" sz="1100" b="0" i="1" smtClean="0">
                            <a:latin typeface="Cambria Math" panose="02040503050406030204" pitchFamily="18" charset="0"/>
                          </a:rPr>
                          <m:t>𝑡h</m:t>
                        </m:r>
                      </m:sub>
                    </m:sSub>
                  </m:oMath>
                </a14:m>
                <a:r>
                  <a:rPr lang="de-DE" sz="1100" dirty="0"/>
                  <a:t> without Jacobian requirements.</a:t>
                </a:r>
                <a:endParaRPr sz="1100" dirty="0"/>
              </a:p>
              <a:p>
                <a:pPr marL="457200" lvl="0" indent="-298450" algn="l" rtl="0">
                  <a:lnSpc>
                    <a:spcPct val="115000"/>
                  </a:lnSpc>
                  <a:spcBef>
                    <a:spcPts val="0"/>
                  </a:spcBef>
                  <a:spcAft>
                    <a:spcPts val="0"/>
                  </a:spcAft>
                  <a:buSzPts val="1100"/>
                  <a:buFont typeface="Arial"/>
                  <a:buChar char="●"/>
                </a:pPr>
                <a:r>
                  <a:rPr lang="de-DE" sz="1100" b="1" dirty="0"/>
                  <a:t>Real-time Constraint</a:t>
                </a:r>
                <a:r>
                  <a:rPr lang="de-DE" sz="1100" dirty="0"/>
                  <a:t>: Execution limited to </a:t>
                </a:r>
                <a:r>
                  <a:rPr lang="de-DE" sz="1100" b="1" dirty="0"/>
                  <a:t>3 iterations per window.</a:t>
                </a:r>
              </a:p>
              <a:p>
                <a:pPr marL="457200" lvl="0" indent="-298450" algn="l" rtl="0">
                  <a:lnSpc>
                    <a:spcPct val="115000"/>
                  </a:lnSpc>
                  <a:spcBef>
                    <a:spcPts val="0"/>
                  </a:spcBef>
                  <a:spcAft>
                    <a:spcPts val="0"/>
                  </a:spcAft>
                  <a:buSzPts val="1100"/>
                  <a:buFont typeface="Arial"/>
                  <a:buChar char="●"/>
                </a:pPr>
                <a:r>
                  <a:rPr lang="de-DE" sz="1100" b="1" dirty="0"/>
                  <a:t>Swarm Diversity</a:t>
                </a:r>
                <a:r>
                  <a:rPr lang="de-DE" sz="1100" dirty="0"/>
                  <a:t>: </a:t>
                </a:r>
                <a:r>
                  <a:rPr lang="de-DE" sz="1100" b="1" dirty="0"/>
                  <a:t>40% re-randomization</a:t>
                </a:r>
                <a:r>
                  <a:rPr lang="de-DE" sz="1100" dirty="0"/>
                  <a:t> of worst-performing particles.</a:t>
                </a:r>
              </a:p>
              <a:p>
                <a:pPr marL="457200" lvl="0" indent="-298450" algn="l" rtl="0">
                  <a:lnSpc>
                    <a:spcPct val="115000"/>
                  </a:lnSpc>
                  <a:spcBef>
                    <a:spcPts val="0"/>
                  </a:spcBef>
                  <a:spcAft>
                    <a:spcPts val="0"/>
                  </a:spcAft>
                  <a:buSzPts val="1100"/>
                  <a:buFont typeface="Arial"/>
                  <a:buChar char="●"/>
                </a:pPr>
                <a:r>
                  <a:rPr lang="de-DE" sz="1100" b="1" dirty="0"/>
                  <a:t>Recursive Warm-start</a:t>
                </a:r>
                <a:endParaRPr sz="1700" dirty="0"/>
              </a:p>
            </p:txBody>
          </p:sp>
        </mc:Choice>
        <mc:Fallback xmlns="">
          <p:sp>
            <p:nvSpPr>
              <p:cNvPr id="162" name="Google Shape;162;g3958929c9b2_1_8"/>
              <p:cNvSpPr txBox="1">
                <a:spLocks noGrp="1" noRot="1" noChangeAspect="1" noMove="1" noResize="1" noEditPoints="1" noAdjustHandles="1" noChangeArrowheads="1" noChangeShapeType="1" noTextEdit="1"/>
              </p:cNvSpPr>
              <p:nvPr>
                <p:ph type="body" idx="1"/>
              </p:nvPr>
            </p:nvSpPr>
            <p:spPr>
              <a:xfrm>
                <a:off x="-87400" y="950100"/>
                <a:ext cx="5693400" cy="1658100"/>
              </a:xfrm>
              <a:prstGeom prst="rect">
                <a:avLst/>
              </a:prstGeom>
              <a:blipFill>
                <a:blip r:embed="rId3"/>
                <a:stretch>
                  <a:fillRect/>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C3BE78C9-1F94-E17D-D9F9-EF0A85656F88}"/>
              </a:ext>
            </a:extLst>
          </p:cNvPr>
          <p:cNvGrpSpPr/>
          <p:nvPr/>
        </p:nvGrpSpPr>
        <p:grpSpPr>
          <a:xfrm>
            <a:off x="2331892" y="1629993"/>
            <a:ext cx="4480215" cy="2928807"/>
            <a:chOff x="2331892" y="1629993"/>
            <a:chExt cx="4480215" cy="2928807"/>
          </a:xfrm>
        </p:grpSpPr>
        <p:pic>
          <p:nvPicPr>
            <p:cNvPr id="163" name="Google Shape;163;g3958929c9b2_1_8"/>
            <p:cNvPicPr preferRelativeResize="0"/>
            <p:nvPr/>
          </p:nvPicPr>
          <p:blipFill>
            <a:blip r:embed="rId4">
              <a:alphaModFix/>
            </a:blip>
            <a:stretch>
              <a:fillRect/>
            </a:stretch>
          </p:blipFill>
          <p:spPr>
            <a:xfrm>
              <a:off x="2331892" y="1629993"/>
              <a:ext cx="4480215" cy="2700907"/>
            </a:xfrm>
            <a:prstGeom prst="rect">
              <a:avLst/>
            </a:prstGeom>
            <a:noFill/>
            <a:ln>
              <a:noFill/>
            </a:ln>
          </p:spPr>
        </p:pic>
        <p:sp>
          <p:nvSpPr>
            <p:cNvPr id="6" name="Google Shape;150;g3cbd0e6f7a2_2_8">
              <a:extLst>
                <a:ext uri="{FF2B5EF4-FFF2-40B4-BE49-F238E27FC236}">
                  <a16:creationId xmlns:a16="http://schemas.microsoft.com/office/drawing/2014/main" id="{36C09221-41F8-887C-DA2E-39FC56684394}"/>
                </a:ext>
              </a:extLst>
            </p:cNvPr>
            <p:cNvSpPr txBox="1"/>
            <p:nvPr/>
          </p:nvSpPr>
          <p:spPr>
            <a:xfrm>
              <a:off x="3615760" y="4193400"/>
              <a:ext cx="2214350" cy="365400"/>
            </a:xfrm>
            <a:prstGeom prst="rect">
              <a:avLst/>
            </a:prstGeom>
            <a:noFill/>
            <a:ln>
              <a:noFill/>
            </a:ln>
          </p:spPr>
          <p:txBody>
            <a:bodyPr spcFirstLastPara="1" wrap="square" lIns="91425" tIns="91425" rIns="91425" bIns="91425" anchor="t" anchorCtr="0">
              <a:noAutofit/>
            </a:bodyPr>
            <a:lstStyle/>
            <a:p>
              <a:pPr lvl="0"/>
              <a:r>
                <a:rPr lang="de-DE" b="1" dirty="0"/>
                <a:t>Fig. 12 </a:t>
              </a:r>
              <a:r>
                <a:rPr lang="de-DE" dirty="0"/>
                <a:t>Online PSO </a:t>
              </a:r>
              <a:r>
                <a:rPr lang="de-DE" sz="800" dirty="0"/>
                <a:t>[*]</a:t>
              </a:r>
              <a:endParaRPr dirty="0"/>
            </a:p>
          </p:txBody>
        </p:sp>
      </p:grpSp>
      <p:grpSp>
        <p:nvGrpSpPr>
          <p:cNvPr id="8" name="Group 7">
            <a:extLst>
              <a:ext uri="{FF2B5EF4-FFF2-40B4-BE49-F238E27FC236}">
                <a16:creationId xmlns:a16="http://schemas.microsoft.com/office/drawing/2014/main" id="{C4FFB08A-F955-9A7E-1B80-32E8453B56CD}"/>
              </a:ext>
            </a:extLst>
          </p:cNvPr>
          <p:cNvGrpSpPr/>
          <p:nvPr/>
        </p:nvGrpSpPr>
        <p:grpSpPr>
          <a:xfrm>
            <a:off x="5210698" y="4504866"/>
            <a:ext cx="3453271" cy="215444"/>
            <a:chOff x="5209536" y="4494390"/>
            <a:chExt cx="3453271" cy="215444"/>
          </a:xfrm>
        </p:grpSpPr>
        <p:sp>
          <p:nvSpPr>
            <p:cNvPr id="9" name="Rechteck 3">
              <a:extLst>
                <a:ext uri="{FF2B5EF4-FFF2-40B4-BE49-F238E27FC236}">
                  <a16:creationId xmlns:a16="http://schemas.microsoft.com/office/drawing/2014/main" id="{F50D2199-7735-3F25-6752-0BDB2DFD5DB7}"/>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t>Introduction</a:t>
              </a:r>
            </a:p>
          </p:txBody>
        </p:sp>
        <p:sp>
          <p:nvSpPr>
            <p:cNvPr id="10" name="Rechteck 4">
              <a:extLst>
                <a:ext uri="{FF2B5EF4-FFF2-40B4-BE49-F238E27FC236}">
                  <a16:creationId xmlns:a16="http://schemas.microsoft.com/office/drawing/2014/main" id="{229C8884-DC29-5163-EABE-D383F770793B}"/>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11" name="Rechteck 5">
              <a:extLst>
                <a:ext uri="{FF2B5EF4-FFF2-40B4-BE49-F238E27FC236}">
                  <a16:creationId xmlns:a16="http://schemas.microsoft.com/office/drawing/2014/main" id="{A88F605E-C8A6-11B9-1831-26090AA1BA67}"/>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Methodology</a:t>
              </a:r>
              <a:endParaRPr lang="de-DE" sz="800" dirty="0"/>
            </a:p>
          </p:txBody>
        </p:sp>
        <p:sp>
          <p:nvSpPr>
            <p:cNvPr id="12" name="Rechteck 6">
              <a:extLst>
                <a:ext uri="{FF2B5EF4-FFF2-40B4-BE49-F238E27FC236}">
                  <a16:creationId xmlns:a16="http://schemas.microsoft.com/office/drawing/2014/main" id="{69B343BD-1EF6-D9B2-8AF0-66C2075BD61E}"/>
                </a:ext>
              </a:extLst>
            </p:cNvPr>
            <p:cNvSpPr/>
            <p:nvPr/>
          </p:nvSpPr>
          <p:spPr bwMode="auto">
            <a:xfrm>
              <a:off x="7798711"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solidFill>
                    <a:schemeClr val="bg1"/>
                  </a:solidFill>
                </a:rPr>
                <a:t>Results</a:t>
              </a:r>
              <a:endParaRPr lang="de-DE" sz="800" dirty="0">
                <a:solidFill>
                  <a:schemeClr val="bg1"/>
                </a:solidFil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g3958929c9b2_1_25"/>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PSO accuracy</a:t>
            </a:r>
            <a:endParaRPr/>
          </a:p>
        </p:txBody>
      </p:sp>
      <mc:AlternateContent xmlns:mc="http://schemas.openxmlformats.org/markup-compatibility/2006" xmlns:a14="http://schemas.microsoft.com/office/drawing/2010/main">
        <mc:Choice Requires="a14">
          <p:sp>
            <p:nvSpPr>
              <p:cNvPr id="171" name="Google Shape;171;g3958929c9b2_1_25"/>
              <p:cNvSpPr txBox="1">
                <a:spLocks noGrp="1"/>
              </p:cNvSpPr>
              <p:nvPr>
                <p:ph type="body" idx="1"/>
              </p:nvPr>
            </p:nvSpPr>
            <p:spPr>
              <a:xfrm>
                <a:off x="19353" y="823490"/>
                <a:ext cx="7607131" cy="33921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de-DE" sz="1300" b="1" dirty="0"/>
                  <a:t>PSO Identification Accuracy</a:t>
                </a:r>
                <a:endParaRPr sz="1300" b="1" dirty="0"/>
              </a:p>
              <a:p>
                <a:pPr marL="457200" lvl="0" indent="-298450" algn="l" rtl="0">
                  <a:spcBef>
                    <a:spcPts val="400"/>
                  </a:spcBef>
                  <a:spcAft>
                    <a:spcPts val="0"/>
                  </a:spcAft>
                  <a:buSzPts val="1100"/>
                  <a:buFont typeface="Arial"/>
                  <a:buChar char="●"/>
                </a:pPr>
                <a:r>
                  <a:rPr lang="de-DE" sz="1100" b="1" dirty="0"/>
                  <a:t>Validation</a:t>
                </a:r>
                <a:r>
                  <a:rPr lang="de-DE" sz="1100" dirty="0"/>
                  <a:t>: Tested on single-chip self-heating </a:t>
                </a:r>
              </a:p>
              <a:p>
                <a:pPr marL="457200" lvl="0" indent="-298450" algn="l" rtl="0">
                  <a:spcBef>
                    <a:spcPts val="400"/>
                  </a:spcBef>
                  <a:spcAft>
                    <a:spcPts val="0"/>
                  </a:spcAft>
                  <a:buSzPts val="1100"/>
                  <a:buFont typeface="Arial"/>
                  <a:buChar char="●"/>
                </a:pPr>
                <a:r>
                  <a:rPr lang="de-DE" sz="1100" b="1" dirty="0"/>
                  <a:t>Steady-State Precision</a:t>
                </a:r>
                <a:r>
                  <a:rPr lang="de-DE" sz="1100" dirty="0"/>
                  <a:t>: Achieves during stable operating points</a:t>
                </a:r>
                <a:endParaRPr sz="1100" dirty="0"/>
              </a:p>
              <a:p>
                <a:pPr marL="457200" lvl="0" indent="-298450" algn="l" rtl="0">
                  <a:spcBef>
                    <a:spcPts val="0"/>
                  </a:spcBef>
                  <a:spcAft>
                    <a:spcPts val="0"/>
                  </a:spcAft>
                  <a:buSzPts val="1100"/>
                  <a:buFont typeface="Arial"/>
                  <a:buChar char="●"/>
                </a:pPr>
                <a:r>
                  <a:rPr lang="de-DE" sz="1100" b="1" dirty="0"/>
                  <a:t>Transient Dynamics</a:t>
                </a:r>
                <a:r>
                  <a:rPr lang="de-DE" sz="1100" dirty="0"/>
                  <a:t>:error "spikes" occur during high </a:t>
                </a:r>
                <a14:m>
                  <m:oMath xmlns:m="http://schemas.openxmlformats.org/officeDocument/2006/math">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𝑑𝑃</m:t>
                        </m:r>
                      </m:num>
                      <m:den>
                        <m:r>
                          <a:rPr lang="en-US" sz="1100" b="0" i="1" smtClean="0">
                            <a:latin typeface="Cambria Math" panose="02040503050406030204" pitchFamily="18" charset="0"/>
                          </a:rPr>
                          <m:t>𝑑𝑡</m:t>
                        </m:r>
                      </m:den>
                    </m:f>
                  </m:oMath>
                </a14:m>
                <a:r>
                  <a:rPr lang="en-US" sz="1100" dirty="0"/>
                  <a:t> </a:t>
                </a:r>
                <a:r>
                  <a:rPr lang="de-DE" sz="1100" dirty="0"/>
                  <a:t>events</a:t>
                </a:r>
              </a:p>
              <a:p>
                <a:pPr marL="457200" lvl="0" indent="-298450" algn="l" rtl="0">
                  <a:spcBef>
                    <a:spcPts val="0"/>
                  </a:spcBef>
                  <a:spcAft>
                    <a:spcPts val="0"/>
                  </a:spcAft>
                  <a:buSzPts val="1100"/>
                  <a:buFont typeface="Arial"/>
                  <a:buChar char="●"/>
                </a:pPr>
                <a:r>
                  <a:rPr lang="de-DE" sz="1100" b="1" dirty="0"/>
                  <a:t>Convergence</a:t>
                </a:r>
                <a:r>
                  <a:rPr lang="de-DE" sz="1100" dirty="0"/>
                  <a:t>: Rapid parameter stabilization within the first 3–5 windows</a:t>
                </a:r>
                <a:endParaRPr sz="1500" dirty="0"/>
              </a:p>
            </p:txBody>
          </p:sp>
        </mc:Choice>
        <mc:Fallback xmlns="">
          <p:sp>
            <p:nvSpPr>
              <p:cNvPr id="171" name="Google Shape;171;g3958929c9b2_1_25"/>
              <p:cNvSpPr txBox="1">
                <a:spLocks noGrp="1" noRot="1" noChangeAspect="1" noMove="1" noResize="1" noEditPoints="1" noAdjustHandles="1" noChangeArrowheads="1" noChangeShapeType="1" noTextEdit="1"/>
              </p:cNvSpPr>
              <p:nvPr>
                <p:ph type="body" idx="1"/>
              </p:nvPr>
            </p:nvSpPr>
            <p:spPr>
              <a:xfrm>
                <a:off x="19353" y="823490"/>
                <a:ext cx="7607131" cy="3392100"/>
              </a:xfrm>
              <a:prstGeom prst="rect">
                <a:avLst/>
              </a:prstGeom>
              <a:blipFill>
                <a:blip r:embed="rId3"/>
                <a:stretch>
                  <a:fillRect l="-80"/>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211FD304-620A-0AA8-895A-04D872D27A42}"/>
              </a:ext>
            </a:extLst>
          </p:cNvPr>
          <p:cNvGrpSpPr/>
          <p:nvPr/>
        </p:nvGrpSpPr>
        <p:grpSpPr>
          <a:xfrm>
            <a:off x="1057443" y="1919592"/>
            <a:ext cx="3514557" cy="2886458"/>
            <a:chOff x="1057443" y="1919592"/>
            <a:chExt cx="3514557" cy="2886458"/>
          </a:xfrm>
        </p:grpSpPr>
        <p:grpSp>
          <p:nvGrpSpPr>
            <p:cNvPr id="9" name="Group 8">
              <a:extLst>
                <a:ext uri="{FF2B5EF4-FFF2-40B4-BE49-F238E27FC236}">
                  <a16:creationId xmlns:a16="http://schemas.microsoft.com/office/drawing/2014/main" id="{F15288CB-DF84-A60F-E2E0-1780A40EE432}"/>
                </a:ext>
              </a:extLst>
            </p:cNvPr>
            <p:cNvGrpSpPr/>
            <p:nvPr/>
          </p:nvGrpSpPr>
          <p:grpSpPr>
            <a:xfrm>
              <a:off x="1057443" y="1919592"/>
              <a:ext cx="3514557" cy="2648476"/>
              <a:chOff x="1064504" y="1958503"/>
              <a:chExt cx="3514557" cy="2648476"/>
            </a:xfrm>
          </p:grpSpPr>
          <p:pic>
            <p:nvPicPr>
              <p:cNvPr id="3" name="Picture 2" descr="The image displays a graph comparing two thermal resistances (R1 and R2) over time, with R1 having a faster response than R2.&#10;&#10;AI-generated content may be incorrect.">
                <a:extLst>
                  <a:ext uri="{FF2B5EF4-FFF2-40B4-BE49-F238E27FC236}">
                    <a16:creationId xmlns:a16="http://schemas.microsoft.com/office/drawing/2014/main" id="{3B3B679B-BCF4-1DBD-3F31-5A8A587EC81D}"/>
                  </a:ext>
                </a:extLst>
              </p:cNvPr>
              <p:cNvPicPr>
                <a:picLocks noChangeAspect="1"/>
              </p:cNvPicPr>
              <p:nvPr/>
            </p:nvPicPr>
            <p:blipFill>
              <a:blip r:embed="rId4"/>
              <a:stretch>
                <a:fillRect/>
              </a:stretch>
            </p:blipFill>
            <p:spPr>
              <a:xfrm>
                <a:off x="1064504" y="1958503"/>
                <a:ext cx="3514557" cy="2648476"/>
              </a:xfrm>
              <a:prstGeom prst="rect">
                <a:avLst/>
              </a:prstGeom>
            </p:spPr>
          </p:pic>
          <p:cxnSp>
            <p:nvCxnSpPr>
              <p:cNvPr id="4" name="Straight Arrow Connector 3">
                <a:extLst>
                  <a:ext uri="{FF2B5EF4-FFF2-40B4-BE49-F238E27FC236}">
                    <a16:creationId xmlns:a16="http://schemas.microsoft.com/office/drawing/2014/main" id="{3B6F1448-25EE-5DF5-5D6C-FD5E4E2DB91E}"/>
                  </a:ext>
                </a:extLst>
              </p:cNvPr>
              <p:cNvCxnSpPr/>
              <p:nvPr/>
            </p:nvCxnSpPr>
            <p:spPr>
              <a:xfrm>
                <a:off x="1426723" y="2707531"/>
                <a:ext cx="0" cy="35019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 name="Straight Arrow Connector 5">
                <a:extLst>
                  <a:ext uri="{FF2B5EF4-FFF2-40B4-BE49-F238E27FC236}">
                    <a16:creationId xmlns:a16="http://schemas.microsoft.com/office/drawing/2014/main" id="{A03106A6-0F86-B37D-278C-FD643D04004F}"/>
                  </a:ext>
                </a:extLst>
              </p:cNvPr>
              <p:cNvCxnSpPr/>
              <p:nvPr/>
            </p:nvCxnSpPr>
            <p:spPr>
              <a:xfrm>
                <a:off x="3427379" y="2571750"/>
                <a:ext cx="0" cy="35019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F81B57DB-46D8-CA26-D158-0BC2AC688ED8}"/>
                  </a:ext>
                </a:extLst>
              </p:cNvPr>
              <p:cNvSpPr txBox="1"/>
              <p:nvPr/>
            </p:nvSpPr>
            <p:spPr>
              <a:xfrm>
                <a:off x="1305599" y="2492086"/>
                <a:ext cx="1134521" cy="215444"/>
              </a:xfrm>
              <a:prstGeom prst="rect">
                <a:avLst/>
              </a:prstGeom>
              <a:noFill/>
            </p:spPr>
            <p:txBody>
              <a:bodyPr wrap="square" rtlCol="0">
                <a:spAutoFit/>
              </a:bodyPr>
              <a:lstStyle/>
              <a:p>
                <a:r>
                  <a:rPr lang="en-US" sz="800" dirty="0">
                    <a:solidFill>
                      <a:schemeClr val="tx2">
                        <a:lumMod val="75000"/>
                      </a:schemeClr>
                    </a:solidFill>
                  </a:rPr>
                  <a:t>Initial guess</a:t>
                </a:r>
              </a:p>
            </p:txBody>
          </p:sp>
          <p:sp>
            <p:nvSpPr>
              <p:cNvPr id="8" name="TextBox 7">
                <a:extLst>
                  <a:ext uri="{FF2B5EF4-FFF2-40B4-BE49-F238E27FC236}">
                    <a16:creationId xmlns:a16="http://schemas.microsoft.com/office/drawing/2014/main" id="{E18CFA89-1905-86FF-E84E-FB5A8F6E59EC}"/>
                  </a:ext>
                </a:extLst>
              </p:cNvPr>
              <p:cNvSpPr txBox="1"/>
              <p:nvPr/>
            </p:nvSpPr>
            <p:spPr>
              <a:xfrm>
                <a:off x="3090903" y="2411818"/>
                <a:ext cx="1134521" cy="215444"/>
              </a:xfrm>
              <a:prstGeom prst="rect">
                <a:avLst/>
              </a:prstGeom>
              <a:noFill/>
            </p:spPr>
            <p:txBody>
              <a:bodyPr wrap="square" rtlCol="0">
                <a:spAutoFit/>
              </a:bodyPr>
              <a:lstStyle/>
              <a:p>
                <a:r>
                  <a:rPr lang="en-US" sz="800" dirty="0">
                    <a:solidFill>
                      <a:schemeClr val="tx2">
                        <a:lumMod val="75000"/>
                      </a:schemeClr>
                    </a:solidFill>
                  </a:rPr>
                  <a:t>Adapted model</a:t>
                </a:r>
              </a:p>
            </p:txBody>
          </p:sp>
        </p:grpSp>
        <p:sp>
          <p:nvSpPr>
            <p:cNvPr id="10" name="Google Shape;150;g3cbd0e6f7a2_2_8">
              <a:extLst>
                <a:ext uri="{FF2B5EF4-FFF2-40B4-BE49-F238E27FC236}">
                  <a16:creationId xmlns:a16="http://schemas.microsoft.com/office/drawing/2014/main" id="{D3AFF0B8-C36E-B686-E498-171625275750}"/>
                </a:ext>
              </a:extLst>
            </p:cNvPr>
            <p:cNvSpPr txBox="1"/>
            <p:nvPr/>
          </p:nvSpPr>
          <p:spPr>
            <a:xfrm>
              <a:off x="1726990" y="4440650"/>
              <a:ext cx="2713704"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b="1" dirty="0"/>
                <a:t>Fig. 13 </a:t>
              </a:r>
              <a:r>
                <a:rPr lang="de-DE" dirty="0"/>
                <a:t>PSO Convergence</a:t>
              </a:r>
              <a:endParaRPr dirty="0"/>
            </a:p>
          </p:txBody>
        </p:sp>
      </p:grpSp>
      <p:grpSp>
        <p:nvGrpSpPr>
          <p:cNvPr id="13" name="Group 12">
            <a:extLst>
              <a:ext uri="{FF2B5EF4-FFF2-40B4-BE49-F238E27FC236}">
                <a16:creationId xmlns:a16="http://schemas.microsoft.com/office/drawing/2014/main" id="{69245E07-6004-D20A-FB27-2E9941AA4744}"/>
              </a:ext>
            </a:extLst>
          </p:cNvPr>
          <p:cNvGrpSpPr/>
          <p:nvPr/>
        </p:nvGrpSpPr>
        <p:grpSpPr>
          <a:xfrm>
            <a:off x="5327542" y="1024038"/>
            <a:ext cx="3299270" cy="3544030"/>
            <a:chOff x="5383915" y="1141380"/>
            <a:chExt cx="3299270" cy="3544030"/>
          </a:xfrm>
        </p:grpSpPr>
        <p:pic>
          <p:nvPicPr>
            <p:cNvPr id="5" name="Graphic 4">
              <a:extLst>
                <a:ext uri="{FF2B5EF4-FFF2-40B4-BE49-F238E27FC236}">
                  <a16:creationId xmlns:a16="http://schemas.microsoft.com/office/drawing/2014/main" id="{C48C7BED-A6E6-8A34-8712-C606A482B75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83915" y="1141380"/>
              <a:ext cx="3299270" cy="3299270"/>
            </a:xfrm>
            <a:prstGeom prst="rect">
              <a:avLst/>
            </a:prstGeom>
          </p:spPr>
        </p:pic>
        <p:sp>
          <p:nvSpPr>
            <p:cNvPr id="12" name="Google Shape;150;g3cbd0e6f7a2_2_8">
              <a:extLst>
                <a:ext uri="{FF2B5EF4-FFF2-40B4-BE49-F238E27FC236}">
                  <a16:creationId xmlns:a16="http://schemas.microsoft.com/office/drawing/2014/main" id="{B8FA92C2-9E15-624A-FE1E-77BA6A7F7184}"/>
                </a:ext>
              </a:extLst>
            </p:cNvPr>
            <p:cNvSpPr txBox="1"/>
            <p:nvPr/>
          </p:nvSpPr>
          <p:spPr>
            <a:xfrm>
              <a:off x="6324501" y="4320010"/>
              <a:ext cx="2041229"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b="1" dirty="0"/>
                <a:t>Fig. 14 </a:t>
              </a:r>
              <a:r>
                <a:rPr lang="de-DE" dirty="0"/>
                <a:t>PSO Validation</a:t>
              </a:r>
              <a:endParaRPr dirty="0"/>
            </a:p>
          </p:txBody>
        </p:sp>
      </p:grpSp>
      <p:grpSp>
        <p:nvGrpSpPr>
          <p:cNvPr id="14" name="Group 13">
            <a:extLst>
              <a:ext uri="{FF2B5EF4-FFF2-40B4-BE49-F238E27FC236}">
                <a16:creationId xmlns:a16="http://schemas.microsoft.com/office/drawing/2014/main" id="{A6E338A9-99B7-BB1E-516F-3A1E7F3E927C}"/>
              </a:ext>
            </a:extLst>
          </p:cNvPr>
          <p:cNvGrpSpPr/>
          <p:nvPr/>
        </p:nvGrpSpPr>
        <p:grpSpPr>
          <a:xfrm>
            <a:off x="5173541" y="4523856"/>
            <a:ext cx="3453271" cy="215444"/>
            <a:chOff x="5209536" y="4494390"/>
            <a:chExt cx="3453271" cy="215444"/>
          </a:xfrm>
        </p:grpSpPr>
        <p:sp>
          <p:nvSpPr>
            <p:cNvPr id="15" name="Rechteck 3">
              <a:extLst>
                <a:ext uri="{FF2B5EF4-FFF2-40B4-BE49-F238E27FC236}">
                  <a16:creationId xmlns:a16="http://schemas.microsoft.com/office/drawing/2014/main" id="{5889876F-4E92-8B20-8298-ED87AA615A08}"/>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t>Introduction</a:t>
              </a:r>
            </a:p>
          </p:txBody>
        </p:sp>
        <p:sp>
          <p:nvSpPr>
            <p:cNvPr id="16" name="Rechteck 4">
              <a:extLst>
                <a:ext uri="{FF2B5EF4-FFF2-40B4-BE49-F238E27FC236}">
                  <a16:creationId xmlns:a16="http://schemas.microsoft.com/office/drawing/2014/main" id="{A4801648-BEB4-F673-A9F2-02DCC7DDB508}"/>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17" name="Rechteck 5">
              <a:extLst>
                <a:ext uri="{FF2B5EF4-FFF2-40B4-BE49-F238E27FC236}">
                  <a16:creationId xmlns:a16="http://schemas.microsoft.com/office/drawing/2014/main" id="{2A0CD03B-ACAE-91B8-69BD-0F3556CDEF76}"/>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Methodology</a:t>
              </a:r>
              <a:endParaRPr lang="de-DE" sz="800" dirty="0"/>
            </a:p>
          </p:txBody>
        </p:sp>
        <p:sp>
          <p:nvSpPr>
            <p:cNvPr id="18" name="Rechteck 6">
              <a:extLst>
                <a:ext uri="{FF2B5EF4-FFF2-40B4-BE49-F238E27FC236}">
                  <a16:creationId xmlns:a16="http://schemas.microsoft.com/office/drawing/2014/main" id="{7B18713E-B487-F54B-0641-521BFDFA4E34}"/>
                </a:ext>
              </a:extLst>
            </p:cNvPr>
            <p:cNvSpPr/>
            <p:nvPr/>
          </p:nvSpPr>
          <p:spPr bwMode="auto">
            <a:xfrm>
              <a:off x="7798711"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solidFill>
                    <a:schemeClr val="bg1"/>
                  </a:solidFill>
                </a:rPr>
                <a:t>Results</a:t>
              </a:r>
            </a:p>
          </p:txBody>
        </p:sp>
      </p:grpSp>
      <p:sp>
        <p:nvSpPr>
          <p:cNvPr id="2" name="TextBox 1">
            <a:extLst>
              <a:ext uri="{FF2B5EF4-FFF2-40B4-BE49-F238E27FC236}">
                <a16:creationId xmlns:a16="http://schemas.microsoft.com/office/drawing/2014/main" id="{1121A92F-32FD-55E7-7EC9-7F00B6309EF6}"/>
              </a:ext>
            </a:extLst>
          </p:cNvPr>
          <p:cNvSpPr txBox="1"/>
          <p:nvPr/>
        </p:nvSpPr>
        <p:spPr>
          <a:xfrm>
            <a:off x="6244762" y="2265185"/>
            <a:ext cx="1134521" cy="215444"/>
          </a:xfrm>
          <a:prstGeom prst="rect">
            <a:avLst/>
          </a:prstGeom>
          <a:noFill/>
        </p:spPr>
        <p:txBody>
          <a:bodyPr wrap="square" rtlCol="0">
            <a:spAutoFit/>
          </a:bodyPr>
          <a:lstStyle/>
          <a:p>
            <a:r>
              <a:rPr lang="en-US" sz="800" dirty="0">
                <a:solidFill>
                  <a:schemeClr val="tx2">
                    <a:lumMod val="75000"/>
                  </a:schemeClr>
                </a:solidFill>
              </a:rPr>
              <a:t>Adapted model</a:t>
            </a:r>
          </a:p>
        </p:txBody>
      </p:sp>
      <p:cxnSp>
        <p:nvCxnSpPr>
          <p:cNvPr id="19" name="Straight Arrow Connector 18">
            <a:extLst>
              <a:ext uri="{FF2B5EF4-FFF2-40B4-BE49-F238E27FC236}">
                <a16:creationId xmlns:a16="http://schemas.microsoft.com/office/drawing/2014/main" id="{B3BDEA0A-23BB-CAD2-589C-DCAA231BC8B9}"/>
              </a:ext>
            </a:extLst>
          </p:cNvPr>
          <p:cNvCxnSpPr>
            <a:cxnSpLocks/>
          </p:cNvCxnSpPr>
          <p:nvPr/>
        </p:nvCxnSpPr>
        <p:spPr>
          <a:xfrm flipH="1" flipV="1">
            <a:off x="6083559" y="2150706"/>
            <a:ext cx="184569" cy="17494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A06CA54E-BFD3-8626-6EC3-ADA1AA9F8412}"/>
              </a:ext>
            </a:extLst>
          </p:cNvPr>
          <p:cNvSpPr txBox="1"/>
          <p:nvPr/>
        </p:nvSpPr>
        <p:spPr>
          <a:xfrm>
            <a:off x="5605589" y="1114949"/>
            <a:ext cx="1134521" cy="215444"/>
          </a:xfrm>
          <a:prstGeom prst="rect">
            <a:avLst/>
          </a:prstGeom>
          <a:noFill/>
        </p:spPr>
        <p:txBody>
          <a:bodyPr wrap="square" rtlCol="0">
            <a:spAutoFit/>
          </a:bodyPr>
          <a:lstStyle/>
          <a:p>
            <a:r>
              <a:rPr lang="en-US" sz="800" dirty="0">
                <a:solidFill>
                  <a:schemeClr val="tx2">
                    <a:lumMod val="75000"/>
                  </a:schemeClr>
                </a:solidFill>
              </a:rPr>
              <a:t>Initial guess</a:t>
            </a:r>
          </a:p>
        </p:txBody>
      </p:sp>
      <p:cxnSp>
        <p:nvCxnSpPr>
          <p:cNvPr id="22" name="Straight Arrow Connector 21">
            <a:extLst>
              <a:ext uri="{FF2B5EF4-FFF2-40B4-BE49-F238E27FC236}">
                <a16:creationId xmlns:a16="http://schemas.microsoft.com/office/drawing/2014/main" id="{8B0DFCE0-4AEF-52EA-26B8-F65345B19881}"/>
              </a:ext>
            </a:extLst>
          </p:cNvPr>
          <p:cNvCxnSpPr>
            <a:cxnSpLocks/>
          </p:cNvCxnSpPr>
          <p:nvPr/>
        </p:nvCxnSpPr>
        <p:spPr>
          <a:xfrm>
            <a:off x="5661427" y="1281469"/>
            <a:ext cx="254181" cy="9946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g3958929c9b2_1_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Data Driven DMD</a:t>
            </a:r>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FFDCDBD-CE07-3AFD-7ABF-563C7AFE66CC}"/>
                  </a:ext>
                </a:extLst>
              </p:cNvPr>
              <p:cNvSpPr txBox="1"/>
              <p:nvPr/>
            </p:nvSpPr>
            <p:spPr>
              <a:xfrm>
                <a:off x="349249" y="963702"/>
                <a:ext cx="6548697" cy="1477328"/>
              </a:xfrm>
              <a:prstGeom prst="rect">
                <a:avLst/>
              </a:prstGeom>
              <a:noFill/>
            </p:spPr>
            <p:txBody>
              <a:bodyPr wrap="square" rtlCol="0">
                <a:spAutoFit/>
              </a:bodyPr>
              <a:lstStyle/>
              <a:p>
                <a:r>
                  <a:rPr lang="en-US" dirty="0"/>
                  <a:t>Goal: Define a system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𝑘</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𝐺</m:t>
                    </m:r>
                    <m:sSup>
                      <m:sSupPr>
                        <m:ctrlPr>
                          <a:rPr lang="en-US" sz="2000" b="0" i="1" smtClean="0">
                            <a:latin typeface="Cambria Math" panose="02040503050406030204" pitchFamily="18" charset="0"/>
                          </a:rPr>
                        </m:ctrlPr>
                      </m:sSupPr>
                      <m:e>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𝑘</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𝑘</m:t>
                                </m:r>
                              </m:sub>
                            </m:sSub>
                          </m:e>
                        </m:d>
                      </m:e>
                      <m:sup>
                        <m:r>
                          <a:rPr lang="en-US" sz="2000" b="0" i="1" smtClean="0">
                            <a:latin typeface="Cambria Math" panose="02040503050406030204" pitchFamily="18" charset="0"/>
                          </a:rPr>
                          <m:t>𝑇</m:t>
                        </m:r>
                      </m:sup>
                    </m:sSup>
                  </m:oMath>
                </a14:m>
                <a:endParaRPr lang="en-US" sz="2000" b="0" dirty="0"/>
              </a:p>
              <a:p>
                <a:r>
                  <a:rPr lang="en-US" b="0" dirty="0"/>
                  <a:t>We need to find a </a:t>
                </a:r>
                <a:r>
                  <a:rPr lang="en-US" dirty="0"/>
                  <a:t>matrix </a:t>
                </a:r>
                <a14:m>
                  <m:oMath xmlns:m="http://schemas.openxmlformats.org/officeDocument/2006/math">
                    <m:r>
                      <a:rPr lang="en-US" b="1" i="1" dirty="0" smtClean="0">
                        <a:latin typeface="Cambria Math" panose="02040503050406030204" pitchFamily="18" charset="0"/>
                      </a:rPr>
                      <m:t>𝑮</m:t>
                    </m:r>
                  </m:oMath>
                </a14:m>
                <a:r>
                  <a:rPr lang="en-US" b="1" dirty="0"/>
                  <a:t> </a:t>
                </a:r>
                <a:r>
                  <a:rPr lang="en-US" dirty="0"/>
                  <a:t>that advances the state respecting the dynamics</a:t>
                </a:r>
              </a:p>
              <a:p>
                <a:endParaRPr lang="en-US" b="0" dirty="0"/>
              </a:p>
              <a:p>
                <a:r>
                  <a:rPr lang="en-US" b="0" dirty="0"/>
                  <a:t> </a:t>
                </a:r>
              </a:p>
              <a:p>
                <a:endParaRPr lang="en-US" b="0" dirty="0"/>
              </a:p>
              <a:p>
                <a:endParaRPr lang="en-US" dirty="0"/>
              </a:p>
            </p:txBody>
          </p:sp>
        </mc:Choice>
        <mc:Fallback xmlns="">
          <p:sp>
            <p:nvSpPr>
              <p:cNvPr id="2" name="TextBox 1">
                <a:extLst>
                  <a:ext uri="{FF2B5EF4-FFF2-40B4-BE49-F238E27FC236}">
                    <a16:creationId xmlns:a16="http://schemas.microsoft.com/office/drawing/2014/main" id="{1FFDCDBD-CE07-3AFD-7ABF-563C7AFE66CC}"/>
                  </a:ext>
                </a:extLst>
              </p:cNvPr>
              <p:cNvSpPr txBox="1">
                <a:spLocks noRot="1" noChangeAspect="1" noMove="1" noResize="1" noEditPoints="1" noAdjustHandles="1" noChangeArrowheads="1" noChangeShapeType="1" noTextEdit="1"/>
              </p:cNvSpPr>
              <p:nvPr/>
            </p:nvSpPr>
            <p:spPr>
              <a:xfrm>
                <a:off x="349249" y="963702"/>
                <a:ext cx="6548697" cy="1477328"/>
              </a:xfrm>
              <a:prstGeom prst="rect">
                <a:avLst/>
              </a:prstGeom>
              <a:blipFill>
                <a:blip r:embed="rId3"/>
                <a:stretch>
                  <a:fillRect l="-279"/>
                </a:stretch>
              </a:blipFill>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16DDABE4-42D4-6FF6-8738-2DAE1717D04C}"/>
              </a:ext>
            </a:extLst>
          </p:cNvPr>
          <p:cNvGrpSpPr/>
          <p:nvPr/>
        </p:nvGrpSpPr>
        <p:grpSpPr>
          <a:xfrm>
            <a:off x="5172868" y="4444098"/>
            <a:ext cx="3453271" cy="215444"/>
            <a:chOff x="5209536" y="4494390"/>
            <a:chExt cx="3453271" cy="215444"/>
          </a:xfrm>
        </p:grpSpPr>
        <p:sp>
          <p:nvSpPr>
            <p:cNvPr id="33" name="Rechteck 3">
              <a:extLst>
                <a:ext uri="{FF2B5EF4-FFF2-40B4-BE49-F238E27FC236}">
                  <a16:creationId xmlns:a16="http://schemas.microsoft.com/office/drawing/2014/main" id="{6490BB14-169F-D9F2-C087-0C5486ACCFB5}"/>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t>Introduction</a:t>
              </a:r>
            </a:p>
          </p:txBody>
        </p:sp>
        <p:sp>
          <p:nvSpPr>
            <p:cNvPr id="34" name="Rechteck 4">
              <a:extLst>
                <a:ext uri="{FF2B5EF4-FFF2-40B4-BE49-F238E27FC236}">
                  <a16:creationId xmlns:a16="http://schemas.microsoft.com/office/drawing/2014/main" id="{411B53B0-6A06-AF38-1E73-92707C075DA4}"/>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35" name="Rechteck 5">
              <a:extLst>
                <a:ext uri="{FF2B5EF4-FFF2-40B4-BE49-F238E27FC236}">
                  <a16:creationId xmlns:a16="http://schemas.microsoft.com/office/drawing/2014/main" id="{E9C01B86-C134-AE4A-F74C-E15820F3B36E}"/>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Methodology</a:t>
              </a:r>
              <a:endParaRPr lang="de-DE" sz="800" dirty="0"/>
            </a:p>
          </p:txBody>
        </p:sp>
        <p:sp>
          <p:nvSpPr>
            <p:cNvPr id="36" name="Rechteck 6">
              <a:extLst>
                <a:ext uri="{FF2B5EF4-FFF2-40B4-BE49-F238E27FC236}">
                  <a16:creationId xmlns:a16="http://schemas.microsoft.com/office/drawing/2014/main" id="{A2D1A3A2-4898-614E-E459-34F200D47F85}"/>
                </a:ext>
              </a:extLst>
            </p:cNvPr>
            <p:cNvSpPr/>
            <p:nvPr/>
          </p:nvSpPr>
          <p:spPr bwMode="auto">
            <a:xfrm>
              <a:off x="7798711"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solidFill>
                    <a:schemeClr val="bg1"/>
                  </a:solidFill>
                </a:rPr>
                <a:t>Results</a:t>
              </a:r>
              <a:endParaRPr lang="de-DE" sz="800" dirty="0">
                <a:solidFill>
                  <a:schemeClr val="bg1"/>
                </a:solidFill>
              </a:endParaRPr>
            </a:p>
          </p:txBody>
        </p:sp>
      </p:grpSp>
      <p:sp>
        <p:nvSpPr>
          <p:cNvPr id="37" name="TextBox 36">
            <a:extLst>
              <a:ext uri="{FF2B5EF4-FFF2-40B4-BE49-F238E27FC236}">
                <a16:creationId xmlns:a16="http://schemas.microsoft.com/office/drawing/2014/main" id="{BCC0C8EE-7FCA-7B63-E4F7-8E4AA7CF4198}"/>
              </a:ext>
            </a:extLst>
          </p:cNvPr>
          <p:cNvSpPr txBox="1"/>
          <p:nvPr/>
        </p:nvSpPr>
        <p:spPr>
          <a:xfrm>
            <a:off x="6154911" y="4778618"/>
            <a:ext cx="2282158" cy="307777"/>
          </a:xfrm>
          <a:prstGeom prst="rect">
            <a:avLst/>
          </a:prstGeom>
          <a:noFill/>
        </p:spPr>
        <p:txBody>
          <a:bodyPr wrap="square" rtlCol="0">
            <a:spAutoFit/>
          </a:bodyPr>
          <a:lstStyle/>
          <a:p>
            <a:r>
              <a:rPr lang="en-US" sz="700" dirty="0"/>
              <a:t>Based: Proctor et al. Dynamic mode decomposition with control [5]</a:t>
            </a:r>
            <a:endParaRPr lang="en-US" sz="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7A0E3719-FC0D-E89D-2A87-808CACD803CA}"/>
            </a:ext>
          </a:extLst>
        </p:cNvPr>
        <p:cNvGrpSpPr/>
        <p:nvPr/>
      </p:nvGrpSpPr>
      <p:grpSpPr>
        <a:xfrm>
          <a:off x="0" y="0"/>
          <a:ext cx="0" cy="0"/>
          <a:chOff x="0" y="0"/>
          <a:chExt cx="0" cy="0"/>
        </a:xfrm>
      </p:grpSpPr>
      <p:sp>
        <p:nvSpPr>
          <p:cNvPr id="186" name="Google Shape;186;g3958929c9b2_1_34">
            <a:extLst>
              <a:ext uri="{FF2B5EF4-FFF2-40B4-BE49-F238E27FC236}">
                <a16:creationId xmlns:a16="http://schemas.microsoft.com/office/drawing/2014/main" id="{14F004AE-F2B5-B083-F85F-CF1961B7F092}"/>
              </a:ext>
            </a:extLst>
          </p:cNvPr>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Data Driven DMD</a:t>
            </a:r>
            <a:endParaRPr/>
          </a:p>
        </p:txBody>
      </p:sp>
      <p:grpSp>
        <p:nvGrpSpPr>
          <p:cNvPr id="32" name="Group 31">
            <a:extLst>
              <a:ext uri="{FF2B5EF4-FFF2-40B4-BE49-F238E27FC236}">
                <a16:creationId xmlns:a16="http://schemas.microsoft.com/office/drawing/2014/main" id="{379BE7CF-2170-32EE-B1E1-0970127D3336}"/>
              </a:ext>
            </a:extLst>
          </p:cNvPr>
          <p:cNvGrpSpPr/>
          <p:nvPr/>
        </p:nvGrpSpPr>
        <p:grpSpPr>
          <a:xfrm>
            <a:off x="5172868" y="4444098"/>
            <a:ext cx="3453271" cy="215444"/>
            <a:chOff x="5209536" y="4494390"/>
            <a:chExt cx="3453271" cy="215444"/>
          </a:xfrm>
        </p:grpSpPr>
        <p:sp>
          <p:nvSpPr>
            <p:cNvPr id="33" name="Rechteck 3">
              <a:extLst>
                <a:ext uri="{FF2B5EF4-FFF2-40B4-BE49-F238E27FC236}">
                  <a16:creationId xmlns:a16="http://schemas.microsoft.com/office/drawing/2014/main" id="{FBAEB6B1-C3A4-1C48-DA96-AB46B369C8ED}"/>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t>Introduction</a:t>
              </a:r>
            </a:p>
          </p:txBody>
        </p:sp>
        <p:sp>
          <p:nvSpPr>
            <p:cNvPr id="34" name="Rechteck 4">
              <a:extLst>
                <a:ext uri="{FF2B5EF4-FFF2-40B4-BE49-F238E27FC236}">
                  <a16:creationId xmlns:a16="http://schemas.microsoft.com/office/drawing/2014/main" id="{A969A4B9-0AF3-4E77-643B-2A70FDBD0467}"/>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35" name="Rechteck 5">
              <a:extLst>
                <a:ext uri="{FF2B5EF4-FFF2-40B4-BE49-F238E27FC236}">
                  <a16:creationId xmlns:a16="http://schemas.microsoft.com/office/drawing/2014/main" id="{E56E6C62-D502-A738-1289-3D1CD8814841}"/>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Methodology</a:t>
              </a:r>
              <a:endParaRPr lang="de-DE" sz="800" dirty="0"/>
            </a:p>
          </p:txBody>
        </p:sp>
        <p:sp>
          <p:nvSpPr>
            <p:cNvPr id="36" name="Rechteck 6">
              <a:extLst>
                <a:ext uri="{FF2B5EF4-FFF2-40B4-BE49-F238E27FC236}">
                  <a16:creationId xmlns:a16="http://schemas.microsoft.com/office/drawing/2014/main" id="{251FD308-25C2-6E14-B796-33DB472514D4}"/>
                </a:ext>
              </a:extLst>
            </p:cNvPr>
            <p:cNvSpPr/>
            <p:nvPr/>
          </p:nvSpPr>
          <p:spPr bwMode="auto">
            <a:xfrm>
              <a:off x="7798711"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solidFill>
                    <a:schemeClr val="bg1"/>
                  </a:solidFill>
                </a:rPr>
                <a:t>Results</a:t>
              </a:r>
              <a:endParaRPr lang="de-DE" sz="800" dirty="0">
                <a:solidFill>
                  <a:schemeClr val="bg1"/>
                </a:solidFill>
              </a:endParaRPr>
            </a:p>
          </p:txBody>
        </p:sp>
      </p:grpSp>
      <p:sp>
        <p:nvSpPr>
          <p:cNvPr id="37" name="TextBox 36">
            <a:extLst>
              <a:ext uri="{FF2B5EF4-FFF2-40B4-BE49-F238E27FC236}">
                <a16:creationId xmlns:a16="http://schemas.microsoft.com/office/drawing/2014/main" id="{DB5611F7-AA67-0593-69DD-3419C4F5DD65}"/>
              </a:ext>
            </a:extLst>
          </p:cNvPr>
          <p:cNvSpPr txBox="1"/>
          <p:nvPr/>
        </p:nvSpPr>
        <p:spPr>
          <a:xfrm>
            <a:off x="6154911" y="4778618"/>
            <a:ext cx="2282158" cy="307777"/>
          </a:xfrm>
          <a:prstGeom prst="rect">
            <a:avLst/>
          </a:prstGeom>
          <a:noFill/>
        </p:spPr>
        <p:txBody>
          <a:bodyPr wrap="square" rtlCol="0">
            <a:spAutoFit/>
          </a:bodyPr>
          <a:lstStyle/>
          <a:p>
            <a:r>
              <a:rPr lang="en-US" sz="700" dirty="0"/>
              <a:t>Based: Proctor et al. Dynamic mode decomposition with control [5]</a:t>
            </a:r>
            <a:endParaRPr lang="en-US" sz="100" dirty="0"/>
          </a:p>
        </p:txBody>
      </p:sp>
      <p:grpSp>
        <p:nvGrpSpPr>
          <p:cNvPr id="38" name="Group 37">
            <a:extLst>
              <a:ext uri="{FF2B5EF4-FFF2-40B4-BE49-F238E27FC236}">
                <a16:creationId xmlns:a16="http://schemas.microsoft.com/office/drawing/2014/main" id="{445829DC-A2D7-35E6-239C-C5B762586F61}"/>
              </a:ext>
            </a:extLst>
          </p:cNvPr>
          <p:cNvGrpSpPr/>
          <p:nvPr/>
        </p:nvGrpSpPr>
        <p:grpSpPr>
          <a:xfrm>
            <a:off x="260350" y="1490550"/>
            <a:ext cx="4776788" cy="2953548"/>
            <a:chOff x="260350" y="1490550"/>
            <a:chExt cx="4776788" cy="2953548"/>
          </a:xfrm>
        </p:grpSpPr>
        <p:pic>
          <p:nvPicPr>
            <p:cNvPr id="39" name="Picture 38" descr="The diagram illustrates a control system's block diagram, showing a series of components including an input block, an operator, shifted output blocks, and a Hankel matrix for processing temperature and power history data to optimize a system.&#10;&#10;AI-generated content may be incorrect.">
              <a:extLst>
                <a:ext uri="{FF2B5EF4-FFF2-40B4-BE49-F238E27FC236}">
                  <a16:creationId xmlns:a16="http://schemas.microsoft.com/office/drawing/2014/main" id="{9AB16A6F-40DF-76F2-A464-AAE09CFC0936}"/>
                </a:ext>
              </a:extLst>
            </p:cNvPr>
            <p:cNvPicPr>
              <a:picLocks noChangeAspect="1"/>
            </p:cNvPicPr>
            <p:nvPr/>
          </p:nvPicPr>
          <p:blipFill>
            <a:blip r:embed="rId3"/>
            <a:stretch>
              <a:fillRect/>
            </a:stretch>
          </p:blipFill>
          <p:spPr>
            <a:xfrm>
              <a:off x="260350" y="1490550"/>
              <a:ext cx="4776788" cy="2608507"/>
            </a:xfrm>
            <a:prstGeom prst="rect">
              <a:avLst/>
            </a:prstGeom>
          </p:spPr>
        </p:pic>
        <p:sp>
          <p:nvSpPr>
            <p:cNvPr id="40" name="Google Shape;150;g3cbd0e6f7a2_2_8">
              <a:extLst>
                <a:ext uri="{FF2B5EF4-FFF2-40B4-BE49-F238E27FC236}">
                  <a16:creationId xmlns:a16="http://schemas.microsoft.com/office/drawing/2014/main" id="{6AC276ED-8C27-2990-A9F2-C74FB8D1F3A9}"/>
                </a:ext>
              </a:extLst>
            </p:cNvPr>
            <p:cNvSpPr txBox="1"/>
            <p:nvPr/>
          </p:nvSpPr>
          <p:spPr>
            <a:xfrm>
              <a:off x="1628129" y="4078698"/>
              <a:ext cx="2405607" cy="365400"/>
            </a:xfrm>
            <a:prstGeom prst="rect">
              <a:avLst/>
            </a:prstGeom>
            <a:noFill/>
            <a:ln>
              <a:noFill/>
            </a:ln>
          </p:spPr>
          <p:txBody>
            <a:bodyPr spcFirstLastPara="1" wrap="square" lIns="91425" tIns="91425" rIns="91425" bIns="91425" anchor="t" anchorCtr="0">
              <a:noAutofit/>
            </a:bodyPr>
            <a:lstStyle/>
            <a:p>
              <a:pPr lvl="0"/>
              <a:r>
                <a:rPr lang="de-DE" b="1" dirty="0"/>
                <a:t>Fig. 15 </a:t>
              </a:r>
              <a:r>
                <a:rPr lang="de-DE" dirty="0"/>
                <a:t>Hankel DMD </a:t>
              </a:r>
              <a:r>
                <a:rPr lang="de-DE" sz="800" dirty="0"/>
                <a:t>[*]</a:t>
              </a:r>
              <a:endParaRPr dirty="0"/>
            </a:p>
          </p:txBody>
        </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F29BFD6-13D7-1B29-6DCF-0E371145A197}"/>
                  </a:ext>
                </a:extLst>
              </p:cNvPr>
              <p:cNvSpPr txBox="1"/>
              <p:nvPr/>
            </p:nvSpPr>
            <p:spPr>
              <a:xfrm>
                <a:off x="349249" y="963702"/>
                <a:ext cx="6548697" cy="1477328"/>
              </a:xfrm>
              <a:prstGeom prst="rect">
                <a:avLst/>
              </a:prstGeom>
              <a:noFill/>
            </p:spPr>
            <p:txBody>
              <a:bodyPr wrap="square" rtlCol="0">
                <a:spAutoFit/>
              </a:bodyPr>
              <a:lstStyle/>
              <a:p>
                <a:r>
                  <a:rPr lang="en-US" dirty="0"/>
                  <a:t>Goal: Define a system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𝑘</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𝐺</m:t>
                    </m:r>
                    <m:sSup>
                      <m:sSupPr>
                        <m:ctrlPr>
                          <a:rPr lang="en-US" sz="2000" b="0" i="1" smtClean="0">
                            <a:latin typeface="Cambria Math" panose="02040503050406030204" pitchFamily="18" charset="0"/>
                          </a:rPr>
                        </m:ctrlPr>
                      </m:sSupPr>
                      <m:e>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𝑘</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𝑘</m:t>
                                </m:r>
                              </m:sub>
                            </m:sSub>
                          </m:e>
                        </m:d>
                      </m:e>
                      <m:sup>
                        <m:r>
                          <a:rPr lang="en-US" sz="2000" b="0" i="1" smtClean="0">
                            <a:latin typeface="Cambria Math" panose="02040503050406030204" pitchFamily="18" charset="0"/>
                          </a:rPr>
                          <m:t>𝑇</m:t>
                        </m:r>
                      </m:sup>
                    </m:sSup>
                  </m:oMath>
                </a14:m>
                <a:endParaRPr lang="en-US" sz="2000" b="0" dirty="0"/>
              </a:p>
              <a:p>
                <a:r>
                  <a:rPr lang="en-US" b="0" dirty="0"/>
                  <a:t>We need to find a </a:t>
                </a:r>
                <a:r>
                  <a:rPr lang="en-US" dirty="0"/>
                  <a:t>matrix </a:t>
                </a:r>
                <a14:m>
                  <m:oMath xmlns:m="http://schemas.openxmlformats.org/officeDocument/2006/math">
                    <m:r>
                      <a:rPr lang="en-US" b="1" i="1" dirty="0" smtClean="0">
                        <a:latin typeface="Cambria Math" panose="02040503050406030204" pitchFamily="18" charset="0"/>
                      </a:rPr>
                      <m:t>𝑮</m:t>
                    </m:r>
                  </m:oMath>
                </a14:m>
                <a:r>
                  <a:rPr lang="en-US" b="1" dirty="0"/>
                  <a:t> </a:t>
                </a:r>
                <a:r>
                  <a:rPr lang="en-US" dirty="0"/>
                  <a:t>that advances the state respecting the dynamics</a:t>
                </a:r>
              </a:p>
              <a:p>
                <a:endParaRPr lang="en-US" b="0" dirty="0"/>
              </a:p>
              <a:p>
                <a:r>
                  <a:rPr lang="en-US" b="0" dirty="0"/>
                  <a:t> </a:t>
                </a:r>
              </a:p>
              <a:p>
                <a:endParaRPr lang="en-US" b="0" dirty="0"/>
              </a:p>
              <a:p>
                <a:endParaRPr lang="en-US" dirty="0"/>
              </a:p>
            </p:txBody>
          </p:sp>
        </mc:Choice>
        <mc:Fallback xmlns="">
          <p:sp>
            <p:nvSpPr>
              <p:cNvPr id="4" name="TextBox 3">
                <a:extLst>
                  <a:ext uri="{FF2B5EF4-FFF2-40B4-BE49-F238E27FC236}">
                    <a16:creationId xmlns:a16="http://schemas.microsoft.com/office/drawing/2014/main" id="{FF29BFD6-13D7-1B29-6DCF-0E371145A197}"/>
                  </a:ext>
                </a:extLst>
              </p:cNvPr>
              <p:cNvSpPr txBox="1">
                <a:spLocks noRot="1" noChangeAspect="1" noMove="1" noResize="1" noEditPoints="1" noAdjustHandles="1" noChangeArrowheads="1" noChangeShapeType="1" noTextEdit="1"/>
              </p:cNvSpPr>
              <p:nvPr/>
            </p:nvSpPr>
            <p:spPr>
              <a:xfrm>
                <a:off x="349249" y="963702"/>
                <a:ext cx="6548697" cy="1477328"/>
              </a:xfrm>
              <a:prstGeom prst="rect">
                <a:avLst/>
              </a:prstGeom>
              <a:blipFill>
                <a:blip r:embed="rId4"/>
                <a:stretch>
                  <a:fillRect l="-279"/>
                </a:stretch>
              </a:blipFill>
            </p:spPr>
            <p:txBody>
              <a:bodyPr/>
              <a:lstStyle/>
              <a:p>
                <a:r>
                  <a:rPr lang="en-US">
                    <a:noFill/>
                  </a:rPr>
                  <a:t> </a:t>
                </a:r>
              </a:p>
            </p:txBody>
          </p:sp>
        </mc:Fallback>
      </mc:AlternateContent>
    </p:spTree>
    <p:extLst>
      <p:ext uri="{BB962C8B-B14F-4D97-AF65-F5344CB8AC3E}">
        <p14:creationId xmlns:p14="http://schemas.microsoft.com/office/powerpoint/2010/main" val="1379808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5AE53A52-5912-963C-B674-50A12A912448}"/>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A24CE0F7-70DE-05C2-844C-0D2002C72FFC}"/>
              </a:ext>
            </a:extLst>
          </p:cNvPr>
          <p:cNvGrpSpPr/>
          <p:nvPr/>
        </p:nvGrpSpPr>
        <p:grpSpPr>
          <a:xfrm>
            <a:off x="260350" y="1490550"/>
            <a:ext cx="4776788" cy="2953548"/>
            <a:chOff x="260350" y="1490550"/>
            <a:chExt cx="4776788" cy="2953548"/>
          </a:xfrm>
        </p:grpSpPr>
        <p:pic>
          <p:nvPicPr>
            <p:cNvPr id="27" name="Picture 26" descr="The diagram illustrates a control system's block diagram, showing a series of components including an input block, an operator, shifted output blocks, and a Hankel matrix for processing temperature and power history data to optimize a system.&#10;&#10;AI-generated content may be incorrect.">
              <a:extLst>
                <a:ext uri="{FF2B5EF4-FFF2-40B4-BE49-F238E27FC236}">
                  <a16:creationId xmlns:a16="http://schemas.microsoft.com/office/drawing/2014/main" id="{9539EC19-C551-5E2F-9D73-981F2038385F}"/>
                </a:ext>
              </a:extLst>
            </p:cNvPr>
            <p:cNvPicPr>
              <a:picLocks noChangeAspect="1"/>
            </p:cNvPicPr>
            <p:nvPr/>
          </p:nvPicPr>
          <p:blipFill>
            <a:blip r:embed="rId3"/>
            <a:stretch>
              <a:fillRect/>
            </a:stretch>
          </p:blipFill>
          <p:spPr>
            <a:xfrm>
              <a:off x="260350" y="1490550"/>
              <a:ext cx="4776788" cy="2608507"/>
            </a:xfrm>
            <a:prstGeom prst="rect">
              <a:avLst/>
            </a:prstGeom>
          </p:spPr>
        </p:pic>
        <p:sp>
          <p:nvSpPr>
            <p:cNvPr id="28" name="Google Shape;150;g3cbd0e6f7a2_2_8">
              <a:extLst>
                <a:ext uri="{FF2B5EF4-FFF2-40B4-BE49-F238E27FC236}">
                  <a16:creationId xmlns:a16="http://schemas.microsoft.com/office/drawing/2014/main" id="{2B323ED8-AD88-E601-2247-000795CCFE76}"/>
                </a:ext>
              </a:extLst>
            </p:cNvPr>
            <p:cNvSpPr txBox="1"/>
            <p:nvPr/>
          </p:nvSpPr>
          <p:spPr>
            <a:xfrm>
              <a:off x="1628129" y="4078698"/>
              <a:ext cx="2405607" cy="365400"/>
            </a:xfrm>
            <a:prstGeom prst="rect">
              <a:avLst/>
            </a:prstGeom>
            <a:noFill/>
            <a:ln>
              <a:noFill/>
            </a:ln>
          </p:spPr>
          <p:txBody>
            <a:bodyPr spcFirstLastPara="1" wrap="square" lIns="91425" tIns="91425" rIns="91425" bIns="91425" anchor="t" anchorCtr="0">
              <a:noAutofit/>
            </a:bodyPr>
            <a:lstStyle/>
            <a:p>
              <a:pPr lvl="0"/>
              <a:r>
                <a:rPr lang="de-DE" b="1" dirty="0"/>
                <a:t>Fig. 15 </a:t>
              </a:r>
              <a:r>
                <a:rPr lang="de-DE" dirty="0"/>
                <a:t>Hankel DMD </a:t>
              </a:r>
              <a:r>
                <a:rPr lang="de-DE" sz="800" dirty="0"/>
                <a:t>[*]</a:t>
              </a:r>
              <a:endParaRPr dirty="0"/>
            </a:p>
          </p:txBody>
        </p:sp>
      </p:grpSp>
      <p:sp>
        <p:nvSpPr>
          <p:cNvPr id="186" name="Google Shape;186;g3958929c9b2_1_34">
            <a:extLst>
              <a:ext uri="{FF2B5EF4-FFF2-40B4-BE49-F238E27FC236}">
                <a16:creationId xmlns:a16="http://schemas.microsoft.com/office/drawing/2014/main" id="{60FE2774-1E6B-79B0-7533-6B5C5906DF1D}"/>
              </a:ext>
            </a:extLst>
          </p:cNvPr>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Data Driven DMD</a:t>
            </a:r>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6294DA6-C24C-5CA9-48C3-EE56BE0F259B}"/>
                  </a:ext>
                </a:extLst>
              </p:cNvPr>
              <p:cNvSpPr txBox="1"/>
              <p:nvPr/>
            </p:nvSpPr>
            <p:spPr>
              <a:xfrm>
                <a:off x="304701" y="4447827"/>
                <a:ext cx="1161728" cy="454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2</m:t>
                          </m:r>
                        </m:sub>
                      </m:sSub>
                      <m:sSubSup>
                        <m:sSubSupPr>
                          <m:ctrlPr>
                            <a:rPr lang="en-US" b="0" i="1" smtClean="0">
                              <a:latin typeface="Cambria Math" panose="02040503050406030204" pitchFamily="18" charset="0"/>
                            </a:rPr>
                          </m:ctrlPr>
                        </m:sSubSupPr>
                        <m:e>
                          <m:r>
                            <a:rPr lang="en-US" b="0" i="0" smtClean="0">
                              <a:latin typeface="Cambria Math" panose="02040503050406030204" pitchFamily="18" charset="0"/>
                            </a:rPr>
                            <m:t>    </m:t>
                          </m:r>
                          <m:r>
                            <m:rPr>
                              <m:sty m:val="p"/>
                            </m:rPr>
                            <a:rPr lang="en-US" b="0" i="0" smtClean="0">
                              <a:latin typeface="Cambria Math" panose="02040503050406030204" pitchFamily="18" charset="0"/>
                            </a:rPr>
                            <m:t>Ω</m:t>
                          </m:r>
                        </m:e>
                        <m:sub>
                          <m:r>
                            <m:rPr>
                              <m:sty m:val="p"/>
                            </m:rPr>
                            <a:rPr lang="en-US" b="0" i="1" smtClean="0">
                              <a:latin typeface="Cambria Math" panose="02040503050406030204" pitchFamily="18" charset="0"/>
                            </a:rPr>
                            <m:t>aug</m:t>
                          </m:r>
                        </m:sub>
                        <m:sup>
                          <m:r>
                            <a:rPr lang="en-US" b="0" i="1" smtClean="0">
                              <a:latin typeface="Cambria Math" panose="02040503050406030204" pitchFamily="18" charset="0"/>
                            </a:rPr>
                            <m:t>−1</m:t>
                          </m:r>
                        </m:sup>
                      </m:sSubSup>
                    </m:oMath>
                  </m:oMathPara>
                </a14:m>
                <a:endParaRPr lang="en-US" b="0" dirty="0"/>
              </a:p>
              <a:p>
                <a:endParaRPr lang="en-US" dirty="0"/>
              </a:p>
            </p:txBody>
          </p:sp>
        </mc:Choice>
        <mc:Fallback xmlns="">
          <p:sp>
            <p:nvSpPr>
              <p:cNvPr id="14" name="TextBox 13">
                <a:extLst>
                  <a:ext uri="{FF2B5EF4-FFF2-40B4-BE49-F238E27FC236}">
                    <a16:creationId xmlns:a16="http://schemas.microsoft.com/office/drawing/2014/main" id="{86294DA6-C24C-5CA9-48C3-EE56BE0F259B}"/>
                  </a:ext>
                </a:extLst>
              </p:cNvPr>
              <p:cNvSpPr txBox="1">
                <a:spLocks noRot="1" noChangeAspect="1" noMove="1" noResize="1" noEditPoints="1" noAdjustHandles="1" noChangeArrowheads="1" noChangeShapeType="1" noTextEdit="1"/>
              </p:cNvSpPr>
              <p:nvPr/>
            </p:nvSpPr>
            <p:spPr>
              <a:xfrm>
                <a:off x="304701" y="4447827"/>
                <a:ext cx="1161728" cy="454996"/>
              </a:xfrm>
              <a:prstGeom prst="rect">
                <a:avLst/>
              </a:prstGeom>
              <a:blipFill>
                <a:blip r:embed="rId4"/>
                <a:stretch>
                  <a:fillRect l="-1047"/>
                </a:stretch>
              </a:blipFill>
            </p:spPr>
            <p:txBody>
              <a:bodyPr/>
              <a:lstStyle/>
              <a:p>
                <a:r>
                  <a:rPr lang="en-US">
                    <a:noFill/>
                  </a:rPr>
                  <a:t> </a:t>
                </a:r>
              </a:p>
            </p:txBody>
          </p:sp>
        </mc:Fallback>
      </mc:AlternateContent>
      <p:grpSp>
        <p:nvGrpSpPr>
          <p:cNvPr id="24" name="Group 23">
            <a:extLst>
              <a:ext uri="{FF2B5EF4-FFF2-40B4-BE49-F238E27FC236}">
                <a16:creationId xmlns:a16="http://schemas.microsoft.com/office/drawing/2014/main" id="{DB50B75B-5BF4-747F-F2F5-E879EC0159E4}"/>
              </a:ext>
            </a:extLst>
          </p:cNvPr>
          <p:cNvGrpSpPr/>
          <p:nvPr/>
        </p:nvGrpSpPr>
        <p:grpSpPr>
          <a:xfrm>
            <a:off x="1066343" y="4444098"/>
            <a:ext cx="3582853" cy="334520"/>
            <a:chOff x="1083249" y="4179798"/>
            <a:chExt cx="3582853" cy="334520"/>
          </a:xfrm>
        </p:grpSpPr>
        <p:cxnSp>
          <p:nvCxnSpPr>
            <p:cNvPr id="15" name="Straight Arrow Connector 14">
              <a:extLst>
                <a:ext uri="{FF2B5EF4-FFF2-40B4-BE49-F238E27FC236}">
                  <a16:creationId xmlns:a16="http://schemas.microsoft.com/office/drawing/2014/main" id="{770420C4-BCEC-8061-6F7E-A9FFA43D6488}"/>
                </a:ext>
              </a:extLst>
            </p:cNvPr>
            <p:cNvCxnSpPr>
              <a:cxnSpLocks/>
            </p:cNvCxnSpPr>
            <p:nvPr/>
          </p:nvCxnSpPr>
          <p:spPr>
            <a:xfrm>
              <a:off x="1559718" y="4347058"/>
              <a:ext cx="605632"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9" name="Rectangle 18">
              <a:extLst>
                <a:ext uri="{FF2B5EF4-FFF2-40B4-BE49-F238E27FC236}">
                  <a16:creationId xmlns:a16="http://schemas.microsoft.com/office/drawing/2014/main" id="{373575CB-D2C9-BF08-24E1-93E8AF16B239}"/>
                </a:ext>
              </a:extLst>
            </p:cNvPr>
            <p:cNvSpPr/>
            <p:nvPr/>
          </p:nvSpPr>
          <p:spPr>
            <a:xfrm>
              <a:off x="1083249" y="4179798"/>
              <a:ext cx="393700" cy="3345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15B52EA-CEA2-84C5-5E63-CB5B71B97B60}"/>
                </a:ext>
              </a:extLst>
            </p:cNvPr>
            <p:cNvSpPr txBox="1"/>
            <p:nvPr/>
          </p:nvSpPr>
          <p:spPr>
            <a:xfrm>
              <a:off x="2165350" y="4206541"/>
              <a:ext cx="2500752" cy="307777"/>
            </a:xfrm>
            <a:prstGeom prst="rect">
              <a:avLst/>
            </a:prstGeom>
            <a:noFill/>
          </p:spPr>
          <p:txBody>
            <a:bodyPr wrap="square" rtlCol="0">
              <a:spAutoFit/>
            </a:bodyPr>
            <a:lstStyle/>
            <a:p>
              <a:r>
                <a:rPr lang="en-US" dirty="0"/>
                <a:t>Computationally expensive</a:t>
              </a:r>
            </a:p>
          </p:txBody>
        </p:sp>
      </p:grpSp>
      <p:grpSp>
        <p:nvGrpSpPr>
          <p:cNvPr id="31" name="Group 30">
            <a:extLst>
              <a:ext uri="{FF2B5EF4-FFF2-40B4-BE49-F238E27FC236}">
                <a16:creationId xmlns:a16="http://schemas.microsoft.com/office/drawing/2014/main" id="{671E43BF-C8DD-F78B-130E-81C827221909}"/>
              </a:ext>
            </a:extLst>
          </p:cNvPr>
          <p:cNvGrpSpPr/>
          <p:nvPr/>
        </p:nvGrpSpPr>
        <p:grpSpPr>
          <a:xfrm>
            <a:off x="5604916" y="1768277"/>
            <a:ext cx="3327400" cy="2053052"/>
            <a:chOff x="5556250" y="1324661"/>
            <a:chExt cx="3327400" cy="2053052"/>
          </a:xfrm>
        </p:grpSpPr>
        <p:grpSp>
          <p:nvGrpSpPr>
            <p:cNvPr id="23" name="Group 22">
              <a:extLst>
                <a:ext uri="{FF2B5EF4-FFF2-40B4-BE49-F238E27FC236}">
                  <a16:creationId xmlns:a16="http://schemas.microsoft.com/office/drawing/2014/main" id="{0AB08E03-95BA-BCDA-CBA7-B9C77EEB01EB}"/>
                </a:ext>
              </a:extLst>
            </p:cNvPr>
            <p:cNvGrpSpPr/>
            <p:nvPr/>
          </p:nvGrpSpPr>
          <p:grpSpPr>
            <a:xfrm>
              <a:off x="5556250" y="1324661"/>
              <a:ext cx="3327400" cy="1710639"/>
              <a:chOff x="5556250" y="1324661"/>
              <a:chExt cx="3327400" cy="1710639"/>
            </a:xfrm>
          </p:grpSpPr>
          <p:pic>
            <p:nvPicPr>
              <p:cNvPr id="188" name="Google Shape;188;g3958929c9b2_1_34">
                <a:extLst>
                  <a:ext uri="{FF2B5EF4-FFF2-40B4-BE49-F238E27FC236}">
                    <a16:creationId xmlns:a16="http://schemas.microsoft.com/office/drawing/2014/main" id="{BD9AE721-CF0C-F258-270A-1FAB10235AE1}"/>
                  </a:ext>
                </a:extLst>
              </p:cNvPr>
              <p:cNvPicPr preferRelativeResize="0"/>
              <p:nvPr/>
            </p:nvPicPr>
            <p:blipFill>
              <a:blip r:embed="rId5">
                <a:alphaModFix/>
              </a:blip>
              <a:stretch>
                <a:fillRect/>
              </a:stretch>
            </p:blipFill>
            <p:spPr>
              <a:xfrm>
                <a:off x="5556250" y="1324661"/>
                <a:ext cx="3327400" cy="1710639"/>
              </a:xfrm>
              <a:prstGeom prst="rect">
                <a:avLst/>
              </a:prstGeom>
              <a:noFill/>
              <a:ln>
                <a:noFill/>
              </a:ln>
            </p:spPr>
          </p:pic>
          <p:sp>
            <p:nvSpPr>
              <p:cNvPr id="6" name="Oval 5">
                <a:extLst>
                  <a:ext uri="{FF2B5EF4-FFF2-40B4-BE49-F238E27FC236}">
                    <a16:creationId xmlns:a16="http://schemas.microsoft.com/office/drawing/2014/main" id="{51DC65B6-3433-73F6-C7FB-CFF6873D4FFB}"/>
                  </a:ext>
                </a:extLst>
              </p:cNvPr>
              <p:cNvSpPr/>
              <p:nvPr/>
            </p:nvSpPr>
            <p:spPr>
              <a:xfrm>
                <a:off x="5886450" y="1384300"/>
                <a:ext cx="774700" cy="323850"/>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Google Shape;150;g3cbd0e6f7a2_2_8">
              <a:extLst>
                <a:ext uri="{FF2B5EF4-FFF2-40B4-BE49-F238E27FC236}">
                  <a16:creationId xmlns:a16="http://schemas.microsoft.com/office/drawing/2014/main" id="{DE255325-BABD-A323-89CB-1BE9F316C896}"/>
                </a:ext>
              </a:extLst>
            </p:cNvPr>
            <p:cNvSpPr txBox="1"/>
            <p:nvPr/>
          </p:nvSpPr>
          <p:spPr>
            <a:xfrm>
              <a:off x="6273800" y="3012313"/>
              <a:ext cx="2405607" cy="365400"/>
            </a:xfrm>
            <a:prstGeom prst="rect">
              <a:avLst/>
            </a:prstGeom>
            <a:noFill/>
            <a:ln>
              <a:noFill/>
            </a:ln>
          </p:spPr>
          <p:txBody>
            <a:bodyPr spcFirstLastPara="1" wrap="square" lIns="91425" tIns="91425" rIns="91425" bIns="91425" anchor="t" anchorCtr="0">
              <a:noAutofit/>
            </a:bodyPr>
            <a:lstStyle/>
            <a:p>
              <a:pPr lvl="0"/>
              <a:r>
                <a:rPr lang="de-DE" b="1" dirty="0"/>
                <a:t>Fig. 16 </a:t>
              </a:r>
              <a:r>
                <a:rPr lang="de-DE" dirty="0"/>
                <a:t>DMD DT Scheme </a:t>
              </a:r>
              <a:r>
                <a:rPr lang="de-DE" sz="800" dirty="0"/>
                <a:t>[*]</a:t>
              </a:r>
              <a:endParaRPr dirty="0"/>
            </a:p>
          </p:txBody>
        </p:sp>
      </p:grpSp>
      <p:grpSp>
        <p:nvGrpSpPr>
          <p:cNvPr id="32" name="Group 31">
            <a:extLst>
              <a:ext uri="{FF2B5EF4-FFF2-40B4-BE49-F238E27FC236}">
                <a16:creationId xmlns:a16="http://schemas.microsoft.com/office/drawing/2014/main" id="{2C44C0C0-0014-FBCB-99FC-51E7D18DE728}"/>
              </a:ext>
            </a:extLst>
          </p:cNvPr>
          <p:cNvGrpSpPr/>
          <p:nvPr/>
        </p:nvGrpSpPr>
        <p:grpSpPr>
          <a:xfrm>
            <a:off x="5172868" y="4444098"/>
            <a:ext cx="3453271" cy="215444"/>
            <a:chOff x="5209536" y="4494390"/>
            <a:chExt cx="3453271" cy="215444"/>
          </a:xfrm>
        </p:grpSpPr>
        <p:sp>
          <p:nvSpPr>
            <p:cNvPr id="33" name="Rechteck 3">
              <a:extLst>
                <a:ext uri="{FF2B5EF4-FFF2-40B4-BE49-F238E27FC236}">
                  <a16:creationId xmlns:a16="http://schemas.microsoft.com/office/drawing/2014/main" id="{C1B5E725-C70B-E640-CE7C-75C8558F25CA}"/>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t>Introduction</a:t>
              </a:r>
            </a:p>
          </p:txBody>
        </p:sp>
        <p:sp>
          <p:nvSpPr>
            <p:cNvPr id="34" name="Rechteck 4">
              <a:extLst>
                <a:ext uri="{FF2B5EF4-FFF2-40B4-BE49-F238E27FC236}">
                  <a16:creationId xmlns:a16="http://schemas.microsoft.com/office/drawing/2014/main" id="{4A2B5ABF-E43A-E767-1ABA-67D80BFAE03A}"/>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35" name="Rechteck 5">
              <a:extLst>
                <a:ext uri="{FF2B5EF4-FFF2-40B4-BE49-F238E27FC236}">
                  <a16:creationId xmlns:a16="http://schemas.microsoft.com/office/drawing/2014/main" id="{EE254721-15B7-EA5E-B7D5-E54630C0EB71}"/>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Methodology</a:t>
              </a:r>
              <a:endParaRPr lang="de-DE" sz="800" dirty="0"/>
            </a:p>
          </p:txBody>
        </p:sp>
        <p:sp>
          <p:nvSpPr>
            <p:cNvPr id="36" name="Rechteck 6">
              <a:extLst>
                <a:ext uri="{FF2B5EF4-FFF2-40B4-BE49-F238E27FC236}">
                  <a16:creationId xmlns:a16="http://schemas.microsoft.com/office/drawing/2014/main" id="{1E7A63A8-D369-479B-AB03-8FC5E6F32F20}"/>
                </a:ext>
              </a:extLst>
            </p:cNvPr>
            <p:cNvSpPr/>
            <p:nvPr/>
          </p:nvSpPr>
          <p:spPr bwMode="auto">
            <a:xfrm>
              <a:off x="7798711"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solidFill>
                    <a:schemeClr val="bg1"/>
                  </a:solidFill>
                </a:rPr>
                <a:t>Results</a:t>
              </a:r>
              <a:endParaRPr lang="de-DE" sz="800" dirty="0">
                <a:solidFill>
                  <a:schemeClr val="bg1"/>
                </a:solidFill>
              </a:endParaRPr>
            </a:p>
          </p:txBody>
        </p:sp>
      </p:grpSp>
      <p:sp>
        <p:nvSpPr>
          <p:cNvPr id="37" name="TextBox 36">
            <a:extLst>
              <a:ext uri="{FF2B5EF4-FFF2-40B4-BE49-F238E27FC236}">
                <a16:creationId xmlns:a16="http://schemas.microsoft.com/office/drawing/2014/main" id="{BD86FA58-B291-5B20-1537-AE0D855C126E}"/>
              </a:ext>
            </a:extLst>
          </p:cNvPr>
          <p:cNvSpPr txBox="1"/>
          <p:nvPr/>
        </p:nvSpPr>
        <p:spPr>
          <a:xfrm>
            <a:off x="6154911" y="4778618"/>
            <a:ext cx="2282158" cy="307777"/>
          </a:xfrm>
          <a:prstGeom prst="rect">
            <a:avLst/>
          </a:prstGeom>
          <a:noFill/>
        </p:spPr>
        <p:txBody>
          <a:bodyPr wrap="square" rtlCol="0">
            <a:spAutoFit/>
          </a:bodyPr>
          <a:lstStyle/>
          <a:p>
            <a:r>
              <a:rPr lang="en-US" sz="700" dirty="0"/>
              <a:t>Based: Proctor et al. Dynamic mode decomposition with control [5]</a:t>
            </a:r>
            <a:endParaRPr lang="en-US" sz="1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7AC7402-0531-312F-D52A-78C5226BC3C1}"/>
                  </a:ext>
                </a:extLst>
              </p:cNvPr>
              <p:cNvSpPr txBox="1"/>
              <p:nvPr/>
            </p:nvSpPr>
            <p:spPr>
              <a:xfrm>
                <a:off x="349249" y="963702"/>
                <a:ext cx="6548697" cy="1261884"/>
              </a:xfrm>
              <a:prstGeom prst="rect">
                <a:avLst/>
              </a:prstGeom>
              <a:noFill/>
            </p:spPr>
            <p:txBody>
              <a:bodyPr wrap="square" rtlCol="0">
                <a:spAutoFit/>
              </a:bodyPr>
              <a:lstStyle/>
              <a:p>
                <a:r>
                  <a:rPr lang="en-US" dirty="0"/>
                  <a:t>Goal: Define a system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𝑘</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𝐺</m:t>
                    </m:r>
                    <m:sSup>
                      <m:sSupPr>
                        <m:ctrlPr>
                          <a:rPr lang="en-US" sz="2000" b="0" i="1" smtClean="0">
                            <a:latin typeface="Cambria Math" panose="02040503050406030204" pitchFamily="18" charset="0"/>
                          </a:rPr>
                        </m:ctrlPr>
                      </m:sSupPr>
                      <m:e>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𝑘</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𝑘</m:t>
                                </m:r>
                              </m:sub>
                            </m:sSub>
                          </m:e>
                        </m:d>
                      </m:e>
                      <m:sup>
                        <m:r>
                          <a:rPr lang="en-US" sz="2000" b="0" i="1" smtClean="0">
                            <a:latin typeface="Cambria Math" panose="02040503050406030204" pitchFamily="18" charset="0"/>
                          </a:rPr>
                          <m:t>𝑇</m:t>
                        </m:r>
                      </m:sup>
                    </m:sSup>
                  </m:oMath>
                </a14:m>
                <a:endParaRPr lang="en-US" sz="2000" b="0" dirty="0"/>
              </a:p>
              <a:p>
                <a:endParaRPr lang="en-US" b="0" dirty="0"/>
              </a:p>
              <a:p>
                <a:r>
                  <a:rPr lang="en-US" b="0" dirty="0"/>
                  <a:t> </a:t>
                </a:r>
              </a:p>
              <a:p>
                <a:endParaRPr lang="en-US" b="0" dirty="0"/>
              </a:p>
              <a:p>
                <a:endParaRPr lang="en-US" dirty="0"/>
              </a:p>
            </p:txBody>
          </p:sp>
        </mc:Choice>
        <mc:Fallback xmlns="">
          <p:sp>
            <p:nvSpPr>
              <p:cNvPr id="3" name="TextBox 2">
                <a:extLst>
                  <a:ext uri="{FF2B5EF4-FFF2-40B4-BE49-F238E27FC236}">
                    <a16:creationId xmlns:a16="http://schemas.microsoft.com/office/drawing/2014/main" id="{77AC7402-0531-312F-D52A-78C5226BC3C1}"/>
                  </a:ext>
                </a:extLst>
              </p:cNvPr>
              <p:cNvSpPr txBox="1">
                <a:spLocks noRot="1" noChangeAspect="1" noMove="1" noResize="1" noEditPoints="1" noAdjustHandles="1" noChangeArrowheads="1" noChangeShapeType="1" noTextEdit="1"/>
              </p:cNvSpPr>
              <p:nvPr/>
            </p:nvSpPr>
            <p:spPr>
              <a:xfrm>
                <a:off x="349249" y="963702"/>
                <a:ext cx="6548697" cy="1261884"/>
              </a:xfrm>
              <a:prstGeom prst="rect">
                <a:avLst/>
              </a:prstGeom>
              <a:blipFill>
                <a:blip r:embed="rId6"/>
                <a:stretch>
                  <a:fillRect l="-279"/>
                </a:stretch>
              </a:blipFill>
            </p:spPr>
            <p:txBody>
              <a:bodyPr/>
              <a:lstStyle/>
              <a:p>
                <a:r>
                  <a:rPr lang="en-US">
                    <a:noFill/>
                  </a:rPr>
                  <a:t> </a:t>
                </a:r>
              </a:p>
            </p:txBody>
          </p:sp>
        </mc:Fallback>
      </mc:AlternateContent>
    </p:spTree>
    <p:extLst>
      <p:ext uri="{BB962C8B-B14F-4D97-AF65-F5344CB8AC3E}">
        <p14:creationId xmlns:p14="http://schemas.microsoft.com/office/powerpoint/2010/main" val="3704468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F1E11F23-3867-EB69-04D9-5872AD86FC44}"/>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F16BA53D-7F85-9938-9FC1-68F84BECCEBA}"/>
              </a:ext>
            </a:extLst>
          </p:cNvPr>
          <p:cNvGrpSpPr/>
          <p:nvPr/>
        </p:nvGrpSpPr>
        <p:grpSpPr>
          <a:xfrm>
            <a:off x="260350" y="1490550"/>
            <a:ext cx="4776788" cy="2953548"/>
            <a:chOff x="260350" y="1490550"/>
            <a:chExt cx="4776788" cy="2953548"/>
          </a:xfrm>
        </p:grpSpPr>
        <p:pic>
          <p:nvPicPr>
            <p:cNvPr id="27" name="Picture 26" descr="The diagram illustrates a control system's block diagram, showing a series of components including an input block, an operator, shifted output blocks, and a Hankel matrix for processing temperature and power history data to optimize a system.&#10;&#10;AI-generated content may be incorrect.">
              <a:extLst>
                <a:ext uri="{FF2B5EF4-FFF2-40B4-BE49-F238E27FC236}">
                  <a16:creationId xmlns:a16="http://schemas.microsoft.com/office/drawing/2014/main" id="{A681CC9C-75C3-A3AD-57C6-5A56CF12567E}"/>
                </a:ext>
              </a:extLst>
            </p:cNvPr>
            <p:cNvPicPr>
              <a:picLocks noChangeAspect="1"/>
            </p:cNvPicPr>
            <p:nvPr/>
          </p:nvPicPr>
          <p:blipFill>
            <a:blip r:embed="rId3"/>
            <a:stretch>
              <a:fillRect/>
            </a:stretch>
          </p:blipFill>
          <p:spPr>
            <a:xfrm>
              <a:off x="260350" y="1490550"/>
              <a:ext cx="4776788" cy="2608507"/>
            </a:xfrm>
            <a:prstGeom prst="rect">
              <a:avLst/>
            </a:prstGeom>
          </p:spPr>
        </p:pic>
        <p:sp>
          <p:nvSpPr>
            <p:cNvPr id="28" name="Google Shape;150;g3cbd0e6f7a2_2_8">
              <a:extLst>
                <a:ext uri="{FF2B5EF4-FFF2-40B4-BE49-F238E27FC236}">
                  <a16:creationId xmlns:a16="http://schemas.microsoft.com/office/drawing/2014/main" id="{B3FDA51F-C265-6D96-3973-F4D851B20D5A}"/>
                </a:ext>
              </a:extLst>
            </p:cNvPr>
            <p:cNvSpPr txBox="1"/>
            <p:nvPr/>
          </p:nvSpPr>
          <p:spPr>
            <a:xfrm>
              <a:off x="1628129" y="4078698"/>
              <a:ext cx="2405607" cy="365400"/>
            </a:xfrm>
            <a:prstGeom prst="rect">
              <a:avLst/>
            </a:prstGeom>
            <a:noFill/>
            <a:ln>
              <a:noFill/>
            </a:ln>
          </p:spPr>
          <p:txBody>
            <a:bodyPr spcFirstLastPara="1" wrap="square" lIns="91425" tIns="91425" rIns="91425" bIns="91425" anchor="t" anchorCtr="0">
              <a:noAutofit/>
            </a:bodyPr>
            <a:lstStyle/>
            <a:p>
              <a:pPr lvl="0"/>
              <a:r>
                <a:rPr lang="de-DE" b="1" dirty="0"/>
                <a:t>Fig. 15 </a:t>
              </a:r>
              <a:r>
                <a:rPr lang="de-DE" dirty="0"/>
                <a:t>Hankel DMD </a:t>
              </a:r>
              <a:r>
                <a:rPr lang="de-DE" sz="800" dirty="0"/>
                <a:t>[*]</a:t>
              </a:r>
              <a:endParaRPr dirty="0"/>
            </a:p>
          </p:txBody>
        </p:sp>
      </p:grpSp>
      <p:sp>
        <p:nvSpPr>
          <p:cNvPr id="186" name="Google Shape;186;g3958929c9b2_1_34">
            <a:extLst>
              <a:ext uri="{FF2B5EF4-FFF2-40B4-BE49-F238E27FC236}">
                <a16:creationId xmlns:a16="http://schemas.microsoft.com/office/drawing/2014/main" id="{E43E0A78-D239-F236-FBE2-F4679581D1B9}"/>
              </a:ext>
            </a:extLst>
          </p:cNvPr>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Data Driven DMD</a:t>
            </a:r>
            <a:endParaRPr/>
          </a:p>
        </p:txBody>
      </p:sp>
      <p:grpSp>
        <p:nvGrpSpPr>
          <p:cNvPr id="25" name="Group 24">
            <a:extLst>
              <a:ext uri="{FF2B5EF4-FFF2-40B4-BE49-F238E27FC236}">
                <a16:creationId xmlns:a16="http://schemas.microsoft.com/office/drawing/2014/main" id="{7D64839E-5905-82B7-9B25-745EC9CCB146}"/>
              </a:ext>
            </a:extLst>
          </p:cNvPr>
          <p:cNvGrpSpPr/>
          <p:nvPr/>
        </p:nvGrpSpPr>
        <p:grpSpPr>
          <a:xfrm>
            <a:off x="4738140" y="3239023"/>
            <a:ext cx="1733551" cy="493905"/>
            <a:chOff x="4668984" y="3291708"/>
            <a:chExt cx="1733551" cy="493905"/>
          </a:xfrm>
        </p:grpSpPr>
        <p:cxnSp>
          <p:nvCxnSpPr>
            <p:cNvPr id="8" name="Straight Arrow Connector 7">
              <a:extLst>
                <a:ext uri="{FF2B5EF4-FFF2-40B4-BE49-F238E27FC236}">
                  <a16:creationId xmlns:a16="http://schemas.microsoft.com/office/drawing/2014/main" id="{C017A53A-FF9E-2DCE-F4E8-A9928BB7446D}"/>
                </a:ext>
              </a:extLst>
            </p:cNvPr>
            <p:cNvCxnSpPr>
              <a:cxnSpLocks/>
            </p:cNvCxnSpPr>
            <p:nvPr/>
          </p:nvCxnSpPr>
          <p:spPr>
            <a:xfrm flipH="1" flipV="1">
              <a:off x="4796631" y="3291708"/>
              <a:ext cx="376237" cy="24668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0" name="TextBox 9">
              <a:extLst>
                <a:ext uri="{FF2B5EF4-FFF2-40B4-BE49-F238E27FC236}">
                  <a16:creationId xmlns:a16="http://schemas.microsoft.com/office/drawing/2014/main" id="{FA15F741-6003-66EB-F9D1-A57E4B9D6311}"/>
                </a:ext>
              </a:extLst>
            </p:cNvPr>
            <p:cNvSpPr txBox="1"/>
            <p:nvPr/>
          </p:nvSpPr>
          <p:spPr>
            <a:xfrm>
              <a:off x="4668984" y="3508614"/>
              <a:ext cx="1733551" cy="276999"/>
            </a:xfrm>
            <a:prstGeom prst="rect">
              <a:avLst/>
            </a:prstGeom>
            <a:noFill/>
          </p:spPr>
          <p:txBody>
            <a:bodyPr wrap="square" rtlCol="0">
              <a:spAutoFit/>
            </a:bodyPr>
            <a:lstStyle/>
            <a:p>
              <a:r>
                <a:rPr lang="en-US" sz="1200" dirty="0"/>
                <a:t>Repeating patterns</a:t>
              </a:r>
            </a:p>
          </p:txBody>
        </p: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10A806D-DAA2-1DE2-FC5B-EF81917E58BC}"/>
                  </a:ext>
                </a:extLst>
              </p:cNvPr>
              <p:cNvSpPr txBox="1"/>
              <p:nvPr/>
            </p:nvSpPr>
            <p:spPr>
              <a:xfrm>
                <a:off x="304701" y="4447827"/>
                <a:ext cx="1161728" cy="454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2</m:t>
                          </m:r>
                        </m:sub>
                      </m:sSub>
                      <m:sSubSup>
                        <m:sSubSupPr>
                          <m:ctrlPr>
                            <a:rPr lang="en-US" b="0" i="1" smtClean="0">
                              <a:latin typeface="Cambria Math" panose="02040503050406030204" pitchFamily="18" charset="0"/>
                            </a:rPr>
                          </m:ctrlPr>
                        </m:sSubSupPr>
                        <m:e>
                          <m:r>
                            <a:rPr lang="en-US" b="0" i="0" smtClean="0">
                              <a:latin typeface="Cambria Math" panose="02040503050406030204" pitchFamily="18" charset="0"/>
                            </a:rPr>
                            <m:t>    </m:t>
                          </m:r>
                          <m:r>
                            <m:rPr>
                              <m:sty m:val="p"/>
                            </m:rPr>
                            <a:rPr lang="en-US" b="0" i="0" smtClean="0">
                              <a:latin typeface="Cambria Math" panose="02040503050406030204" pitchFamily="18" charset="0"/>
                            </a:rPr>
                            <m:t>Ω</m:t>
                          </m:r>
                        </m:e>
                        <m:sub>
                          <m:r>
                            <m:rPr>
                              <m:sty m:val="p"/>
                            </m:rPr>
                            <a:rPr lang="en-US" b="0" i="1" smtClean="0">
                              <a:latin typeface="Cambria Math" panose="02040503050406030204" pitchFamily="18" charset="0"/>
                            </a:rPr>
                            <m:t>aug</m:t>
                          </m:r>
                        </m:sub>
                        <m:sup>
                          <m:r>
                            <a:rPr lang="en-US" b="0" i="1" smtClean="0">
                              <a:latin typeface="Cambria Math" panose="02040503050406030204" pitchFamily="18" charset="0"/>
                            </a:rPr>
                            <m:t>−1</m:t>
                          </m:r>
                        </m:sup>
                      </m:sSubSup>
                    </m:oMath>
                  </m:oMathPara>
                </a14:m>
                <a:endParaRPr lang="en-US" b="0" dirty="0"/>
              </a:p>
              <a:p>
                <a:endParaRPr lang="en-US" dirty="0"/>
              </a:p>
            </p:txBody>
          </p:sp>
        </mc:Choice>
        <mc:Fallback xmlns="">
          <p:sp>
            <p:nvSpPr>
              <p:cNvPr id="14" name="TextBox 13">
                <a:extLst>
                  <a:ext uri="{FF2B5EF4-FFF2-40B4-BE49-F238E27FC236}">
                    <a16:creationId xmlns:a16="http://schemas.microsoft.com/office/drawing/2014/main" id="{210A806D-DAA2-1DE2-FC5B-EF81917E58BC}"/>
                  </a:ext>
                </a:extLst>
              </p:cNvPr>
              <p:cNvSpPr txBox="1">
                <a:spLocks noRot="1" noChangeAspect="1" noMove="1" noResize="1" noEditPoints="1" noAdjustHandles="1" noChangeArrowheads="1" noChangeShapeType="1" noTextEdit="1"/>
              </p:cNvSpPr>
              <p:nvPr/>
            </p:nvSpPr>
            <p:spPr>
              <a:xfrm>
                <a:off x="304701" y="4447827"/>
                <a:ext cx="1161728" cy="454996"/>
              </a:xfrm>
              <a:prstGeom prst="rect">
                <a:avLst/>
              </a:prstGeom>
              <a:blipFill>
                <a:blip r:embed="rId4"/>
                <a:stretch>
                  <a:fillRect l="-1047"/>
                </a:stretch>
              </a:blipFill>
            </p:spPr>
            <p:txBody>
              <a:bodyPr/>
              <a:lstStyle/>
              <a:p>
                <a:r>
                  <a:rPr lang="en-US">
                    <a:noFill/>
                  </a:rPr>
                  <a:t> </a:t>
                </a:r>
              </a:p>
            </p:txBody>
          </p:sp>
        </mc:Fallback>
      </mc:AlternateContent>
      <p:grpSp>
        <p:nvGrpSpPr>
          <p:cNvPr id="24" name="Group 23">
            <a:extLst>
              <a:ext uri="{FF2B5EF4-FFF2-40B4-BE49-F238E27FC236}">
                <a16:creationId xmlns:a16="http://schemas.microsoft.com/office/drawing/2014/main" id="{79AEA5A9-450D-6E2C-A19B-68709F8B459F}"/>
              </a:ext>
            </a:extLst>
          </p:cNvPr>
          <p:cNvGrpSpPr/>
          <p:nvPr/>
        </p:nvGrpSpPr>
        <p:grpSpPr>
          <a:xfrm>
            <a:off x="1066343" y="4444098"/>
            <a:ext cx="3582853" cy="334520"/>
            <a:chOff x="1083249" y="4179798"/>
            <a:chExt cx="3582853" cy="334520"/>
          </a:xfrm>
        </p:grpSpPr>
        <p:cxnSp>
          <p:nvCxnSpPr>
            <p:cNvPr id="15" name="Straight Arrow Connector 14">
              <a:extLst>
                <a:ext uri="{FF2B5EF4-FFF2-40B4-BE49-F238E27FC236}">
                  <a16:creationId xmlns:a16="http://schemas.microsoft.com/office/drawing/2014/main" id="{1C05F21B-DD64-F0B5-7177-D13E0244CA28}"/>
                </a:ext>
              </a:extLst>
            </p:cNvPr>
            <p:cNvCxnSpPr>
              <a:cxnSpLocks/>
            </p:cNvCxnSpPr>
            <p:nvPr/>
          </p:nvCxnSpPr>
          <p:spPr>
            <a:xfrm>
              <a:off x="1559718" y="4347058"/>
              <a:ext cx="605632"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9" name="Rectangle 18">
              <a:extLst>
                <a:ext uri="{FF2B5EF4-FFF2-40B4-BE49-F238E27FC236}">
                  <a16:creationId xmlns:a16="http://schemas.microsoft.com/office/drawing/2014/main" id="{583C55B5-E1E6-C693-9AC3-FCB23E7F0AC6}"/>
                </a:ext>
              </a:extLst>
            </p:cNvPr>
            <p:cNvSpPr/>
            <p:nvPr/>
          </p:nvSpPr>
          <p:spPr>
            <a:xfrm>
              <a:off x="1083249" y="4179798"/>
              <a:ext cx="393700" cy="3345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AC95DB9-DB09-8373-5030-4D777822F0EE}"/>
                </a:ext>
              </a:extLst>
            </p:cNvPr>
            <p:cNvSpPr txBox="1"/>
            <p:nvPr/>
          </p:nvSpPr>
          <p:spPr>
            <a:xfrm>
              <a:off x="2165350" y="4206541"/>
              <a:ext cx="2500752" cy="307777"/>
            </a:xfrm>
            <a:prstGeom prst="rect">
              <a:avLst/>
            </a:prstGeom>
            <a:noFill/>
          </p:spPr>
          <p:txBody>
            <a:bodyPr wrap="square" rtlCol="0">
              <a:spAutoFit/>
            </a:bodyPr>
            <a:lstStyle/>
            <a:p>
              <a:r>
                <a:rPr lang="en-US" dirty="0"/>
                <a:t>Computationally expensive</a:t>
              </a:r>
            </a:p>
          </p:txBody>
        </p:sp>
      </p:grpSp>
      <p:grpSp>
        <p:nvGrpSpPr>
          <p:cNvPr id="32" name="Group 31">
            <a:extLst>
              <a:ext uri="{FF2B5EF4-FFF2-40B4-BE49-F238E27FC236}">
                <a16:creationId xmlns:a16="http://schemas.microsoft.com/office/drawing/2014/main" id="{79D42929-8E1E-F649-C9F1-5537AF711033}"/>
              </a:ext>
            </a:extLst>
          </p:cNvPr>
          <p:cNvGrpSpPr/>
          <p:nvPr/>
        </p:nvGrpSpPr>
        <p:grpSpPr>
          <a:xfrm>
            <a:off x="5172868" y="4444098"/>
            <a:ext cx="3453271" cy="215444"/>
            <a:chOff x="5209536" y="4494390"/>
            <a:chExt cx="3453271" cy="215444"/>
          </a:xfrm>
        </p:grpSpPr>
        <p:sp>
          <p:nvSpPr>
            <p:cNvPr id="33" name="Rechteck 3">
              <a:extLst>
                <a:ext uri="{FF2B5EF4-FFF2-40B4-BE49-F238E27FC236}">
                  <a16:creationId xmlns:a16="http://schemas.microsoft.com/office/drawing/2014/main" id="{D6FC9C3A-AC00-FB87-2B1D-8361368E6E2A}"/>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t>Introduction</a:t>
              </a:r>
            </a:p>
          </p:txBody>
        </p:sp>
        <p:sp>
          <p:nvSpPr>
            <p:cNvPr id="34" name="Rechteck 4">
              <a:extLst>
                <a:ext uri="{FF2B5EF4-FFF2-40B4-BE49-F238E27FC236}">
                  <a16:creationId xmlns:a16="http://schemas.microsoft.com/office/drawing/2014/main" id="{4C7652E2-5614-6569-C30E-E31B79409648}"/>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35" name="Rechteck 5">
              <a:extLst>
                <a:ext uri="{FF2B5EF4-FFF2-40B4-BE49-F238E27FC236}">
                  <a16:creationId xmlns:a16="http://schemas.microsoft.com/office/drawing/2014/main" id="{ADB6E853-DF73-92AE-B3B9-65A21B19AEB4}"/>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Methodology</a:t>
              </a:r>
              <a:endParaRPr lang="de-DE" sz="800" dirty="0"/>
            </a:p>
          </p:txBody>
        </p:sp>
        <p:sp>
          <p:nvSpPr>
            <p:cNvPr id="36" name="Rechteck 6">
              <a:extLst>
                <a:ext uri="{FF2B5EF4-FFF2-40B4-BE49-F238E27FC236}">
                  <a16:creationId xmlns:a16="http://schemas.microsoft.com/office/drawing/2014/main" id="{B9A18334-44EE-D3F8-3A3D-12BB149866A5}"/>
                </a:ext>
              </a:extLst>
            </p:cNvPr>
            <p:cNvSpPr/>
            <p:nvPr/>
          </p:nvSpPr>
          <p:spPr bwMode="auto">
            <a:xfrm>
              <a:off x="7798711"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solidFill>
                    <a:schemeClr val="bg1"/>
                  </a:solidFill>
                </a:rPr>
                <a:t>Results</a:t>
              </a:r>
              <a:endParaRPr lang="de-DE" sz="800" dirty="0">
                <a:solidFill>
                  <a:schemeClr val="bg1"/>
                </a:solidFill>
              </a:endParaRPr>
            </a:p>
          </p:txBody>
        </p:sp>
      </p:grpSp>
      <p:sp>
        <p:nvSpPr>
          <p:cNvPr id="37" name="TextBox 36">
            <a:extLst>
              <a:ext uri="{FF2B5EF4-FFF2-40B4-BE49-F238E27FC236}">
                <a16:creationId xmlns:a16="http://schemas.microsoft.com/office/drawing/2014/main" id="{56ECE8CB-0B52-5554-D5FD-2AB78E3DFC0B}"/>
              </a:ext>
            </a:extLst>
          </p:cNvPr>
          <p:cNvSpPr txBox="1"/>
          <p:nvPr/>
        </p:nvSpPr>
        <p:spPr>
          <a:xfrm>
            <a:off x="6154911" y="4778618"/>
            <a:ext cx="2282158" cy="307777"/>
          </a:xfrm>
          <a:prstGeom prst="rect">
            <a:avLst/>
          </a:prstGeom>
          <a:noFill/>
        </p:spPr>
        <p:txBody>
          <a:bodyPr wrap="square" rtlCol="0">
            <a:spAutoFit/>
          </a:bodyPr>
          <a:lstStyle/>
          <a:p>
            <a:r>
              <a:rPr lang="en-US" sz="700" dirty="0"/>
              <a:t>Based: Proctor et al. Dynamic mode decomposition with control [5]</a:t>
            </a:r>
            <a:endParaRPr lang="en-US" sz="1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FF6CE2E-ADB3-583B-31E3-9C1CBBB5241E}"/>
                  </a:ext>
                </a:extLst>
              </p:cNvPr>
              <p:cNvSpPr txBox="1"/>
              <p:nvPr/>
            </p:nvSpPr>
            <p:spPr>
              <a:xfrm>
                <a:off x="349249" y="963702"/>
                <a:ext cx="6548697" cy="1261884"/>
              </a:xfrm>
              <a:prstGeom prst="rect">
                <a:avLst/>
              </a:prstGeom>
              <a:noFill/>
            </p:spPr>
            <p:txBody>
              <a:bodyPr wrap="square" rtlCol="0">
                <a:spAutoFit/>
              </a:bodyPr>
              <a:lstStyle/>
              <a:p>
                <a:r>
                  <a:rPr lang="en-US" dirty="0"/>
                  <a:t>Goal: Define a system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𝑘</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𝐺</m:t>
                    </m:r>
                    <m:sSup>
                      <m:sSupPr>
                        <m:ctrlPr>
                          <a:rPr lang="en-US" sz="2000" b="0" i="1" smtClean="0">
                            <a:latin typeface="Cambria Math" panose="02040503050406030204" pitchFamily="18" charset="0"/>
                          </a:rPr>
                        </m:ctrlPr>
                      </m:sSupPr>
                      <m:e>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𝑘</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𝑘</m:t>
                                </m:r>
                              </m:sub>
                            </m:sSub>
                          </m:e>
                        </m:d>
                      </m:e>
                      <m:sup>
                        <m:r>
                          <a:rPr lang="en-US" sz="2000" b="0" i="1" smtClean="0">
                            <a:latin typeface="Cambria Math" panose="02040503050406030204" pitchFamily="18" charset="0"/>
                          </a:rPr>
                          <m:t>𝑇</m:t>
                        </m:r>
                      </m:sup>
                    </m:sSup>
                  </m:oMath>
                </a14:m>
                <a:endParaRPr lang="en-US" sz="2000" b="0" dirty="0"/>
              </a:p>
              <a:p>
                <a:endParaRPr lang="en-US" b="0" dirty="0"/>
              </a:p>
              <a:p>
                <a:r>
                  <a:rPr lang="en-US" b="0" dirty="0"/>
                  <a:t> </a:t>
                </a:r>
              </a:p>
              <a:p>
                <a:endParaRPr lang="en-US" b="0" dirty="0"/>
              </a:p>
              <a:p>
                <a:endParaRPr lang="en-US" dirty="0"/>
              </a:p>
            </p:txBody>
          </p:sp>
        </mc:Choice>
        <mc:Fallback xmlns="">
          <p:sp>
            <p:nvSpPr>
              <p:cNvPr id="3" name="TextBox 2">
                <a:extLst>
                  <a:ext uri="{FF2B5EF4-FFF2-40B4-BE49-F238E27FC236}">
                    <a16:creationId xmlns:a16="http://schemas.microsoft.com/office/drawing/2014/main" id="{5FF6CE2E-ADB3-583B-31E3-9C1CBBB5241E}"/>
                  </a:ext>
                </a:extLst>
              </p:cNvPr>
              <p:cNvSpPr txBox="1">
                <a:spLocks noRot="1" noChangeAspect="1" noMove="1" noResize="1" noEditPoints="1" noAdjustHandles="1" noChangeArrowheads="1" noChangeShapeType="1" noTextEdit="1"/>
              </p:cNvSpPr>
              <p:nvPr/>
            </p:nvSpPr>
            <p:spPr>
              <a:xfrm>
                <a:off x="349249" y="963702"/>
                <a:ext cx="6548697" cy="1261884"/>
              </a:xfrm>
              <a:prstGeom prst="rect">
                <a:avLst/>
              </a:prstGeom>
              <a:blipFill>
                <a:blip r:embed="rId5"/>
                <a:stretch>
                  <a:fillRect l="-279"/>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C95137DF-794B-00CE-87DB-24802C52157E}"/>
              </a:ext>
            </a:extLst>
          </p:cNvPr>
          <p:cNvGrpSpPr/>
          <p:nvPr/>
        </p:nvGrpSpPr>
        <p:grpSpPr>
          <a:xfrm>
            <a:off x="5604916" y="1768277"/>
            <a:ext cx="3327400" cy="2053052"/>
            <a:chOff x="5556250" y="1324661"/>
            <a:chExt cx="3327400" cy="2053052"/>
          </a:xfrm>
        </p:grpSpPr>
        <p:grpSp>
          <p:nvGrpSpPr>
            <p:cNvPr id="5" name="Group 4">
              <a:extLst>
                <a:ext uri="{FF2B5EF4-FFF2-40B4-BE49-F238E27FC236}">
                  <a16:creationId xmlns:a16="http://schemas.microsoft.com/office/drawing/2014/main" id="{1F55B61F-26B4-33B4-322C-5B9D4B6B75E8}"/>
                </a:ext>
              </a:extLst>
            </p:cNvPr>
            <p:cNvGrpSpPr/>
            <p:nvPr/>
          </p:nvGrpSpPr>
          <p:grpSpPr>
            <a:xfrm>
              <a:off x="5556250" y="1324661"/>
              <a:ext cx="3327400" cy="1710639"/>
              <a:chOff x="5556250" y="1324661"/>
              <a:chExt cx="3327400" cy="1710639"/>
            </a:xfrm>
          </p:grpSpPr>
          <p:pic>
            <p:nvPicPr>
              <p:cNvPr id="9" name="Google Shape;188;g3958929c9b2_1_34">
                <a:extLst>
                  <a:ext uri="{FF2B5EF4-FFF2-40B4-BE49-F238E27FC236}">
                    <a16:creationId xmlns:a16="http://schemas.microsoft.com/office/drawing/2014/main" id="{A677F9C2-0538-E894-84A9-0B88C2E61D02}"/>
                  </a:ext>
                </a:extLst>
              </p:cNvPr>
              <p:cNvPicPr preferRelativeResize="0"/>
              <p:nvPr/>
            </p:nvPicPr>
            <p:blipFill>
              <a:blip r:embed="rId6">
                <a:alphaModFix/>
              </a:blip>
              <a:stretch>
                <a:fillRect/>
              </a:stretch>
            </p:blipFill>
            <p:spPr>
              <a:xfrm>
                <a:off x="5556250" y="1324661"/>
                <a:ext cx="3327400" cy="1710639"/>
              </a:xfrm>
              <a:prstGeom prst="rect">
                <a:avLst/>
              </a:prstGeom>
              <a:noFill/>
              <a:ln>
                <a:noFill/>
              </a:ln>
            </p:spPr>
          </p:pic>
          <p:sp>
            <p:nvSpPr>
              <p:cNvPr id="11" name="Oval 10">
                <a:extLst>
                  <a:ext uri="{FF2B5EF4-FFF2-40B4-BE49-F238E27FC236}">
                    <a16:creationId xmlns:a16="http://schemas.microsoft.com/office/drawing/2014/main" id="{A9CE5B55-0DA9-AB95-AD73-D89F62F3A11B}"/>
                  </a:ext>
                </a:extLst>
              </p:cNvPr>
              <p:cNvSpPr/>
              <p:nvPr/>
            </p:nvSpPr>
            <p:spPr>
              <a:xfrm>
                <a:off x="5886450" y="1384300"/>
                <a:ext cx="774700" cy="323850"/>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Google Shape;150;g3cbd0e6f7a2_2_8">
              <a:extLst>
                <a:ext uri="{FF2B5EF4-FFF2-40B4-BE49-F238E27FC236}">
                  <a16:creationId xmlns:a16="http://schemas.microsoft.com/office/drawing/2014/main" id="{090B264D-2F74-168E-2B06-3BC1856251CA}"/>
                </a:ext>
              </a:extLst>
            </p:cNvPr>
            <p:cNvSpPr txBox="1"/>
            <p:nvPr/>
          </p:nvSpPr>
          <p:spPr>
            <a:xfrm>
              <a:off x="6273800" y="3012313"/>
              <a:ext cx="2405607" cy="365400"/>
            </a:xfrm>
            <a:prstGeom prst="rect">
              <a:avLst/>
            </a:prstGeom>
            <a:noFill/>
            <a:ln>
              <a:noFill/>
            </a:ln>
          </p:spPr>
          <p:txBody>
            <a:bodyPr spcFirstLastPara="1" wrap="square" lIns="91425" tIns="91425" rIns="91425" bIns="91425" anchor="t" anchorCtr="0">
              <a:noAutofit/>
            </a:bodyPr>
            <a:lstStyle/>
            <a:p>
              <a:pPr lvl="0"/>
              <a:r>
                <a:rPr lang="de-DE" b="1" dirty="0"/>
                <a:t>Fig. 16 </a:t>
              </a:r>
              <a:r>
                <a:rPr lang="de-DE" dirty="0"/>
                <a:t>DMD DT Scheme </a:t>
              </a:r>
              <a:r>
                <a:rPr lang="de-DE" sz="800" dirty="0"/>
                <a:t>[*]</a:t>
              </a:r>
              <a:endParaRPr dirty="0"/>
            </a:p>
          </p:txBody>
        </p:sp>
      </p:grpSp>
    </p:spTree>
    <p:extLst>
      <p:ext uri="{BB962C8B-B14F-4D97-AF65-F5344CB8AC3E}">
        <p14:creationId xmlns:p14="http://schemas.microsoft.com/office/powerpoint/2010/main" val="580242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562B4FA6-1C4A-FDEB-9F96-B069C2EDC933}"/>
            </a:ext>
          </a:extLst>
        </p:cNvPr>
        <p:cNvGrpSpPr/>
        <p:nvPr/>
      </p:nvGrpSpPr>
      <p:grpSpPr>
        <a:xfrm>
          <a:off x="0" y="0"/>
          <a:ext cx="0" cy="0"/>
          <a:chOff x="0" y="0"/>
          <a:chExt cx="0" cy="0"/>
        </a:xfrm>
      </p:grpSpPr>
      <p:sp>
        <p:nvSpPr>
          <p:cNvPr id="186" name="Google Shape;186;g3958929c9b2_1_34">
            <a:extLst>
              <a:ext uri="{FF2B5EF4-FFF2-40B4-BE49-F238E27FC236}">
                <a16:creationId xmlns:a16="http://schemas.microsoft.com/office/drawing/2014/main" id="{B5E34B0D-336D-CA73-7A0D-1A88D73B925C}"/>
              </a:ext>
            </a:extLst>
          </p:cNvPr>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Data Driven DMD</a:t>
            </a:r>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81AAD47-609F-8420-93A8-2F1A506B12A5}"/>
                  </a:ext>
                </a:extLst>
              </p:cNvPr>
              <p:cNvSpPr txBox="1"/>
              <p:nvPr/>
            </p:nvSpPr>
            <p:spPr>
              <a:xfrm>
                <a:off x="133350" y="977552"/>
                <a:ext cx="4362450" cy="1384995"/>
              </a:xfrm>
              <a:prstGeom prst="rect">
                <a:avLst/>
              </a:prstGeom>
              <a:noFill/>
            </p:spPr>
            <p:txBody>
              <a:bodyPr wrap="square" rtlCol="0">
                <a:spAutoFit/>
              </a:bodyPr>
              <a:lstStyle/>
              <a:p>
                <a:r>
                  <a:rPr lang="en-US" dirty="0"/>
                  <a:t>Goal: define a system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𝑘</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𝐺</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sub>
                            </m:sSub>
                          </m:e>
                        </m:d>
                      </m:e>
                      <m:sup>
                        <m:r>
                          <a:rPr lang="en-US" b="0" i="1" smtClean="0">
                            <a:latin typeface="Cambria Math" panose="02040503050406030204" pitchFamily="18" charset="0"/>
                          </a:rPr>
                          <m:t>𝑇</m:t>
                        </m:r>
                      </m:sup>
                    </m:sSup>
                  </m:oMath>
                </a14:m>
                <a:endParaRPr lang="en-US" b="0" dirty="0"/>
              </a:p>
              <a:p>
                <a:endParaRPr lang="en-US" dirty="0"/>
              </a:p>
              <a:p>
                <a:endParaRPr lang="en-US" b="0" dirty="0"/>
              </a:p>
              <a:p>
                <a:r>
                  <a:rPr lang="en-US" b="0" dirty="0"/>
                  <a:t> </a:t>
                </a:r>
              </a:p>
              <a:p>
                <a:endParaRPr lang="en-US" b="0" dirty="0"/>
              </a:p>
              <a:p>
                <a:endParaRPr lang="en-US" dirty="0"/>
              </a:p>
            </p:txBody>
          </p:sp>
        </mc:Choice>
        <mc:Fallback xmlns="">
          <p:sp>
            <p:nvSpPr>
              <p:cNvPr id="2" name="TextBox 1">
                <a:extLst>
                  <a:ext uri="{FF2B5EF4-FFF2-40B4-BE49-F238E27FC236}">
                    <a16:creationId xmlns:a16="http://schemas.microsoft.com/office/drawing/2014/main" id="{181AAD47-609F-8420-93A8-2F1A506B12A5}"/>
                  </a:ext>
                </a:extLst>
              </p:cNvPr>
              <p:cNvSpPr txBox="1">
                <a:spLocks noRot="1" noChangeAspect="1" noMove="1" noResize="1" noEditPoints="1" noAdjustHandles="1" noChangeArrowheads="1" noChangeShapeType="1" noTextEdit="1"/>
              </p:cNvSpPr>
              <p:nvPr/>
            </p:nvSpPr>
            <p:spPr>
              <a:xfrm>
                <a:off x="133350" y="977552"/>
                <a:ext cx="4362450" cy="1384995"/>
              </a:xfrm>
              <a:prstGeom prst="rect">
                <a:avLst/>
              </a:prstGeom>
              <a:blipFill>
                <a:blip r:embed="rId3"/>
                <a:stretch>
                  <a:fillRect l="-419" t="-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A8ED9C2-B069-0DC2-0DDA-668FB2D29DC1}"/>
                  </a:ext>
                </a:extLst>
              </p:cNvPr>
              <p:cNvSpPr txBox="1"/>
              <p:nvPr/>
            </p:nvSpPr>
            <p:spPr>
              <a:xfrm>
                <a:off x="324003" y="1324661"/>
                <a:ext cx="1161728" cy="454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2</m:t>
                          </m:r>
                        </m:sub>
                      </m:sSub>
                      <m:sSubSup>
                        <m:sSubSupPr>
                          <m:ctrlPr>
                            <a:rPr lang="en-US" b="0" i="1" smtClean="0">
                              <a:latin typeface="Cambria Math" panose="02040503050406030204" pitchFamily="18" charset="0"/>
                            </a:rPr>
                          </m:ctrlPr>
                        </m:sSubSupPr>
                        <m:e>
                          <m:r>
                            <a:rPr lang="en-US" b="0" i="0" smtClean="0">
                              <a:latin typeface="Cambria Math" panose="02040503050406030204" pitchFamily="18" charset="0"/>
                            </a:rPr>
                            <m:t>    </m:t>
                          </m:r>
                          <m:r>
                            <m:rPr>
                              <m:sty m:val="p"/>
                            </m:rPr>
                            <a:rPr lang="en-US" b="0" i="0" smtClean="0">
                              <a:latin typeface="Cambria Math" panose="02040503050406030204" pitchFamily="18" charset="0"/>
                            </a:rPr>
                            <m:t>Ω</m:t>
                          </m:r>
                        </m:e>
                        <m:sub>
                          <m:r>
                            <m:rPr>
                              <m:sty m:val="p"/>
                            </m:rPr>
                            <a:rPr lang="en-US" b="0" i="1" smtClean="0">
                              <a:latin typeface="Cambria Math" panose="02040503050406030204" pitchFamily="18" charset="0"/>
                            </a:rPr>
                            <m:t>aug</m:t>
                          </m:r>
                        </m:sub>
                        <m:sup>
                          <m:r>
                            <a:rPr lang="en-US" b="0" i="1" smtClean="0">
                              <a:latin typeface="Cambria Math" panose="02040503050406030204" pitchFamily="18" charset="0"/>
                            </a:rPr>
                            <m:t>−1</m:t>
                          </m:r>
                        </m:sup>
                      </m:sSubSup>
                    </m:oMath>
                  </m:oMathPara>
                </a14:m>
                <a:endParaRPr lang="en-US" b="0" dirty="0"/>
              </a:p>
              <a:p>
                <a:endParaRPr lang="en-US" dirty="0"/>
              </a:p>
            </p:txBody>
          </p:sp>
        </mc:Choice>
        <mc:Fallback xmlns="">
          <p:sp>
            <p:nvSpPr>
              <p:cNvPr id="14" name="TextBox 13">
                <a:extLst>
                  <a:ext uri="{FF2B5EF4-FFF2-40B4-BE49-F238E27FC236}">
                    <a16:creationId xmlns:a16="http://schemas.microsoft.com/office/drawing/2014/main" id="{AA8ED9C2-B069-0DC2-0DDA-668FB2D29DC1}"/>
                  </a:ext>
                </a:extLst>
              </p:cNvPr>
              <p:cNvSpPr txBox="1">
                <a:spLocks noRot="1" noChangeAspect="1" noMove="1" noResize="1" noEditPoints="1" noAdjustHandles="1" noChangeArrowheads="1" noChangeShapeType="1" noTextEdit="1"/>
              </p:cNvSpPr>
              <p:nvPr/>
            </p:nvSpPr>
            <p:spPr>
              <a:xfrm>
                <a:off x="324003" y="1324661"/>
                <a:ext cx="1161728" cy="454996"/>
              </a:xfrm>
              <a:prstGeom prst="rect">
                <a:avLst/>
              </a:prstGeom>
              <a:blipFill>
                <a:blip r:embed="rId4"/>
                <a:stretch>
                  <a:fillRect l="-1047"/>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5F5C8195-A758-5E03-46AD-0188DFB8D8FA}"/>
              </a:ext>
            </a:extLst>
          </p:cNvPr>
          <p:cNvCxnSpPr>
            <a:cxnSpLocks/>
          </p:cNvCxnSpPr>
          <p:nvPr/>
        </p:nvCxnSpPr>
        <p:spPr>
          <a:xfrm>
            <a:off x="1476883" y="1422400"/>
            <a:ext cx="605632"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9" name="Rectangle 18">
            <a:extLst>
              <a:ext uri="{FF2B5EF4-FFF2-40B4-BE49-F238E27FC236}">
                <a16:creationId xmlns:a16="http://schemas.microsoft.com/office/drawing/2014/main" id="{3243E523-FA83-6D7E-7233-5328FA9BB48C}"/>
              </a:ext>
            </a:extLst>
          </p:cNvPr>
          <p:cNvSpPr/>
          <p:nvPr/>
        </p:nvSpPr>
        <p:spPr>
          <a:xfrm>
            <a:off x="1025305" y="1324661"/>
            <a:ext cx="460425" cy="3345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599E5B1-20A1-46E3-C018-7D728680CE71}"/>
              </a:ext>
            </a:extLst>
          </p:cNvPr>
          <p:cNvSpPr txBox="1"/>
          <p:nvPr/>
        </p:nvSpPr>
        <p:spPr>
          <a:xfrm>
            <a:off x="2052925" y="1268511"/>
            <a:ext cx="2500752" cy="307777"/>
          </a:xfrm>
          <a:prstGeom prst="rect">
            <a:avLst/>
          </a:prstGeom>
          <a:noFill/>
        </p:spPr>
        <p:txBody>
          <a:bodyPr wrap="square" rtlCol="0">
            <a:spAutoFit/>
          </a:bodyPr>
          <a:lstStyle/>
          <a:p>
            <a:r>
              <a:rPr lang="en-US" dirty="0"/>
              <a:t>Computationally expensive</a:t>
            </a:r>
          </a:p>
        </p:txBody>
      </p:sp>
      <p:sp>
        <p:nvSpPr>
          <p:cNvPr id="7" name="Rectangle 6">
            <a:extLst>
              <a:ext uri="{FF2B5EF4-FFF2-40B4-BE49-F238E27FC236}">
                <a16:creationId xmlns:a16="http://schemas.microsoft.com/office/drawing/2014/main" id="{9CC2ED13-4DC3-08A0-CB02-B196D44F2BAE}"/>
              </a:ext>
            </a:extLst>
          </p:cNvPr>
          <p:cNvSpPr/>
          <p:nvPr/>
        </p:nvSpPr>
        <p:spPr>
          <a:xfrm>
            <a:off x="1572242" y="2362547"/>
            <a:ext cx="394705" cy="4448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FD4FDF2D-4D3C-003B-5978-AD068850B88C}"/>
              </a:ext>
            </a:extLst>
          </p:cNvPr>
          <p:cNvGrpSpPr/>
          <p:nvPr/>
        </p:nvGrpSpPr>
        <p:grpSpPr>
          <a:xfrm>
            <a:off x="594796" y="1735132"/>
            <a:ext cx="4374647" cy="2804361"/>
            <a:chOff x="594796" y="1735132"/>
            <a:chExt cx="4374647" cy="2804361"/>
          </a:xfrm>
        </p:grpSpPr>
        <p:grpSp>
          <p:nvGrpSpPr>
            <p:cNvPr id="21" name="Group 20">
              <a:extLst>
                <a:ext uri="{FF2B5EF4-FFF2-40B4-BE49-F238E27FC236}">
                  <a16:creationId xmlns:a16="http://schemas.microsoft.com/office/drawing/2014/main" id="{05752633-9284-D7FB-0A49-CD46AE172C53}"/>
                </a:ext>
              </a:extLst>
            </p:cNvPr>
            <p:cNvGrpSpPr/>
            <p:nvPr/>
          </p:nvGrpSpPr>
          <p:grpSpPr>
            <a:xfrm>
              <a:off x="594796" y="1735132"/>
              <a:ext cx="4374647" cy="2653240"/>
              <a:chOff x="594796" y="1735132"/>
              <a:chExt cx="4374647" cy="2653240"/>
            </a:xfrm>
          </p:grpSpPr>
          <p:grpSp>
            <p:nvGrpSpPr>
              <p:cNvPr id="16" name="Group 15">
                <a:extLst>
                  <a:ext uri="{FF2B5EF4-FFF2-40B4-BE49-F238E27FC236}">
                    <a16:creationId xmlns:a16="http://schemas.microsoft.com/office/drawing/2014/main" id="{B2E7E0F7-8415-A39A-ED33-45DBA8935D77}"/>
                  </a:ext>
                </a:extLst>
              </p:cNvPr>
              <p:cNvGrpSpPr/>
              <p:nvPr/>
            </p:nvGrpSpPr>
            <p:grpSpPr>
              <a:xfrm>
                <a:off x="594796" y="1877396"/>
                <a:ext cx="4374647" cy="2510976"/>
                <a:chOff x="594796" y="1877396"/>
                <a:chExt cx="4374647" cy="2510976"/>
              </a:xfrm>
            </p:grpSpPr>
            <p:grpSp>
              <p:nvGrpSpPr>
                <p:cNvPr id="12" name="Group 11">
                  <a:extLst>
                    <a:ext uri="{FF2B5EF4-FFF2-40B4-BE49-F238E27FC236}">
                      <a16:creationId xmlns:a16="http://schemas.microsoft.com/office/drawing/2014/main" id="{A27DBCCF-188F-158A-B13B-19E06717F4CB}"/>
                    </a:ext>
                  </a:extLst>
                </p:cNvPr>
                <p:cNvGrpSpPr/>
                <p:nvPr/>
              </p:nvGrpSpPr>
              <p:grpSpPr>
                <a:xfrm>
                  <a:off x="594796" y="1877396"/>
                  <a:ext cx="4374647" cy="2510976"/>
                  <a:chOff x="594796" y="1877396"/>
                  <a:chExt cx="4374647" cy="2510976"/>
                </a:xfrm>
              </p:grpSpPr>
              <p:pic>
                <p:nvPicPr>
                  <p:cNvPr id="5" name="Picture 4" descr="The diagram illustrates a process of constructing a reduced order model (ROM) for a system, which includes steps such as identifying the importance of modes, filtering noise, truncating sensor data, and computing the final solution for the model.&#10;&#10;AI-generated content may be incorrect.">
                    <a:extLst>
                      <a:ext uri="{FF2B5EF4-FFF2-40B4-BE49-F238E27FC236}">
                        <a16:creationId xmlns:a16="http://schemas.microsoft.com/office/drawing/2014/main" id="{CAFCDF13-6842-226D-7B7E-812CD32BA614}"/>
                      </a:ext>
                    </a:extLst>
                  </p:cNvPr>
                  <p:cNvPicPr>
                    <a:picLocks noChangeAspect="1"/>
                  </p:cNvPicPr>
                  <p:nvPr/>
                </p:nvPicPr>
                <p:blipFill>
                  <a:blip r:embed="rId5"/>
                  <a:stretch>
                    <a:fillRect/>
                  </a:stretch>
                </p:blipFill>
                <p:spPr>
                  <a:xfrm>
                    <a:off x="594796" y="1877396"/>
                    <a:ext cx="4374647" cy="2388113"/>
                  </a:xfrm>
                  <a:prstGeom prst="rect">
                    <a:avLst/>
                  </a:prstGeom>
                </p:spPr>
              </p:pic>
              <p:sp>
                <p:nvSpPr>
                  <p:cNvPr id="9" name="Rectangle 8">
                    <a:extLst>
                      <a:ext uri="{FF2B5EF4-FFF2-40B4-BE49-F238E27FC236}">
                        <a16:creationId xmlns:a16="http://schemas.microsoft.com/office/drawing/2014/main" id="{12BC6A17-4084-9ECB-90B9-2B88A3B535C3}"/>
                      </a:ext>
                    </a:extLst>
                  </p:cNvPr>
                  <p:cNvSpPr/>
                  <p:nvPr/>
                </p:nvSpPr>
                <p:spPr>
                  <a:xfrm>
                    <a:off x="1572241" y="3025610"/>
                    <a:ext cx="394705" cy="4448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753FE0B-D066-77B1-9F69-9241E0157589}"/>
                      </a:ext>
                    </a:extLst>
                  </p:cNvPr>
                  <p:cNvSpPr/>
                  <p:nvPr/>
                </p:nvSpPr>
                <p:spPr>
                  <a:xfrm>
                    <a:off x="1572240" y="3943524"/>
                    <a:ext cx="394705" cy="4448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2EC82F4F-0056-942D-C47B-562153B5655C}"/>
                    </a:ext>
                  </a:extLst>
                </p:cNvPr>
                <p:cNvSpPr/>
                <p:nvPr/>
              </p:nvSpPr>
              <p:spPr>
                <a:xfrm>
                  <a:off x="1572239" y="2330120"/>
                  <a:ext cx="394705" cy="4448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14F1DCB-24E4-A6DA-46AF-BE9720830365}"/>
                  </a:ext>
                </a:extLst>
              </p:cNvPr>
              <p:cNvSpPr/>
              <p:nvPr/>
            </p:nvSpPr>
            <p:spPr>
              <a:xfrm>
                <a:off x="4535269" y="1735132"/>
                <a:ext cx="394705" cy="4448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18A6C3A-0B00-62C7-626F-DFEB0CC26B4B}"/>
                  </a:ext>
                </a:extLst>
              </p:cNvPr>
              <p:cNvSpPr/>
              <p:nvPr/>
            </p:nvSpPr>
            <p:spPr>
              <a:xfrm>
                <a:off x="2462363" y="1947097"/>
                <a:ext cx="235441" cy="2328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Google Shape;150;g3cbd0e6f7a2_2_8">
              <a:extLst>
                <a:ext uri="{FF2B5EF4-FFF2-40B4-BE49-F238E27FC236}">
                  <a16:creationId xmlns:a16="http://schemas.microsoft.com/office/drawing/2014/main" id="{43C121D6-98DA-37FD-BD2F-60D32872A0D3}"/>
                </a:ext>
              </a:extLst>
            </p:cNvPr>
            <p:cNvSpPr txBox="1"/>
            <p:nvPr/>
          </p:nvSpPr>
          <p:spPr>
            <a:xfrm>
              <a:off x="1875078" y="4174093"/>
              <a:ext cx="2660191" cy="365400"/>
            </a:xfrm>
            <a:prstGeom prst="rect">
              <a:avLst/>
            </a:prstGeom>
            <a:noFill/>
            <a:ln>
              <a:noFill/>
            </a:ln>
          </p:spPr>
          <p:txBody>
            <a:bodyPr spcFirstLastPara="1" wrap="square" lIns="91425" tIns="91425" rIns="91425" bIns="91425" anchor="t" anchorCtr="0">
              <a:noAutofit/>
            </a:bodyPr>
            <a:lstStyle/>
            <a:p>
              <a:pPr lvl="0"/>
              <a:r>
                <a:rPr lang="de-DE" b="1" dirty="0"/>
                <a:t>Fig.17 </a:t>
              </a:r>
              <a:r>
                <a:rPr lang="de-DE" dirty="0"/>
                <a:t>SVD psudo-inversion </a:t>
              </a:r>
              <a:r>
                <a:rPr lang="de-DE" sz="800" dirty="0"/>
                <a:t>[*]</a:t>
              </a:r>
              <a:endParaRPr dirty="0"/>
            </a:p>
          </p:txBody>
        </p:sp>
      </p:grpSp>
      <p:grpSp>
        <p:nvGrpSpPr>
          <p:cNvPr id="27" name="Group 26">
            <a:extLst>
              <a:ext uri="{FF2B5EF4-FFF2-40B4-BE49-F238E27FC236}">
                <a16:creationId xmlns:a16="http://schemas.microsoft.com/office/drawing/2014/main" id="{89E4DE16-F099-193C-D171-0F958E5204A6}"/>
              </a:ext>
            </a:extLst>
          </p:cNvPr>
          <p:cNvGrpSpPr/>
          <p:nvPr/>
        </p:nvGrpSpPr>
        <p:grpSpPr>
          <a:xfrm>
            <a:off x="5203014" y="4428370"/>
            <a:ext cx="3453271" cy="215444"/>
            <a:chOff x="5209536" y="4494390"/>
            <a:chExt cx="3453271" cy="215444"/>
          </a:xfrm>
        </p:grpSpPr>
        <p:sp>
          <p:nvSpPr>
            <p:cNvPr id="28" name="Rechteck 3">
              <a:extLst>
                <a:ext uri="{FF2B5EF4-FFF2-40B4-BE49-F238E27FC236}">
                  <a16:creationId xmlns:a16="http://schemas.microsoft.com/office/drawing/2014/main" id="{61897494-AB87-08F4-A2F7-6DB55A95A4DA}"/>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t>Introduction</a:t>
              </a:r>
            </a:p>
          </p:txBody>
        </p:sp>
        <p:sp>
          <p:nvSpPr>
            <p:cNvPr id="29" name="Rechteck 4">
              <a:extLst>
                <a:ext uri="{FF2B5EF4-FFF2-40B4-BE49-F238E27FC236}">
                  <a16:creationId xmlns:a16="http://schemas.microsoft.com/office/drawing/2014/main" id="{444379E5-3F1C-B461-E1FE-09802D517200}"/>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30" name="Rechteck 5">
              <a:extLst>
                <a:ext uri="{FF2B5EF4-FFF2-40B4-BE49-F238E27FC236}">
                  <a16:creationId xmlns:a16="http://schemas.microsoft.com/office/drawing/2014/main" id="{0D7A420D-CDA4-F95A-FE9B-9E02A4102DAE}"/>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Methodology</a:t>
              </a:r>
              <a:endParaRPr lang="de-DE" sz="800" dirty="0"/>
            </a:p>
          </p:txBody>
        </p:sp>
        <p:sp>
          <p:nvSpPr>
            <p:cNvPr id="31" name="Rechteck 6">
              <a:extLst>
                <a:ext uri="{FF2B5EF4-FFF2-40B4-BE49-F238E27FC236}">
                  <a16:creationId xmlns:a16="http://schemas.microsoft.com/office/drawing/2014/main" id="{BBB95ED2-05DE-9FD6-0D66-C75E7133DE11}"/>
                </a:ext>
              </a:extLst>
            </p:cNvPr>
            <p:cNvSpPr/>
            <p:nvPr/>
          </p:nvSpPr>
          <p:spPr bwMode="auto">
            <a:xfrm>
              <a:off x="7798711"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solidFill>
                    <a:schemeClr val="bg1"/>
                  </a:solidFill>
                </a:rPr>
                <a:t>Results</a:t>
              </a:r>
              <a:endParaRPr lang="de-DE" sz="800" dirty="0">
                <a:solidFill>
                  <a:schemeClr val="bg1"/>
                </a:solidFill>
              </a:endParaRPr>
            </a:p>
          </p:txBody>
        </p:sp>
      </p:grpSp>
      <p:sp>
        <p:nvSpPr>
          <p:cNvPr id="32" name="TextBox 31">
            <a:extLst>
              <a:ext uri="{FF2B5EF4-FFF2-40B4-BE49-F238E27FC236}">
                <a16:creationId xmlns:a16="http://schemas.microsoft.com/office/drawing/2014/main" id="{0E9BE57F-C066-FCFC-C2C2-B5E57A40BA22}"/>
              </a:ext>
            </a:extLst>
          </p:cNvPr>
          <p:cNvSpPr txBox="1"/>
          <p:nvPr/>
        </p:nvSpPr>
        <p:spPr>
          <a:xfrm>
            <a:off x="6120982" y="4736249"/>
            <a:ext cx="2282158" cy="307777"/>
          </a:xfrm>
          <a:prstGeom prst="rect">
            <a:avLst/>
          </a:prstGeom>
          <a:noFill/>
        </p:spPr>
        <p:txBody>
          <a:bodyPr wrap="square" rtlCol="0">
            <a:spAutoFit/>
          </a:bodyPr>
          <a:lstStyle/>
          <a:p>
            <a:r>
              <a:rPr lang="en-US" sz="700" dirty="0"/>
              <a:t>Based: Proctor et al. Dynamic mode decomposition with control [5]</a:t>
            </a:r>
            <a:endParaRPr lang="en-US" sz="100" dirty="0"/>
          </a:p>
        </p:txBody>
      </p:sp>
      <p:grpSp>
        <p:nvGrpSpPr>
          <p:cNvPr id="33" name="Group 32">
            <a:extLst>
              <a:ext uri="{FF2B5EF4-FFF2-40B4-BE49-F238E27FC236}">
                <a16:creationId xmlns:a16="http://schemas.microsoft.com/office/drawing/2014/main" id="{C7ED0CA8-7289-0A27-B8A8-5E92AAC18585}"/>
              </a:ext>
            </a:extLst>
          </p:cNvPr>
          <p:cNvGrpSpPr/>
          <p:nvPr/>
        </p:nvGrpSpPr>
        <p:grpSpPr>
          <a:xfrm>
            <a:off x="5604916" y="1768277"/>
            <a:ext cx="3327400" cy="2053052"/>
            <a:chOff x="5556250" y="1324661"/>
            <a:chExt cx="3327400" cy="2053052"/>
          </a:xfrm>
        </p:grpSpPr>
        <p:grpSp>
          <p:nvGrpSpPr>
            <p:cNvPr id="34" name="Group 33">
              <a:extLst>
                <a:ext uri="{FF2B5EF4-FFF2-40B4-BE49-F238E27FC236}">
                  <a16:creationId xmlns:a16="http://schemas.microsoft.com/office/drawing/2014/main" id="{697408EF-377F-6986-65CC-4EE19713AF01}"/>
                </a:ext>
              </a:extLst>
            </p:cNvPr>
            <p:cNvGrpSpPr/>
            <p:nvPr/>
          </p:nvGrpSpPr>
          <p:grpSpPr>
            <a:xfrm>
              <a:off x="5556250" y="1324661"/>
              <a:ext cx="3327400" cy="1710639"/>
              <a:chOff x="5556250" y="1324661"/>
              <a:chExt cx="3327400" cy="1710639"/>
            </a:xfrm>
          </p:grpSpPr>
          <p:pic>
            <p:nvPicPr>
              <p:cNvPr id="36" name="Google Shape;188;g3958929c9b2_1_34">
                <a:extLst>
                  <a:ext uri="{FF2B5EF4-FFF2-40B4-BE49-F238E27FC236}">
                    <a16:creationId xmlns:a16="http://schemas.microsoft.com/office/drawing/2014/main" id="{FCB88E48-F7DB-DF2C-39C9-4E7CE27FC6A9}"/>
                  </a:ext>
                </a:extLst>
              </p:cNvPr>
              <p:cNvPicPr preferRelativeResize="0"/>
              <p:nvPr/>
            </p:nvPicPr>
            <p:blipFill>
              <a:blip r:embed="rId6">
                <a:alphaModFix/>
              </a:blip>
              <a:stretch>
                <a:fillRect/>
              </a:stretch>
            </p:blipFill>
            <p:spPr>
              <a:xfrm>
                <a:off x="5556250" y="1324661"/>
                <a:ext cx="3327400" cy="1710639"/>
              </a:xfrm>
              <a:prstGeom prst="rect">
                <a:avLst/>
              </a:prstGeom>
              <a:noFill/>
              <a:ln>
                <a:noFill/>
              </a:ln>
            </p:spPr>
          </p:pic>
          <p:sp>
            <p:nvSpPr>
              <p:cNvPr id="37" name="Oval 36">
                <a:extLst>
                  <a:ext uri="{FF2B5EF4-FFF2-40B4-BE49-F238E27FC236}">
                    <a16:creationId xmlns:a16="http://schemas.microsoft.com/office/drawing/2014/main" id="{A047AC44-39CD-3FEC-D264-994A2BE01CDE}"/>
                  </a:ext>
                </a:extLst>
              </p:cNvPr>
              <p:cNvSpPr/>
              <p:nvPr/>
            </p:nvSpPr>
            <p:spPr>
              <a:xfrm>
                <a:off x="7089253" y="1391954"/>
                <a:ext cx="774700" cy="323850"/>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Google Shape;150;g3cbd0e6f7a2_2_8">
              <a:extLst>
                <a:ext uri="{FF2B5EF4-FFF2-40B4-BE49-F238E27FC236}">
                  <a16:creationId xmlns:a16="http://schemas.microsoft.com/office/drawing/2014/main" id="{2ECFF8F3-D508-C31C-1DB6-06D37E7D06E0}"/>
                </a:ext>
              </a:extLst>
            </p:cNvPr>
            <p:cNvSpPr txBox="1"/>
            <p:nvPr/>
          </p:nvSpPr>
          <p:spPr>
            <a:xfrm>
              <a:off x="6273800" y="3012313"/>
              <a:ext cx="2405607" cy="365400"/>
            </a:xfrm>
            <a:prstGeom prst="rect">
              <a:avLst/>
            </a:prstGeom>
            <a:noFill/>
            <a:ln>
              <a:noFill/>
            </a:ln>
          </p:spPr>
          <p:txBody>
            <a:bodyPr spcFirstLastPara="1" wrap="square" lIns="91425" tIns="91425" rIns="91425" bIns="91425" anchor="t" anchorCtr="0">
              <a:noAutofit/>
            </a:bodyPr>
            <a:lstStyle/>
            <a:p>
              <a:pPr lvl="0"/>
              <a:r>
                <a:rPr lang="de-DE" b="1" dirty="0"/>
                <a:t>Fig. 16 </a:t>
              </a:r>
              <a:r>
                <a:rPr lang="de-DE" dirty="0"/>
                <a:t>DMD DT Scheme </a:t>
              </a:r>
              <a:r>
                <a:rPr lang="de-DE" sz="800" dirty="0"/>
                <a:t>[*]</a:t>
              </a:r>
              <a:endParaRPr dirty="0"/>
            </a:p>
          </p:txBody>
        </p:sp>
      </p:grpSp>
    </p:spTree>
    <p:extLst>
      <p:ext uri="{BB962C8B-B14F-4D97-AF65-F5344CB8AC3E}">
        <p14:creationId xmlns:p14="http://schemas.microsoft.com/office/powerpoint/2010/main" val="3169085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0CB7FB68-0909-C00A-2BE6-6D690290192E}"/>
            </a:ext>
          </a:extLst>
        </p:cNvPr>
        <p:cNvGrpSpPr/>
        <p:nvPr/>
      </p:nvGrpSpPr>
      <p:grpSpPr>
        <a:xfrm>
          <a:off x="0" y="0"/>
          <a:ext cx="0" cy="0"/>
          <a:chOff x="0" y="0"/>
          <a:chExt cx="0" cy="0"/>
        </a:xfrm>
      </p:grpSpPr>
      <p:sp>
        <p:nvSpPr>
          <p:cNvPr id="186" name="Google Shape;186;g3958929c9b2_1_34">
            <a:extLst>
              <a:ext uri="{FF2B5EF4-FFF2-40B4-BE49-F238E27FC236}">
                <a16:creationId xmlns:a16="http://schemas.microsoft.com/office/drawing/2014/main" id="{BA5B73B2-DC3E-3CDE-2EC3-AA8914B70888}"/>
              </a:ext>
            </a:extLst>
          </p:cNvPr>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Data Driven DMD</a:t>
            </a:r>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47B82BA-60D4-5D2C-9864-6F2A56B4EFAF}"/>
                  </a:ext>
                </a:extLst>
              </p:cNvPr>
              <p:cNvSpPr txBox="1"/>
              <p:nvPr/>
            </p:nvSpPr>
            <p:spPr>
              <a:xfrm>
                <a:off x="133350" y="977552"/>
                <a:ext cx="4362450" cy="1384995"/>
              </a:xfrm>
              <a:prstGeom prst="rect">
                <a:avLst/>
              </a:prstGeom>
              <a:noFill/>
            </p:spPr>
            <p:txBody>
              <a:bodyPr wrap="square" rtlCol="0">
                <a:spAutoFit/>
              </a:bodyPr>
              <a:lstStyle/>
              <a:p>
                <a:r>
                  <a:rPr lang="en-US" dirty="0"/>
                  <a:t>Goal: Adapt a system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𝑘</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𝐺</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sub>
                            </m:sSub>
                          </m:e>
                        </m:d>
                      </m:e>
                      <m:sup>
                        <m:r>
                          <a:rPr lang="en-US" b="0" i="1" smtClean="0">
                            <a:latin typeface="Cambria Math" panose="02040503050406030204" pitchFamily="18" charset="0"/>
                          </a:rPr>
                          <m:t>𝑇</m:t>
                        </m:r>
                      </m:sup>
                    </m:sSup>
                  </m:oMath>
                </a14:m>
                <a:endParaRPr lang="en-US" b="0" dirty="0"/>
              </a:p>
              <a:p>
                <a:endParaRPr lang="en-US" dirty="0"/>
              </a:p>
              <a:p>
                <a:endParaRPr lang="en-US" b="0" dirty="0"/>
              </a:p>
              <a:p>
                <a:r>
                  <a:rPr lang="en-US" b="0" dirty="0"/>
                  <a:t> </a:t>
                </a:r>
              </a:p>
              <a:p>
                <a:endParaRPr lang="en-US" b="0" dirty="0"/>
              </a:p>
              <a:p>
                <a:endParaRPr lang="en-US" dirty="0"/>
              </a:p>
            </p:txBody>
          </p:sp>
        </mc:Choice>
        <mc:Fallback xmlns="">
          <p:sp>
            <p:nvSpPr>
              <p:cNvPr id="2" name="TextBox 1">
                <a:extLst>
                  <a:ext uri="{FF2B5EF4-FFF2-40B4-BE49-F238E27FC236}">
                    <a16:creationId xmlns:a16="http://schemas.microsoft.com/office/drawing/2014/main" id="{647B82BA-60D4-5D2C-9864-6F2A56B4EFAF}"/>
                  </a:ext>
                </a:extLst>
              </p:cNvPr>
              <p:cNvSpPr txBox="1">
                <a:spLocks noRot="1" noChangeAspect="1" noMove="1" noResize="1" noEditPoints="1" noAdjustHandles="1" noChangeArrowheads="1" noChangeShapeType="1" noTextEdit="1"/>
              </p:cNvSpPr>
              <p:nvPr/>
            </p:nvSpPr>
            <p:spPr>
              <a:xfrm>
                <a:off x="133350" y="977552"/>
                <a:ext cx="4362450" cy="1384995"/>
              </a:xfrm>
              <a:prstGeom prst="rect">
                <a:avLst/>
              </a:prstGeom>
              <a:blipFill>
                <a:blip r:embed="rId3"/>
                <a:stretch>
                  <a:fillRect l="-419" t="-439"/>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F2E92D02-B59E-6969-9C66-B7C3675CAE37}"/>
              </a:ext>
            </a:extLst>
          </p:cNvPr>
          <p:cNvGrpSpPr/>
          <p:nvPr/>
        </p:nvGrpSpPr>
        <p:grpSpPr>
          <a:xfrm>
            <a:off x="812258" y="1460419"/>
            <a:ext cx="3722451" cy="2397480"/>
            <a:chOff x="812258" y="1460419"/>
            <a:chExt cx="3722451" cy="2397480"/>
          </a:xfrm>
        </p:grpSpPr>
        <p:pic>
          <p:nvPicPr>
            <p:cNvPr id="10" name="Picture 9" descr="The image illustrates a complex update loop in a matrix factorization algorithm, detailing the process of updating memory and operator matrices, and the application of the Sherman-Morrison formula.&#10;&#10;AI-generated content may be incorrect.">
              <a:extLst>
                <a:ext uri="{FF2B5EF4-FFF2-40B4-BE49-F238E27FC236}">
                  <a16:creationId xmlns:a16="http://schemas.microsoft.com/office/drawing/2014/main" id="{2F277A49-8781-6047-528A-654CA0F9DDD0}"/>
                </a:ext>
              </a:extLst>
            </p:cNvPr>
            <p:cNvPicPr>
              <a:picLocks noChangeAspect="1"/>
            </p:cNvPicPr>
            <p:nvPr/>
          </p:nvPicPr>
          <p:blipFill>
            <a:blip r:embed="rId4"/>
            <a:stretch>
              <a:fillRect/>
            </a:stretch>
          </p:blipFill>
          <p:spPr>
            <a:xfrm>
              <a:off x="812258" y="1460419"/>
              <a:ext cx="3722451" cy="2032080"/>
            </a:xfrm>
            <a:prstGeom prst="rect">
              <a:avLst/>
            </a:prstGeom>
          </p:spPr>
        </p:pic>
        <p:sp>
          <p:nvSpPr>
            <p:cNvPr id="24" name="Google Shape;150;g3cbd0e6f7a2_2_8">
              <a:extLst>
                <a:ext uri="{FF2B5EF4-FFF2-40B4-BE49-F238E27FC236}">
                  <a16:creationId xmlns:a16="http://schemas.microsoft.com/office/drawing/2014/main" id="{B35D8E9C-1CDC-4C6D-4D15-75B8099FF91B}"/>
                </a:ext>
              </a:extLst>
            </p:cNvPr>
            <p:cNvSpPr txBox="1"/>
            <p:nvPr/>
          </p:nvSpPr>
          <p:spPr>
            <a:xfrm>
              <a:off x="1553202" y="3492499"/>
              <a:ext cx="2465547" cy="365400"/>
            </a:xfrm>
            <a:prstGeom prst="rect">
              <a:avLst/>
            </a:prstGeom>
            <a:noFill/>
            <a:ln>
              <a:noFill/>
            </a:ln>
          </p:spPr>
          <p:txBody>
            <a:bodyPr spcFirstLastPara="1" wrap="square" lIns="91425" tIns="91425" rIns="91425" bIns="91425" anchor="t" anchorCtr="0">
              <a:noAutofit/>
            </a:bodyPr>
            <a:lstStyle/>
            <a:p>
              <a:pPr lvl="0"/>
              <a:r>
                <a:rPr lang="de-DE" b="1" dirty="0"/>
                <a:t>Fig. 18 </a:t>
              </a:r>
              <a:r>
                <a:rPr lang="de-DE" dirty="0"/>
                <a:t>Online DMD RLS </a:t>
              </a:r>
              <a:r>
                <a:rPr lang="de-DE" sz="700" dirty="0"/>
                <a:t>[*]</a:t>
              </a:r>
              <a:r>
                <a:rPr lang="de-DE" dirty="0"/>
                <a:t> </a:t>
              </a:r>
              <a:endParaRPr dirty="0"/>
            </a:p>
          </p:txBody>
        </p:sp>
      </p:grpSp>
      <p:grpSp>
        <p:nvGrpSpPr>
          <p:cNvPr id="27" name="Group 26">
            <a:extLst>
              <a:ext uri="{FF2B5EF4-FFF2-40B4-BE49-F238E27FC236}">
                <a16:creationId xmlns:a16="http://schemas.microsoft.com/office/drawing/2014/main" id="{3AA04B04-30C8-D5A9-DCBE-914BC50099BB}"/>
              </a:ext>
            </a:extLst>
          </p:cNvPr>
          <p:cNvGrpSpPr/>
          <p:nvPr/>
        </p:nvGrpSpPr>
        <p:grpSpPr>
          <a:xfrm>
            <a:off x="5203014" y="4428370"/>
            <a:ext cx="3453271" cy="215444"/>
            <a:chOff x="5209536" y="4494390"/>
            <a:chExt cx="3453271" cy="215444"/>
          </a:xfrm>
        </p:grpSpPr>
        <p:sp>
          <p:nvSpPr>
            <p:cNvPr id="28" name="Rechteck 3">
              <a:extLst>
                <a:ext uri="{FF2B5EF4-FFF2-40B4-BE49-F238E27FC236}">
                  <a16:creationId xmlns:a16="http://schemas.microsoft.com/office/drawing/2014/main" id="{99A9291B-0F78-6427-5D03-77E9CDCC4BFF}"/>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t>Introduction</a:t>
              </a:r>
            </a:p>
          </p:txBody>
        </p:sp>
        <p:sp>
          <p:nvSpPr>
            <p:cNvPr id="29" name="Rechteck 4">
              <a:extLst>
                <a:ext uri="{FF2B5EF4-FFF2-40B4-BE49-F238E27FC236}">
                  <a16:creationId xmlns:a16="http://schemas.microsoft.com/office/drawing/2014/main" id="{DBD828EB-1E85-0129-7890-695445285868}"/>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30" name="Rechteck 5">
              <a:extLst>
                <a:ext uri="{FF2B5EF4-FFF2-40B4-BE49-F238E27FC236}">
                  <a16:creationId xmlns:a16="http://schemas.microsoft.com/office/drawing/2014/main" id="{F56A8D3A-DD00-EE9E-082A-1BC45F5B5477}"/>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Methodology</a:t>
              </a:r>
              <a:endParaRPr lang="de-DE" sz="800" dirty="0"/>
            </a:p>
          </p:txBody>
        </p:sp>
        <p:sp>
          <p:nvSpPr>
            <p:cNvPr id="31" name="Rechteck 6">
              <a:extLst>
                <a:ext uri="{FF2B5EF4-FFF2-40B4-BE49-F238E27FC236}">
                  <a16:creationId xmlns:a16="http://schemas.microsoft.com/office/drawing/2014/main" id="{65783A1E-09AE-BD6F-7AFB-38ECFE467552}"/>
                </a:ext>
              </a:extLst>
            </p:cNvPr>
            <p:cNvSpPr/>
            <p:nvPr/>
          </p:nvSpPr>
          <p:spPr bwMode="auto">
            <a:xfrm>
              <a:off x="7798711"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solidFill>
                    <a:schemeClr val="bg1"/>
                  </a:solidFill>
                </a:rPr>
                <a:t>Results</a:t>
              </a:r>
              <a:endParaRPr lang="de-DE" sz="800" dirty="0">
                <a:solidFill>
                  <a:schemeClr val="bg1"/>
                </a:solidFill>
              </a:endParaRPr>
            </a:p>
          </p:txBody>
        </p:sp>
      </p:grpSp>
      <p:sp>
        <p:nvSpPr>
          <p:cNvPr id="32" name="TextBox 31">
            <a:extLst>
              <a:ext uri="{FF2B5EF4-FFF2-40B4-BE49-F238E27FC236}">
                <a16:creationId xmlns:a16="http://schemas.microsoft.com/office/drawing/2014/main" id="{843F0C34-E1DF-8B94-9FD4-629CDF8448CD}"/>
              </a:ext>
            </a:extLst>
          </p:cNvPr>
          <p:cNvSpPr txBox="1"/>
          <p:nvPr/>
        </p:nvSpPr>
        <p:spPr>
          <a:xfrm>
            <a:off x="6219062" y="4777825"/>
            <a:ext cx="2282158" cy="307777"/>
          </a:xfrm>
          <a:prstGeom prst="rect">
            <a:avLst/>
          </a:prstGeom>
          <a:noFill/>
        </p:spPr>
        <p:txBody>
          <a:bodyPr wrap="square" rtlCol="0">
            <a:spAutoFit/>
          </a:bodyPr>
          <a:lstStyle/>
          <a:p>
            <a:r>
              <a:rPr lang="en-US" sz="700" dirty="0"/>
              <a:t>Based: Zhang et al. Online dynamic mode decomposition for time-varying systems[6]</a:t>
            </a:r>
          </a:p>
        </p:txBody>
      </p:sp>
      <p:grpSp>
        <p:nvGrpSpPr>
          <p:cNvPr id="33" name="Group 32">
            <a:extLst>
              <a:ext uri="{FF2B5EF4-FFF2-40B4-BE49-F238E27FC236}">
                <a16:creationId xmlns:a16="http://schemas.microsoft.com/office/drawing/2014/main" id="{D54AD339-CB4E-A261-E08F-A7BB2E652521}"/>
              </a:ext>
            </a:extLst>
          </p:cNvPr>
          <p:cNvGrpSpPr/>
          <p:nvPr/>
        </p:nvGrpSpPr>
        <p:grpSpPr>
          <a:xfrm>
            <a:off x="5604916" y="1768277"/>
            <a:ext cx="3327400" cy="2053052"/>
            <a:chOff x="5556250" y="1324661"/>
            <a:chExt cx="3327400" cy="2053052"/>
          </a:xfrm>
        </p:grpSpPr>
        <p:grpSp>
          <p:nvGrpSpPr>
            <p:cNvPr id="34" name="Group 33">
              <a:extLst>
                <a:ext uri="{FF2B5EF4-FFF2-40B4-BE49-F238E27FC236}">
                  <a16:creationId xmlns:a16="http://schemas.microsoft.com/office/drawing/2014/main" id="{B2E1B108-7DD6-E386-8C21-83C62D9023FE}"/>
                </a:ext>
              </a:extLst>
            </p:cNvPr>
            <p:cNvGrpSpPr/>
            <p:nvPr/>
          </p:nvGrpSpPr>
          <p:grpSpPr>
            <a:xfrm>
              <a:off x="5556250" y="1324661"/>
              <a:ext cx="3327400" cy="1710639"/>
              <a:chOff x="5556250" y="1324661"/>
              <a:chExt cx="3327400" cy="1710639"/>
            </a:xfrm>
          </p:grpSpPr>
          <p:pic>
            <p:nvPicPr>
              <p:cNvPr id="36" name="Google Shape;188;g3958929c9b2_1_34">
                <a:extLst>
                  <a:ext uri="{FF2B5EF4-FFF2-40B4-BE49-F238E27FC236}">
                    <a16:creationId xmlns:a16="http://schemas.microsoft.com/office/drawing/2014/main" id="{D548DE43-1E09-CA7E-5EF5-56FE85201EE0}"/>
                  </a:ext>
                </a:extLst>
              </p:cNvPr>
              <p:cNvPicPr preferRelativeResize="0"/>
              <p:nvPr/>
            </p:nvPicPr>
            <p:blipFill>
              <a:blip r:embed="rId5">
                <a:alphaModFix/>
              </a:blip>
              <a:stretch>
                <a:fillRect/>
              </a:stretch>
            </p:blipFill>
            <p:spPr>
              <a:xfrm>
                <a:off x="5556250" y="1324661"/>
                <a:ext cx="3327400" cy="1710639"/>
              </a:xfrm>
              <a:prstGeom prst="rect">
                <a:avLst/>
              </a:prstGeom>
              <a:noFill/>
              <a:ln>
                <a:noFill/>
              </a:ln>
            </p:spPr>
          </p:pic>
          <p:sp>
            <p:nvSpPr>
              <p:cNvPr id="37" name="Oval 36">
                <a:extLst>
                  <a:ext uri="{FF2B5EF4-FFF2-40B4-BE49-F238E27FC236}">
                    <a16:creationId xmlns:a16="http://schemas.microsoft.com/office/drawing/2014/main" id="{3F964AA5-FA40-8DC9-7624-F9A74503F09F}"/>
                  </a:ext>
                </a:extLst>
              </p:cNvPr>
              <p:cNvSpPr/>
              <p:nvPr/>
            </p:nvSpPr>
            <p:spPr>
              <a:xfrm>
                <a:off x="8108950" y="1399638"/>
                <a:ext cx="774700" cy="323850"/>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Google Shape;150;g3cbd0e6f7a2_2_8">
              <a:extLst>
                <a:ext uri="{FF2B5EF4-FFF2-40B4-BE49-F238E27FC236}">
                  <a16:creationId xmlns:a16="http://schemas.microsoft.com/office/drawing/2014/main" id="{2E91A7C7-5C62-7961-78B9-AD95959F7A35}"/>
                </a:ext>
              </a:extLst>
            </p:cNvPr>
            <p:cNvSpPr txBox="1"/>
            <p:nvPr/>
          </p:nvSpPr>
          <p:spPr>
            <a:xfrm>
              <a:off x="6273800" y="3012313"/>
              <a:ext cx="2405607" cy="365400"/>
            </a:xfrm>
            <a:prstGeom prst="rect">
              <a:avLst/>
            </a:prstGeom>
            <a:noFill/>
            <a:ln>
              <a:noFill/>
            </a:ln>
          </p:spPr>
          <p:txBody>
            <a:bodyPr spcFirstLastPara="1" wrap="square" lIns="91425" tIns="91425" rIns="91425" bIns="91425" anchor="t" anchorCtr="0">
              <a:noAutofit/>
            </a:bodyPr>
            <a:lstStyle/>
            <a:p>
              <a:pPr lvl="0"/>
              <a:r>
                <a:rPr lang="de-DE" b="1" dirty="0"/>
                <a:t>Fig. 16 </a:t>
              </a:r>
              <a:r>
                <a:rPr lang="de-DE" dirty="0"/>
                <a:t>DMD DT Scheme </a:t>
              </a:r>
              <a:r>
                <a:rPr lang="de-DE" sz="800" dirty="0"/>
                <a:t>[*]</a:t>
              </a:r>
              <a:endParaRPr dirty="0"/>
            </a:p>
          </p:txBody>
        </p:sp>
      </p:grpSp>
    </p:spTree>
    <p:extLst>
      <p:ext uri="{BB962C8B-B14F-4D97-AF65-F5344CB8AC3E}">
        <p14:creationId xmlns:p14="http://schemas.microsoft.com/office/powerpoint/2010/main" val="3057673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3958929c9b2_1_42"/>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DMD Results</a:t>
            </a:r>
            <a:endParaRPr/>
          </a:p>
        </p:txBody>
      </p:sp>
      <p:grpSp>
        <p:nvGrpSpPr>
          <p:cNvPr id="17" name="Group 16">
            <a:extLst>
              <a:ext uri="{FF2B5EF4-FFF2-40B4-BE49-F238E27FC236}">
                <a16:creationId xmlns:a16="http://schemas.microsoft.com/office/drawing/2014/main" id="{A2760CB0-7399-F914-0585-C649FA3D4515}"/>
              </a:ext>
            </a:extLst>
          </p:cNvPr>
          <p:cNvGrpSpPr/>
          <p:nvPr/>
        </p:nvGrpSpPr>
        <p:grpSpPr>
          <a:xfrm>
            <a:off x="304701" y="1186958"/>
            <a:ext cx="3654218" cy="3338262"/>
            <a:chOff x="304701" y="1186958"/>
            <a:chExt cx="3654218" cy="3338262"/>
          </a:xfrm>
        </p:grpSpPr>
        <p:grpSp>
          <p:nvGrpSpPr>
            <p:cNvPr id="13" name="Group 12">
              <a:extLst>
                <a:ext uri="{FF2B5EF4-FFF2-40B4-BE49-F238E27FC236}">
                  <a16:creationId xmlns:a16="http://schemas.microsoft.com/office/drawing/2014/main" id="{C6742A10-0A7B-65D8-0AC6-95B1076CADFB}"/>
                </a:ext>
              </a:extLst>
            </p:cNvPr>
            <p:cNvGrpSpPr/>
            <p:nvPr/>
          </p:nvGrpSpPr>
          <p:grpSpPr>
            <a:xfrm>
              <a:off x="304701" y="1186958"/>
              <a:ext cx="3527997" cy="3093224"/>
              <a:chOff x="304700" y="1336914"/>
              <a:chExt cx="3527997" cy="3093224"/>
            </a:xfrm>
          </p:grpSpPr>
          <p:pic>
            <p:nvPicPr>
              <p:cNvPr id="3" name="Graphic 2">
                <a:extLst>
                  <a:ext uri="{FF2B5EF4-FFF2-40B4-BE49-F238E27FC236}">
                    <a16:creationId xmlns:a16="http://schemas.microsoft.com/office/drawing/2014/main" id="{04F8C201-F028-5F00-E7E6-98736A9229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4700" y="1336914"/>
                <a:ext cx="3527997" cy="3093224"/>
              </a:xfrm>
              <a:prstGeom prst="rect">
                <a:avLst/>
              </a:prstGeom>
            </p:spPr>
          </p:pic>
          <p:cxnSp>
            <p:nvCxnSpPr>
              <p:cNvPr id="7" name="Straight Arrow Connector 6">
                <a:extLst>
                  <a:ext uri="{FF2B5EF4-FFF2-40B4-BE49-F238E27FC236}">
                    <a16:creationId xmlns:a16="http://schemas.microsoft.com/office/drawing/2014/main" id="{078200D7-E658-5666-352F-B96B048A2CC5}"/>
                  </a:ext>
                </a:extLst>
              </p:cNvPr>
              <p:cNvCxnSpPr>
                <a:cxnSpLocks/>
              </p:cNvCxnSpPr>
              <p:nvPr/>
            </p:nvCxnSpPr>
            <p:spPr>
              <a:xfrm flipH="1">
                <a:off x="778213" y="2571750"/>
                <a:ext cx="376136" cy="19090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a:extLst>
                  <a:ext uri="{FF2B5EF4-FFF2-40B4-BE49-F238E27FC236}">
                    <a16:creationId xmlns:a16="http://schemas.microsoft.com/office/drawing/2014/main" id="{C6D6E36C-5889-AA0A-CC9C-D00163EFA6EE}"/>
                  </a:ext>
                </a:extLst>
              </p:cNvPr>
              <p:cNvCxnSpPr>
                <a:cxnSpLocks/>
              </p:cNvCxnSpPr>
              <p:nvPr/>
            </p:nvCxnSpPr>
            <p:spPr>
              <a:xfrm flipV="1">
                <a:off x="2938465" y="1650459"/>
                <a:ext cx="0" cy="32749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6F909FB6-66FF-0600-C3C9-851C5712DE05}"/>
                  </a:ext>
                </a:extLst>
              </p:cNvPr>
              <p:cNvSpPr txBox="1"/>
              <p:nvPr/>
            </p:nvSpPr>
            <p:spPr>
              <a:xfrm>
                <a:off x="966281" y="2356306"/>
                <a:ext cx="1134521" cy="215444"/>
              </a:xfrm>
              <a:prstGeom prst="rect">
                <a:avLst/>
              </a:prstGeom>
              <a:noFill/>
            </p:spPr>
            <p:txBody>
              <a:bodyPr wrap="square" rtlCol="0">
                <a:spAutoFit/>
              </a:bodyPr>
              <a:lstStyle/>
              <a:p>
                <a:r>
                  <a:rPr lang="en-US" sz="800" dirty="0">
                    <a:solidFill>
                      <a:schemeClr val="tx2">
                        <a:lumMod val="75000"/>
                      </a:schemeClr>
                    </a:solidFill>
                  </a:rPr>
                  <a:t>Initial guess</a:t>
                </a:r>
              </a:p>
            </p:txBody>
          </p:sp>
          <p:sp>
            <p:nvSpPr>
              <p:cNvPr id="12" name="TextBox 11">
                <a:extLst>
                  <a:ext uri="{FF2B5EF4-FFF2-40B4-BE49-F238E27FC236}">
                    <a16:creationId xmlns:a16="http://schemas.microsoft.com/office/drawing/2014/main" id="{22EAE373-6B52-347E-58D9-66A65059CE73}"/>
                  </a:ext>
                </a:extLst>
              </p:cNvPr>
              <p:cNvSpPr txBox="1"/>
              <p:nvPr/>
            </p:nvSpPr>
            <p:spPr>
              <a:xfrm>
                <a:off x="2603944" y="1977957"/>
                <a:ext cx="1134521" cy="215444"/>
              </a:xfrm>
              <a:prstGeom prst="rect">
                <a:avLst/>
              </a:prstGeom>
              <a:noFill/>
            </p:spPr>
            <p:txBody>
              <a:bodyPr wrap="square" rtlCol="0">
                <a:spAutoFit/>
              </a:bodyPr>
              <a:lstStyle/>
              <a:p>
                <a:r>
                  <a:rPr lang="en-US" sz="800" dirty="0">
                    <a:solidFill>
                      <a:schemeClr val="tx2">
                        <a:lumMod val="75000"/>
                      </a:schemeClr>
                    </a:solidFill>
                  </a:rPr>
                  <a:t>Adapted model</a:t>
                </a:r>
              </a:p>
            </p:txBody>
          </p:sp>
        </p:grpSp>
        <p:sp>
          <p:nvSpPr>
            <p:cNvPr id="14" name="Google Shape;150;g3cbd0e6f7a2_2_8">
              <a:extLst>
                <a:ext uri="{FF2B5EF4-FFF2-40B4-BE49-F238E27FC236}">
                  <a16:creationId xmlns:a16="http://schemas.microsoft.com/office/drawing/2014/main" id="{F546C5EA-0FEE-DE47-9B5D-065D57361A6C}"/>
                </a:ext>
              </a:extLst>
            </p:cNvPr>
            <p:cNvSpPr txBox="1"/>
            <p:nvPr/>
          </p:nvSpPr>
          <p:spPr>
            <a:xfrm>
              <a:off x="847853" y="4159820"/>
              <a:ext cx="3111066"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b="1" dirty="0"/>
                <a:t>Fig. 19 </a:t>
              </a:r>
              <a:r>
                <a:rPr lang="de-DE" dirty="0"/>
                <a:t>Online DMD convergence</a:t>
              </a:r>
              <a:endParaRPr dirty="0"/>
            </a:p>
          </p:txBody>
        </p:sp>
      </p:grpSp>
      <p:grpSp>
        <p:nvGrpSpPr>
          <p:cNvPr id="20" name="Group 19">
            <a:extLst>
              <a:ext uri="{FF2B5EF4-FFF2-40B4-BE49-F238E27FC236}">
                <a16:creationId xmlns:a16="http://schemas.microsoft.com/office/drawing/2014/main" id="{3C50AF5D-7CF3-28DD-8AA5-8D9C2140A9BE}"/>
              </a:ext>
            </a:extLst>
          </p:cNvPr>
          <p:cNvGrpSpPr/>
          <p:nvPr/>
        </p:nvGrpSpPr>
        <p:grpSpPr>
          <a:xfrm>
            <a:off x="4572000" y="1030523"/>
            <a:ext cx="4079725" cy="3397847"/>
            <a:chOff x="4520281" y="1152859"/>
            <a:chExt cx="4079725" cy="3397847"/>
          </a:xfrm>
        </p:grpSpPr>
        <p:sp>
          <p:nvSpPr>
            <p:cNvPr id="15" name="Google Shape;150;g3cbd0e6f7a2_2_8">
              <a:extLst>
                <a:ext uri="{FF2B5EF4-FFF2-40B4-BE49-F238E27FC236}">
                  <a16:creationId xmlns:a16="http://schemas.microsoft.com/office/drawing/2014/main" id="{F44EE209-496B-3AA1-5C57-72D7591D194A}"/>
                </a:ext>
              </a:extLst>
            </p:cNvPr>
            <p:cNvSpPr txBox="1"/>
            <p:nvPr/>
          </p:nvSpPr>
          <p:spPr>
            <a:xfrm>
              <a:off x="5179275" y="4185306"/>
              <a:ext cx="3111066"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b="1" dirty="0"/>
                <a:t>Fig. 20  </a:t>
              </a:r>
              <a:r>
                <a:rPr lang="de-DE" dirty="0"/>
                <a:t>DMD DT Validation</a:t>
              </a:r>
              <a:endParaRPr dirty="0"/>
            </a:p>
          </p:txBody>
        </p:sp>
        <p:pic>
          <p:nvPicPr>
            <p:cNvPr id="19" name="Graphic 18">
              <a:extLst>
                <a:ext uri="{FF2B5EF4-FFF2-40B4-BE49-F238E27FC236}">
                  <a16:creationId xmlns:a16="http://schemas.microsoft.com/office/drawing/2014/main" id="{AD2612C5-824B-96CC-D92F-505FB5CE544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0281" y="1152859"/>
              <a:ext cx="4079725" cy="3155562"/>
            </a:xfrm>
            <a:prstGeom prst="rect">
              <a:avLst/>
            </a:prstGeom>
          </p:spPr>
        </p:pic>
      </p:grpSp>
      <p:grpSp>
        <p:nvGrpSpPr>
          <p:cNvPr id="21" name="Group 20">
            <a:extLst>
              <a:ext uri="{FF2B5EF4-FFF2-40B4-BE49-F238E27FC236}">
                <a16:creationId xmlns:a16="http://schemas.microsoft.com/office/drawing/2014/main" id="{E6A8BA50-A16A-1E8C-3408-8587A5ADEB4D}"/>
              </a:ext>
            </a:extLst>
          </p:cNvPr>
          <p:cNvGrpSpPr/>
          <p:nvPr/>
        </p:nvGrpSpPr>
        <p:grpSpPr>
          <a:xfrm>
            <a:off x="5203014" y="4428370"/>
            <a:ext cx="3453271" cy="215444"/>
            <a:chOff x="5209536" y="4494390"/>
            <a:chExt cx="3453271" cy="215444"/>
          </a:xfrm>
        </p:grpSpPr>
        <p:sp>
          <p:nvSpPr>
            <p:cNvPr id="22" name="Rechteck 3">
              <a:extLst>
                <a:ext uri="{FF2B5EF4-FFF2-40B4-BE49-F238E27FC236}">
                  <a16:creationId xmlns:a16="http://schemas.microsoft.com/office/drawing/2014/main" id="{8E3F830A-AEFC-D9B6-487C-14D153C4F198}"/>
                </a:ext>
              </a:extLst>
            </p:cNvPr>
            <p:cNvSpPr/>
            <p:nvPr/>
          </p:nvSpPr>
          <p:spPr bwMode="auto">
            <a:xfrm>
              <a:off x="5209536"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dirty="0"/>
                <a:t>Introduction</a:t>
              </a:r>
            </a:p>
          </p:txBody>
        </p:sp>
        <p:sp>
          <p:nvSpPr>
            <p:cNvPr id="23" name="Rechteck 4">
              <a:extLst>
                <a:ext uri="{FF2B5EF4-FFF2-40B4-BE49-F238E27FC236}">
                  <a16:creationId xmlns:a16="http://schemas.microsoft.com/office/drawing/2014/main" id="{348740D2-EB96-A3D7-8CE7-470B9D58E36A}"/>
                </a:ext>
              </a:extLst>
            </p:cNvPr>
            <p:cNvSpPr/>
            <p:nvPr/>
          </p:nvSpPr>
          <p:spPr bwMode="auto">
            <a:xfrm>
              <a:off x="6070519"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Review</a:t>
              </a:r>
              <a:endParaRPr lang="de-DE" sz="800" dirty="0"/>
            </a:p>
          </p:txBody>
        </p:sp>
        <p:sp>
          <p:nvSpPr>
            <p:cNvPr id="24" name="Rechteck 5">
              <a:extLst>
                <a:ext uri="{FF2B5EF4-FFF2-40B4-BE49-F238E27FC236}">
                  <a16:creationId xmlns:a16="http://schemas.microsoft.com/office/drawing/2014/main" id="{B5393FA7-1A2F-2E77-8720-6EF33FAA8FC9}"/>
                </a:ext>
              </a:extLst>
            </p:cNvPr>
            <p:cNvSpPr/>
            <p:nvPr/>
          </p:nvSpPr>
          <p:spPr bwMode="auto">
            <a:xfrm>
              <a:off x="6934615" y="4494390"/>
              <a:ext cx="864096" cy="21544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t>Methodology</a:t>
              </a:r>
              <a:endParaRPr lang="de-DE" sz="800" dirty="0"/>
            </a:p>
          </p:txBody>
        </p:sp>
        <p:sp>
          <p:nvSpPr>
            <p:cNvPr id="25" name="Rechteck 6">
              <a:extLst>
                <a:ext uri="{FF2B5EF4-FFF2-40B4-BE49-F238E27FC236}">
                  <a16:creationId xmlns:a16="http://schemas.microsoft.com/office/drawing/2014/main" id="{F0049A44-AD7A-E3DC-A334-BBB85E5BBB69}"/>
                </a:ext>
              </a:extLst>
            </p:cNvPr>
            <p:cNvSpPr/>
            <p:nvPr/>
          </p:nvSpPr>
          <p:spPr bwMode="auto">
            <a:xfrm>
              <a:off x="7798711" y="4494390"/>
              <a:ext cx="864096" cy="215444"/>
            </a:xfrm>
            <a:prstGeom prst="rect">
              <a:avLst/>
            </a:prstGeom>
            <a:solidFill>
              <a:srgbClr val="00219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63599">
                <a:buClrTx/>
              </a:pPr>
              <a:r>
                <a:rPr lang="de-DE" sz="800">
                  <a:solidFill>
                    <a:schemeClr val="bg1"/>
                  </a:solidFill>
                </a:rPr>
                <a:t>Results</a:t>
              </a:r>
              <a:endParaRPr lang="de-DE" sz="800" dirty="0">
                <a:solidFill>
                  <a:schemeClr val="bg1"/>
                </a:solidFill>
              </a:endParaRPr>
            </a:p>
          </p:txBody>
        </p:sp>
      </p:grpSp>
      <p:sp>
        <p:nvSpPr>
          <p:cNvPr id="2" name="TextBox 1">
            <a:extLst>
              <a:ext uri="{FF2B5EF4-FFF2-40B4-BE49-F238E27FC236}">
                <a16:creationId xmlns:a16="http://schemas.microsoft.com/office/drawing/2014/main" id="{B6C836B0-43E0-B834-20EB-18715E61CFFF}"/>
              </a:ext>
            </a:extLst>
          </p:cNvPr>
          <p:cNvSpPr txBox="1"/>
          <p:nvPr/>
        </p:nvSpPr>
        <p:spPr>
          <a:xfrm>
            <a:off x="4823076" y="1285059"/>
            <a:ext cx="1134521" cy="215444"/>
          </a:xfrm>
          <a:prstGeom prst="rect">
            <a:avLst/>
          </a:prstGeom>
          <a:noFill/>
        </p:spPr>
        <p:txBody>
          <a:bodyPr wrap="square" rtlCol="0">
            <a:spAutoFit/>
          </a:bodyPr>
          <a:lstStyle/>
          <a:p>
            <a:r>
              <a:rPr lang="en-US" sz="800" dirty="0">
                <a:solidFill>
                  <a:schemeClr val="tx2">
                    <a:lumMod val="75000"/>
                  </a:schemeClr>
                </a:solidFill>
              </a:rPr>
              <a:t>Adapted model</a:t>
            </a:r>
          </a:p>
        </p:txBody>
      </p:sp>
      <p:cxnSp>
        <p:nvCxnSpPr>
          <p:cNvPr id="4" name="Straight Arrow Connector 3">
            <a:extLst>
              <a:ext uri="{FF2B5EF4-FFF2-40B4-BE49-F238E27FC236}">
                <a16:creationId xmlns:a16="http://schemas.microsoft.com/office/drawing/2014/main" id="{671FCF2B-604D-7A69-ECDB-53E9B871DF23}"/>
              </a:ext>
            </a:extLst>
          </p:cNvPr>
          <p:cNvCxnSpPr>
            <a:cxnSpLocks/>
          </p:cNvCxnSpPr>
          <p:nvPr/>
        </p:nvCxnSpPr>
        <p:spPr>
          <a:xfrm>
            <a:off x="6255066" y="2537110"/>
            <a:ext cx="356796" cy="5169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F6D343FC-0A03-6934-DD00-DFC2FF2E8B3E}"/>
              </a:ext>
            </a:extLst>
          </p:cNvPr>
          <p:cNvSpPr txBox="1"/>
          <p:nvPr/>
        </p:nvSpPr>
        <p:spPr>
          <a:xfrm>
            <a:off x="5477341" y="2429388"/>
            <a:ext cx="1134521" cy="215444"/>
          </a:xfrm>
          <a:prstGeom prst="rect">
            <a:avLst/>
          </a:prstGeom>
          <a:noFill/>
        </p:spPr>
        <p:txBody>
          <a:bodyPr wrap="square" rtlCol="0">
            <a:spAutoFit/>
          </a:bodyPr>
          <a:lstStyle/>
          <a:p>
            <a:r>
              <a:rPr lang="en-US" sz="800" dirty="0">
                <a:solidFill>
                  <a:schemeClr val="tx2">
                    <a:lumMod val="75000"/>
                  </a:schemeClr>
                </a:solidFill>
              </a:rPr>
              <a:t>Initial model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3b1c827341c_0_6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Summary</a:t>
            </a:r>
            <a:endParaRPr/>
          </a:p>
        </p:txBody>
      </p:sp>
      <p:graphicFrame>
        <p:nvGraphicFramePr>
          <p:cNvPr id="211" name="Google Shape;211;g3b1c827341c_0_64"/>
          <p:cNvGraphicFramePr/>
          <p:nvPr>
            <p:extLst>
              <p:ext uri="{D42A27DB-BD31-4B8C-83A1-F6EECF244321}">
                <p14:modId xmlns:p14="http://schemas.microsoft.com/office/powerpoint/2010/main" val="2934762710"/>
              </p:ext>
            </p:extLst>
          </p:nvPr>
        </p:nvGraphicFramePr>
        <p:xfrm>
          <a:off x="135287" y="965143"/>
          <a:ext cx="8873425" cy="2940839"/>
        </p:xfrm>
        <a:graphic>
          <a:graphicData uri="http://schemas.openxmlformats.org/drawingml/2006/table">
            <a:tbl>
              <a:tblPr>
                <a:noFill/>
                <a:tableStyleId>{3BC9254E-8F94-4BE2-AAB2-98E70E8378A8}</a:tableStyleId>
              </a:tblPr>
              <a:tblGrid>
                <a:gridCol w="1317000">
                  <a:extLst>
                    <a:ext uri="{9D8B030D-6E8A-4147-A177-3AD203B41FA5}">
                      <a16:colId xmlns:a16="http://schemas.microsoft.com/office/drawing/2014/main" val="20000"/>
                    </a:ext>
                  </a:extLst>
                </a:gridCol>
                <a:gridCol w="2764775">
                  <a:extLst>
                    <a:ext uri="{9D8B030D-6E8A-4147-A177-3AD203B41FA5}">
                      <a16:colId xmlns:a16="http://schemas.microsoft.com/office/drawing/2014/main" val="20001"/>
                    </a:ext>
                  </a:extLst>
                </a:gridCol>
                <a:gridCol w="2419175">
                  <a:extLst>
                    <a:ext uri="{9D8B030D-6E8A-4147-A177-3AD203B41FA5}">
                      <a16:colId xmlns:a16="http://schemas.microsoft.com/office/drawing/2014/main" val="20002"/>
                    </a:ext>
                  </a:extLst>
                </a:gridCol>
                <a:gridCol w="2372475">
                  <a:extLst>
                    <a:ext uri="{9D8B030D-6E8A-4147-A177-3AD203B41FA5}">
                      <a16:colId xmlns:a16="http://schemas.microsoft.com/office/drawing/2014/main" val="20003"/>
                    </a:ext>
                  </a:extLst>
                </a:gridCol>
              </a:tblGrid>
              <a:tr h="326450">
                <a:tc>
                  <a:txBody>
                    <a:bodyPr/>
                    <a:lstStyle/>
                    <a:p>
                      <a:pPr marL="0" lvl="0" indent="0" algn="l" rtl="0">
                        <a:lnSpc>
                          <a:spcPct val="115000"/>
                        </a:lnSpc>
                        <a:spcBef>
                          <a:spcPts val="0"/>
                        </a:spcBef>
                        <a:spcAft>
                          <a:spcPts val="0"/>
                        </a:spcAft>
                        <a:buNone/>
                      </a:pPr>
                      <a:r>
                        <a:rPr lang="de-DE" sz="1100" b="1" dirty="0">
                          <a:solidFill>
                            <a:srgbClr val="1F1F1F"/>
                          </a:solidFill>
                        </a:rPr>
                        <a:t>Method</a:t>
                      </a:r>
                      <a:endParaRPr sz="1100" b="1" dirty="0">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EFEFEF"/>
                    </a:solidFill>
                  </a:tcPr>
                </a:tc>
                <a:tc>
                  <a:txBody>
                    <a:bodyPr/>
                    <a:lstStyle/>
                    <a:p>
                      <a:pPr marL="0" lvl="0" indent="0" algn="l" rtl="0">
                        <a:lnSpc>
                          <a:spcPct val="115000"/>
                        </a:lnSpc>
                        <a:spcBef>
                          <a:spcPts val="0"/>
                        </a:spcBef>
                        <a:spcAft>
                          <a:spcPts val="0"/>
                        </a:spcAft>
                        <a:buNone/>
                      </a:pPr>
                      <a:r>
                        <a:rPr lang="de-DE" sz="1100" b="1">
                          <a:solidFill>
                            <a:srgbClr val="1F1F1F"/>
                          </a:solidFill>
                        </a:rPr>
                        <a:t>Primary Strength </a:t>
                      </a:r>
                      <a:endParaRPr sz="1100" b="1">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EFEFEF"/>
                    </a:solidFill>
                  </a:tcPr>
                </a:tc>
                <a:tc>
                  <a:txBody>
                    <a:bodyPr/>
                    <a:lstStyle/>
                    <a:p>
                      <a:pPr marL="0" lvl="0" indent="0" algn="l" rtl="0">
                        <a:lnSpc>
                          <a:spcPct val="115000"/>
                        </a:lnSpc>
                        <a:spcBef>
                          <a:spcPts val="0"/>
                        </a:spcBef>
                        <a:spcAft>
                          <a:spcPts val="0"/>
                        </a:spcAft>
                        <a:buNone/>
                      </a:pPr>
                      <a:r>
                        <a:rPr lang="de-DE" sz="1100" b="1">
                          <a:solidFill>
                            <a:srgbClr val="1F1F1F"/>
                          </a:solidFill>
                        </a:rPr>
                        <a:t>Main Challenge </a:t>
                      </a:r>
                      <a:endParaRPr sz="1100" b="1">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EFEFEF"/>
                    </a:solidFill>
                  </a:tcPr>
                </a:tc>
                <a:tc>
                  <a:txBody>
                    <a:bodyPr/>
                    <a:lstStyle/>
                    <a:p>
                      <a:pPr marL="0" lvl="0" indent="0" algn="l" rtl="0">
                        <a:lnSpc>
                          <a:spcPct val="115000"/>
                        </a:lnSpc>
                        <a:spcBef>
                          <a:spcPts val="0"/>
                        </a:spcBef>
                        <a:spcAft>
                          <a:spcPts val="0"/>
                        </a:spcAft>
                        <a:buNone/>
                      </a:pPr>
                      <a:r>
                        <a:rPr lang="de-DE" sz="1100" b="1">
                          <a:solidFill>
                            <a:srgbClr val="1F1F1F"/>
                          </a:solidFill>
                        </a:rPr>
                        <a:t>Best Use Case</a:t>
                      </a:r>
                      <a:endParaRPr sz="1100" b="1">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EFEFEF"/>
                    </a:solidFill>
                  </a:tcPr>
                </a:tc>
                <a:extLst>
                  <a:ext uri="{0D108BD9-81ED-4DB2-BD59-A6C34878D82A}">
                    <a16:rowId xmlns:a16="http://schemas.microsoft.com/office/drawing/2014/main" val="10000"/>
                  </a:ext>
                </a:extLst>
              </a:tr>
              <a:tr h="870575">
                <a:tc>
                  <a:txBody>
                    <a:bodyPr/>
                    <a:lstStyle/>
                    <a:p>
                      <a:pPr marL="0" lvl="0" indent="0" algn="l" rtl="0">
                        <a:lnSpc>
                          <a:spcPct val="115000"/>
                        </a:lnSpc>
                        <a:spcBef>
                          <a:spcPts val="0"/>
                        </a:spcBef>
                        <a:spcAft>
                          <a:spcPts val="0"/>
                        </a:spcAft>
                        <a:buNone/>
                      </a:pPr>
                      <a:r>
                        <a:rPr lang="de-DE" sz="1100" b="1">
                          <a:solidFill>
                            <a:srgbClr val="1F1F1F"/>
                          </a:solidFill>
                        </a:rPr>
                        <a:t>Online PSO</a:t>
                      </a:r>
                      <a:r>
                        <a:rPr lang="de-DE" sz="1100">
                          <a:solidFill>
                            <a:srgbClr val="1F1F1F"/>
                          </a:solidFill>
                        </a:rPr>
                        <a:t> </a:t>
                      </a:r>
                      <a:r>
                        <a:rPr lang="de-DE" sz="1100" i="1">
                          <a:solidFill>
                            <a:srgbClr val="1F1F1F"/>
                          </a:solidFill>
                        </a:rPr>
                        <a:t>(with 40% Reset)</a:t>
                      </a:r>
                      <a:endParaRPr sz="1100" i="1">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de-DE" sz="1100" b="1">
                          <a:solidFill>
                            <a:srgbClr val="1F1F1F"/>
                          </a:solidFill>
                        </a:rPr>
                        <a:t>Global Search:</a:t>
                      </a:r>
                      <a:r>
                        <a:rPr lang="de-DE" sz="1100">
                          <a:solidFill>
                            <a:srgbClr val="1F1F1F"/>
                          </a:solidFill>
                        </a:rPr>
                        <a:t> Excellent at finding parameters in non-convex spaces without needing a gradient/Jacobian.</a:t>
                      </a:r>
                      <a:endParaRPr sz="1100">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de-DE" sz="1100" b="1">
                          <a:solidFill>
                            <a:srgbClr val="1F1F1F"/>
                          </a:solidFill>
                        </a:rPr>
                        <a:t>Stochastic:</a:t>
                      </a:r>
                      <a:r>
                        <a:rPr lang="de-DE" sz="1100">
                          <a:solidFill>
                            <a:srgbClr val="1F1F1F"/>
                          </a:solidFill>
                        </a:rPr>
                        <a:t> Computationally heavier per iteration; requires windowed data for convergence.</a:t>
                      </a:r>
                      <a:endParaRPr sz="1100">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de-DE" sz="1100" b="1">
                          <a:solidFill>
                            <a:srgbClr val="1F1F1F"/>
                          </a:solidFill>
                        </a:rPr>
                        <a:t>Initial Calibration:</a:t>
                      </a:r>
                      <a:r>
                        <a:rPr lang="de-DE" sz="1100">
                          <a:solidFill>
                            <a:srgbClr val="1F1F1F"/>
                          </a:solidFill>
                        </a:rPr>
                        <a:t> Best for finding the baseline "Golden Model" Cauer parameters offline or during startup.</a:t>
                      </a:r>
                      <a:endParaRPr sz="1100">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extLst>
                  <a:ext uri="{0D108BD9-81ED-4DB2-BD59-A6C34878D82A}">
                    <a16:rowId xmlns:a16="http://schemas.microsoft.com/office/drawing/2014/main" val="10001"/>
                  </a:ext>
                </a:extLst>
              </a:tr>
              <a:tr h="834300">
                <a:tc>
                  <a:txBody>
                    <a:bodyPr/>
                    <a:lstStyle/>
                    <a:p>
                      <a:pPr marL="0" lvl="0" indent="0" algn="l" rtl="0">
                        <a:lnSpc>
                          <a:spcPct val="115000"/>
                        </a:lnSpc>
                        <a:spcBef>
                          <a:spcPts val="0"/>
                        </a:spcBef>
                        <a:spcAft>
                          <a:spcPts val="0"/>
                        </a:spcAft>
                        <a:buNone/>
                      </a:pPr>
                      <a:r>
                        <a:rPr lang="de-DE" sz="1100" b="1">
                          <a:solidFill>
                            <a:srgbClr val="1F1F1F"/>
                          </a:solidFill>
                        </a:rPr>
                        <a:t>Augmented EKF</a:t>
                      </a:r>
                      <a:r>
                        <a:rPr lang="de-DE" sz="1100">
                          <a:solidFill>
                            <a:srgbClr val="1F1F1F"/>
                          </a:solidFill>
                        </a:rPr>
                        <a:t> </a:t>
                      </a:r>
                      <a:r>
                        <a:rPr lang="de-DE" sz="1100" i="1">
                          <a:solidFill>
                            <a:srgbClr val="1F1F1F"/>
                          </a:solidFill>
                        </a:rPr>
                        <a:t>(Log-Space)</a:t>
                      </a:r>
                      <a:endParaRPr sz="1100" i="1">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de-DE" sz="1100" b="1" dirty="0">
                          <a:solidFill>
                            <a:srgbClr val="1F1F1F"/>
                          </a:solidFill>
                        </a:rPr>
                        <a:t>Recursive Efficiency:</a:t>
                      </a:r>
                      <a:r>
                        <a:rPr lang="de-DE" sz="1100" dirty="0">
                          <a:solidFill>
                            <a:srgbClr val="1F1F1F"/>
                          </a:solidFill>
                        </a:rPr>
                        <a:t> Updates at every sample; provides a covariance matrix (uncertainty) for health monitoring.</a:t>
                      </a:r>
                      <a:endParaRPr sz="1100" dirty="0">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de-DE" sz="1100" b="1">
                          <a:solidFill>
                            <a:srgbClr val="1F1F1F"/>
                          </a:solidFill>
                        </a:rPr>
                        <a:t>Local Convergence:</a:t>
                      </a:r>
                      <a:r>
                        <a:rPr lang="de-DE" sz="1100">
                          <a:solidFill>
                            <a:srgbClr val="1F1F1F"/>
                          </a:solidFill>
                        </a:rPr>
                        <a:t> Requires accurate initial guesses; sensitive to process noise tuning.</a:t>
                      </a:r>
                      <a:endParaRPr sz="1100">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de-DE" sz="1100" b="1">
                          <a:solidFill>
                            <a:srgbClr val="1F1F1F"/>
                          </a:solidFill>
                        </a:rPr>
                        <a:t>Continuous Tracking:</a:t>
                      </a:r>
                      <a:r>
                        <a:rPr lang="de-DE" sz="1100">
                          <a:solidFill>
                            <a:srgbClr val="1F1F1F"/>
                          </a:solidFill>
                        </a:rPr>
                        <a:t> Ideal for real-time monitoring of parameter drift (aging) during operation.</a:t>
                      </a:r>
                      <a:endParaRPr sz="1100">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extLst>
                  <a:ext uri="{0D108BD9-81ED-4DB2-BD59-A6C34878D82A}">
                    <a16:rowId xmlns:a16="http://schemas.microsoft.com/office/drawing/2014/main" val="10002"/>
                  </a:ext>
                </a:extLst>
              </a:tr>
              <a:tr h="870575">
                <a:tc>
                  <a:txBody>
                    <a:bodyPr/>
                    <a:lstStyle/>
                    <a:p>
                      <a:pPr marL="0" lvl="0" indent="0" algn="l" rtl="0">
                        <a:lnSpc>
                          <a:spcPct val="115000"/>
                        </a:lnSpc>
                        <a:spcBef>
                          <a:spcPts val="0"/>
                        </a:spcBef>
                        <a:spcAft>
                          <a:spcPts val="0"/>
                        </a:spcAft>
                        <a:buNone/>
                      </a:pPr>
                      <a:r>
                        <a:rPr lang="de-DE" sz="1100" b="1">
                          <a:solidFill>
                            <a:srgbClr val="1F1F1F"/>
                          </a:solidFill>
                        </a:rPr>
                        <a:t>Hankel-DMD</a:t>
                      </a:r>
                      <a:r>
                        <a:rPr lang="de-DE" sz="1100">
                          <a:solidFill>
                            <a:srgbClr val="1F1F1F"/>
                          </a:solidFill>
                        </a:rPr>
                        <a:t> </a:t>
                      </a:r>
                      <a:r>
                        <a:rPr lang="de-DE" sz="1100" i="1">
                          <a:solidFill>
                            <a:srgbClr val="1F1F1F"/>
                          </a:solidFill>
                        </a:rPr>
                        <a:t>(Reduced Order)</a:t>
                      </a:r>
                      <a:endParaRPr sz="1100" i="1">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de-DE" sz="1100" b="1">
                          <a:solidFill>
                            <a:srgbClr val="1F1F1F"/>
                          </a:solidFill>
                        </a:rPr>
                        <a:t>Temporal Memory:</a:t>
                      </a:r>
                      <a:r>
                        <a:rPr lang="de-DE" sz="1100">
                          <a:solidFill>
                            <a:srgbClr val="1F1F1F"/>
                          </a:solidFill>
                        </a:rPr>
                        <a:t> Captures complex diffusion dynamics (4-mode) without needing a manual RC structure.</a:t>
                      </a:r>
                      <a:endParaRPr sz="1100">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de-DE" sz="1100" b="1">
                          <a:solidFill>
                            <a:srgbClr val="1F1F1F"/>
                          </a:solidFill>
                        </a:rPr>
                        <a:t>Data Driven:</a:t>
                      </a:r>
                      <a:r>
                        <a:rPr lang="de-DE" sz="1100">
                          <a:solidFill>
                            <a:srgbClr val="1F1F1F"/>
                          </a:solidFill>
                        </a:rPr>
                        <a:t> Lacks direct physical layer interpretability.</a:t>
                      </a:r>
                      <a:endParaRPr sz="1100">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de-DE" sz="1100" b="1" dirty="0">
                          <a:solidFill>
                            <a:srgbClr val="1F1F1F"/>
                          </a:solidFill>
                        </a:rPr>
                        <a:t>High-Speed Control:</a:t>
                      </a:r>
                      <a:r>
                        <a:rPr lang="de-DE" sz="1100" dirty="0">
                          <a:solidFill>
                            <a:srgbClr val="1F1F1F"/>
                          </a:solidFill>
                        </a:rPr>
                        <a:t> Best for fast Tj prediction in complex multi-chip modules with cross-heating.</a:t>
                      </a:r>
                      <a:endParaRPr sz="1100" dirty="0">
                        <a:solidFill>
                          <a:srgbClr val="1F1F1F"/>
                        </a:solidFill>
                      </a:endParaRPr>
                    </a:p>
                  </a:txBody>
                  <a:tcPr marL="114300" marR="114300" marT="76200" marB="76200">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 name="TextBox 1">
            <a:extLst>
              <a:ext uri="{FF2B5EF4-FFF2-40B4-BE49-F238E27FC236}">
                <a16:creationId xmlns:a16="http://schemas.microsoft.com/office/drawing/2014/main" id="{9ABCDD6F-F571-1567-E5BD-606E33FEEB7D}"/>
              </a:ext>
            </a:extLst>
          </p:cNvPr>
          <p:cNvSpPr txBox="1"/>
          <p:nvPr/>
        </p:nvSpPr>
        <p:spPr>
          <a:xfrm>
            <a:off x="220494" y="3988340"/>
            <a:ext cx="8873425" cy="523220"/>
          </a:xfrm>
          <a:prstGeom prst="rect">
            <a:avLst/>
          </a:prstGeom>
          <a:noFill/>
        </p:spPr>
        <p:txBody>
          <a:bodyPr wrap="square" rtlCol="0">
            <a:spAutoFit/>
          </a:bodyPr>
          <a:lstStyle/>
          <a:p>
            <a:r>
              <a:rPr lang="en-US" b="1" dirty="0">
                <a:solidFill>
                  <a:schemeClr val="accent2"/>
                </a:solidFill>
              </a:rPr>
              <a:t>Conclusion: </a:t>
            </a:r>
            <a:r>
              <a:rPr lang="en-US" dirty="0"/>
              <a:t>The ideal method depends on the module complexity, and desired application, but it should be sensitive to both fast and slow thermal constants.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958929c9b2_1_63"/>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Future Work</a:t>
            </a:r>
            <a:endParaRPr/>
          </a:p>
        </p:txBody>
      </p:sp>
      <p:sp>
        <p:nvSpPr>
          <p:cNvPr id="218" name="Google Shape;218;g3958929c9b2_1_63"/>
          <p:cNvSpPr txBox="1">
            <a:spLocks noGrp="1"/>
          </p:cNvSpPr>
          <p:nvPr>
            <p:ph type="body" idx="1"/>
          </p:nvPr>
        </p:nvSpPr>
        <p:spPr>
          <a:xfrm>
            <a:off x="29225" y="1316450"/>
            <a:ext cx="3704100" cy="2490000"/>
          </a:xfrm>
          <a:prstGeom prst="rect">
            <a:avLst/>
          </a:prstGeom>
        </p:spPr>
        <p:txBody>
          <a:bodyPr spcFirstLastPara="1" wrap="square" lIns="91425" tIns="45700" rIns="91425" bIns="45700" anchor="t" anchorCtr="0">
            <a:noAutofit/>
          </a:bodyPr>
          <a:lstStyle/>
          <a:p>
            <a:pPr marL="457200" lvl="0" indent="-323850" algn="l" rtl="0">
              <a:spcBef>
                <a:spcPts val="0"/>
              </a:spcBef>
              <a:spcAft>
                <a:spcPts val="0"/>
              </a:spcAft>
              <a:buSzPts val="1500"/>
              <a:buChar char="✔"/>
            </a:pPr>
            <a:r>
              <a:rPr lang="de-DE" sz="1500" dirty="0"/>
              <a:t>Extend the Digital Twin to include heatsink temperature-based adaptation.</a:t>
            </a:r>
            <a:endParaRPr sz="1500" dirty="0"/>
          </a:p>
          <a:p>
            <a:pPr marL="457200" lvl="0" indent="-323850" algn="l" rtl="0">
              <a:spcBef>
                <a:spcPts val="0"/>
              </a:spcBef>
              <a:spcAft>
                <a:spcPts val="0"/>
              </a:spcAft>
              <a:buSzPts val="1500"/>
              <a:buChar char="✔"/>
            </a:pPr>
            <a:r>
              <a:rPr lang="de-DE" sz="1500" dirty="0"/>
              <a:t>Enhance the physical interpretability of DMD-derived thermal parameters.</a:t>
            </a:r>
            <a:endParaRPr sz="1500" dirty="0"/>
          </a:p>
        </p:txBody>
      </p:sp>
      <p:grpSp>
        <p:nvGrpSpPr>
          <p:cNvPr id="3" name="Group 2">
            <a:extLst>
              <a:ext uri="{FF2B5EF4-FFF2-40B4-BE49-F238E27FC236}">
                <a16:creationId xmlns:a16="http://schemas.microsoft.com/office/drawing/2014/main" id="{89CA8768-5BE4-32BD-743C-93A8DC9637EF}"/>
              </a:ext>
            </a:extLst>
          </p:cNvPr>
          <p:cNvGrpSpPr/>
          <p:nvPr/>
        </p:nvGrpSpPr>
        <p:grpSpPr>
          <a:xfrm>
            <a:off x="3907775" y="1350491"/>
            <a:ext cx="4933596" cy="3127042"/>
            <a:chOff x="3907775" y="1350491"/>
            <a:chExt cx="4933596" cy="3127042"/>
          </a:xfrm>
        </p:grpSpPr>
        <p:pic>
          <p:nvPicPr>
            <p:cNvPr id="219" name="Google Shape;219;g3958929c9b2_1_63"/>
            <p:cNvPicPr preferRelativeResize="0"/>
            <p:nvPr/>
          </p:nvPicPr>
          <p:blipFill>
            <a:blip r:embed="rId3">
              <a:alphaModFix/>
            </a:blip>
            <a:stretch>
              <a:fillRect/>
            </a:stretch>
          </p:blipFill>
          <p:spPr>
            <a:xfrm>
              <a:off x="3907775" y="1350491"/>
              <a:ext cx="4933596" cy="2690833"/>
            </a:xfrm>
            <a:prstGeom prst="rect">
              <a:avLst/>
            </a:prstGeom>
            <a:noFill/>
            <a:ln>
              <a:noFill/>
            </a:ln>
          </p:spPr>
        </p:pic>
        <p:sp>
          <p:nvSpPr>
            <p:cNvPr id="2" name="Google Shape;150;g3cbd0e6f7a2_2_8">
              <a:extLst>
                <a:ext uri="{FF2B5EF4-FFF2-40B4-BE49-F238E27FC236}">
                  <a16:creationId xmlns:a16="http://schemas.microsoft.com/office/drawing/2014/main" id="{F7314D4B-0DAF-FB5C-C774-6113F7BE9AB6}"/>
                </a:ext>
              </a:extLst>
            </p:cNvPr>
            <p:cNvSpPr txBox="1"/>
            <p:nvPr/>
          </p:nvSpPr>
          <p:spPr>
            <a:xfrm>
              <a:off x="5256455" y="4112133"/>
              <a:ext cx="3111066" cy="365400"/>
            </a:xfrm>
            <a:prstGeom prst="rect">
              <a:avLst/>
            </a:prstGeom>
            <a:noFill/>
            <a:ln>
              <a:noFill/>
            </a:ln>
          </p:spPr>
          <p:txBody>
            <a:bodyPr spcFirstLastPara="1" wrap="square" lIns="91425" tIns="91425" rIns="91425" bIns="91425" anchor="t" anchorCtr="0">
              <a:noAutofit/>
            </a:bodyPr>
            <a:lstStyle/>
            <a:p>
              <a:pPr lvl="0"/>
              <a:r>
                <a:rPr lang="de-DE" b="1" dirty="0"/>
                <a:t>Fig. 20  </a:t>
              </a:r>
              <a:r>
                <a:rPr lang="de-DE" dirty="0"/>
                <a:t>Future work scheme </a:t>
              </a:r>
              <a:r>
                <a:rPr lang="de-DE" sz="800" dirty="0"/>
                <a:t>[*]</a:t>
              </a:r>
              <a:endParaRPr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5"/>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de-DE" dirty="0"/>
              <a:t>References</a:t>
            </a:r>
            <a:endParaRPr dirty="0"/>
          </a:p>
        </p:txBody>
      </p:sp>
      <p:sp>
        <p:nvSpPr>
          <p:cNvPr id="230" name="Google Shape;230;p15"/>
          <p:cNvSpPr txBox="1">
            <a:spLocks noGrp="1"/>
          </p:cNvSpPr>
          <p:nvPr>
            <p:ph type="body" idx="1"/>
          </p:nvPr>
        </p:nvSpPr>
        <p:spPr>
          <a:xfrm>
            <a:off x="304701" y="869926"/>
            <a:ext cx="8310853" cy="3850017"/>
          </a:xfrm>
          <a:prstGeom prst="rect">
            <a:avLst/>
          </a:prstGeom>
          <a:noFill/>
          <a:ln>
            <a:noFill/>
          </a:ln>
        </p:spPr>
        <p:txBody>
          <a:bodyPr spcFirstLastPara="1" wrap="square" lIns="91425" tIns="45700" rIns="91425" bIns="45700" anchor="t" anchorCtr="0">
            <a:noAutofit/>
          </a:bodyPr>
          <a:lstStyle/>
          <a:p>
            <a:pPr marL="7772400" lvl="0" indent="0" algn="l" rtl="0">
              <a:spcBef>
                <a:spcPts val="0"/>
              </a:spcBef>
              <a:spcAft>
                <a:spcPts val="0"/>
              </a:spcAft>
              <a:buNone/>
            </a:pPr>
            <a:endParaRPr lang="de-DE" sz="1100" dirty="0"/>
          </a:p>
          <a:p>
            <a:pPr marL="215900" marR="50800" lvl="0" indent="0" algn="l" rtl="0">
              <a:lnSpc>
                <a:spcPct val="135000"/>
              </a:lnSpc>
              <a:spcBef>
                <a:spcPts val="0"/>
              </a:spcBef>
              <a:spcAft>
                <a:spcPts val="0"/>
              </a:spcAft>
              <a:buNone/>
            </a:pPr>
            <a:r>
              <a:rPr lang="de-DE" sz="1100" dirty="0"/>
              <a:t>[1] IEA, “Global stock of public charging points by speed, 2018-2024 – Charts – Data &amp; Statistics.” Accessed: Dec. 26, 2025. [Online]. Available: </a:t>
            </a:r>
            <a:r>
              <a:rPr lang="de-DE" sz="1100" dirty="0">
                <a:hlinkClick r:id="rId3"/>
              </a:rPr>
              <a:t>https://www.iea.org/data-and-statistics/charts/global-stock-of-public-charging-points-by-speed-2018-2024</a:t>
            </a:r>
            <a:endParaRPr lang="de-DE" sz="1100" dirty="0"/>
          </a:p>
          <a:p>
            <a:pPr marL="215900" marR="50800" lvl="0" indent="0" algn="l" rtl="0">
              <a:lnSpc>
                <a:spcPct val="135000"/>
              </a:lnSpc>
              <a:spcBef>
                <a:spcPts val="0"/>
              </a:spcBef>
              <a:spcAft>
                <a:spcPts val="0"/>
              </a:spcAft>
              <a:buNone/>
            </a:pPr>
            <a:r>
              <a:rPr lang="de-DE" sz="1100" dirty="0"/>
              <a:t>[2] J. Kuprat, K. Debbadi, J. Schaumburg, M. Liserre, and M. Langwasser, “Thermal Digital Twin of Power Electronics Modules for Online Thermal Parameter Identification,” IEEE J. Emerg. Sel. Topics Power Electron., vol. 12, no. 1, pp. 1020–1029, Feb. 2024. doi: 10.1109/JESTPE.2023.3328219.</a:t>
            </a:r>
          </a:p>
          <a:p>
            <a:pPr marL="215900" marR="50800" lvl="0" indent="0" algn="l" rtl="0">
              <a:lnSpc>
                <a:spcPct val="135000"/>
              </a:lnSpc>
              <a:spcBef>
                <a:spcPts val="0"/>
              </a:spcBef>
              <a:spcAft>
                <a:spcPts val="0"/>
              </a:spcAft>
              <a:buNone/>
            </a:pPr>
            <a:r>
              <a:rPr lang="de-DE" sz="1100" dirty="0"/>
              <a:t>[3] COMSOL, “Thermal Analysis of a Bipolar Transistor.” Accessed: Dec. 29, 2025. [Online]. Available: </a:t>
            </a:r>
            <a:r>
              <a:rPr lang="de-DE" sz="1100" dirty="0">
                <a:hlinkClick r:id="rId4"/>
              </a:rPr>
              <a:t>https://www.comsol.com/model/thermal-analysis-of-a-bipolar-transistor-19701</a:t>
            </a:r>
            <a:endParaRPr lang="de-DE" sz="1100" dirty="0"/>
          </a:p>
          <a:p>
            <a:pPr marL="215900" marR="50800" lvl="0" indent="0" algn="l" rtl="0">
              <a:lnSpc>
                <a:spcPct val="135000"/>
              </a:lnSpc>
              <a:spcBef>
                <a:spcPts val="0"/>
              </a:spcBef>
              <a:spcAft>
                <a:spcPts val="0"/>
              </a:spcAft>
              <a:buNone/>
            </a:pPr>
            <a:r>
              <a:rPr lang="de-DE" sz="1100" dirty="0"/>
              <a:t>[4] Y. Tang et al., “Physics-Informed Intelligent Thermal Model for SiC Power Modules With High Generalization,” IEEE Trans. Power Electron., vol. 40, no. 10, pp. 14459–14477, Oct. 2025. doi: 10.1109/TPEL.2025.3577241.</a:t>
            </a:r>
          </a:p>
          <a:p>
            <a:pPr marL="215900" marR="50800" lvl="0" indent="0" algn="l" rtl="0">
              <a:lnSpc>
                <a:spcPct val="135000"/>
              </a:lnSpc>
              <a:spcBef>
                <a:spcPts val="0"/>
              </a:spcBef>
              <a:spcAft>
                <a:spcPts val="0"/>
              </a:spcAft>
              <a:buNone/>
            </a:pPr>
            <a:r>
              <a:rPr lang="de-DE" sz="1100" dirty="0"/>
              <a:t>[5] J. L. Proctor, S. L. Brunton, and J. N. Kutz, “Dynamic mode decomposition with control,” Sep. 2014, arXiv: 1409.6358. doi: 10.48550/arXiv.1409.6358.</a:t>
            </a:r>
          </a:p>
          <a:p>
            <a:pPr marL="215900" marR="50800" lvl="0" indent="0" algn="l" rtl="0">
              <a:lnSpc>
                <a:spcPct val="135000"/>
              </a:lnSpc>
              <a:spcBef>
                <a:spcPts val="0"/>
              </a:spcBef>
              <a:spcAft>
                <a:spcPts val="0"/>
              </a:spcAft>
              <a:buNone/>
            </a:pPr>
            <a:r>
              <a:rPr lang="de-DE" sz="1100" dirty="0"/>
              <a:t>[6] H. Zhang, C. W. Rowley, E. A. Deem, and L. N. Cattafesta, “Online dynamic mode decomposition for time-varying systems,” Jul. 2017, arXiv: 1707.02876. doi: 10.48550/arXiv.1707.02876.</a:t>
            </a:r>
          </a:p>
          <a:p>
            <a:pPr marL="215900" marR="50800" lvl="0" indent="0" algn="l" rtl="0">
              <a:lnSpc>
                <a:spcPct val="135000"/>
              </a:lnSpc>
              <a:spcBef>
                <a:spcPts val="0"/>
              </a:spcBef>
              <a:spcAft>
                <a:spcPts val="0"/>
              </a:spcAft>
              <a:buNone/>
            </a:pPr>
            <a:r>
              <a:rPr lang="de-DE" sz="1100" dirty="0"/>
              <a:t>[7] M. Votava, K. Debbadi, Y. Pascal, and M. Liserre, “Multi-step Least Squares Algorithm for Thermal Characterization Based on Mission Profile,” in 2024 IEEE Applied Power Electronics Conference and Exposition (APEC), Feb. 2024, pp. 1566–1573. doi: 10.1109/APEC48139.2024.10509492.</a:t>
            </a:r>
          </a:p>
          <a:p>
            <a:pPr marL="0" lvl="0" indent="0" algn="l" rtl="0">
              <a:spcBef>
                <a:spcPts val="0"/>
              </a:spcBef>
              <a:spcAft>
                <a:spcPts val="0"/>
              </a:spcAft>
              <a:buClr>
                <a:schemeClr val="dk1"/>
              </a:buClr>
              <a:buSzPts val="1050"/>
              <a:buNone/>
            </a:pPr>
            <a:endParaRPr sz="1050" dirty="0"/>
          </a:p>
          <a:p>
            <a:pPr marL="0" lvl="0" indent="0" algn="l" rtl="0">
              <a:spcBef>
                <a:spcPts val="0"/>
              </a:spcBef>
              <a:spcAft>
                <a:spcPts val="0"/>
              </a:spcAft>
              <a:buClr>
                <a:schemeClr val="dk1"/>
              </a:buClr>
              <a:buSzPts val="1400"/>
              <a:buNone/>
            </a:pPr>
            <a:endParaRPr sz="1400" dirty="0"/>
          </a:p>
          <a:p>
            <a:pPr marL="323850" lvl="0" indent="-222250" algn="l" rtl="0">
              <a:spcBef>
                <a:spcPts val="0"/>
              </a:spcBef>
              <a:spcAft>
                <a:spcPts val="0"/>
              </a:spcAft>
              <a:buClr>
                <a:schemeClr val="dk1"/>
              </a:buClr>
              <a:buSzPts val="1600"/>
              <a:buFont typeface="Noto Sans Symbols"/>
              <a:buNone/>
            </a:pPr>
            <a:endParaRPr sz="1600" dirty="0"/>
          </a:p>
          <a:p>
            <a:pPr marL="323850" lvl="0" indent="-222250" algn="l" rtl="0">
              <a:spcBef>
                <a:spcPts val="0"/>
              </a:spcBef>
              <a:spcAft>
                <a:spcPts val="0"/>
              </a:spcAft>
              <a:buClr>
                <a:schemeClr val="dk1"/>
              </a:buClr>
              <a:buSzPts val="1600"/>
              <a:buFont typeface="Noto Sans Symbols"/>
              <a:buNone/>
            </a:pPr>
            <a:endParaRPr sz="1600" dirty="0"/>
          </a:p>
          <a:p>
            <a:pPr marL="323850" lvl="0" indent="-222250" algn="l" rtl="0">
              <a:spcBef>
                <a:spcPts val="0"/>
              </a:spcBef>
              <a:spcAft>
                <a:spcPts val="0"/>
              </a:spcAft>
              <a:buClr>
                <a:schemeClr val="dk1"/>
              </a:buClr>
              <a:buSzPts val="1600"/>
              <a:buFont typeface="Noto Sans Symbols"/>
              <a:buNone/>
            </a:pPr>
            <a:endParaRPr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E6929FC4-9413-1AFE-CC0A-69A398EF9CA7}"/>
            </a:ext>
          </a:extLst>
        </p:cNvPr>
        <p:cNvGrpSpPr/>
        <p:nvPr/>
      </p:nvGrpSpPr>
      <p:grpSpPr>
        <a:xfrm>
          <a:off x="0" y="0"/>
          <a:ext cx="0" cy="0"/>
          <a:chOff x="0" y="0"/>
          <a:chExt cx="0" cy="0"/>
        </a:xfrm>
      </p:grpSpPr>
      <p:sp>
        <p:nvSpPr>
          <p:cNvPr id="225" name="Google Shape;225;p15">
            <a:extLst>
              <a:ext uri="{FF2B5EF4-FFF2-40B4-BE49-F238E27FC236}">
                <a16:creationId xmlns:a16="http://schemas.microsoft.com/office/drawing/2014/main" id="{E1825AD1-78C8-CCBA-A171-E1BF4BA501CB}"/>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de-DE" dirty="0"/>
              <a:t>Acknowledgement </a:t>
            </a:r>
            <a:endParaRPr dirty="0"/>
          </a:p>
        </p:txBody>
      </p:sp>
      <p:sp>
        <p:nvSpPr>
          <p:cNvPr id="230" name="Google Shape;230;p15">
            <a:extLst>
              <a:ext uri="{FF2B5EF4-FFF2-40B4-BE49-F238E27FC236}">
                <a16:creationId xmlns:a16="http://schemas.microsoft.com/office/drawing/2014/main" id="{2AF65037-9193-C38E-0A58-1082CAD53133}"/>
              </a:ext>
            </a:extLst>
          </p:cNvPr>
          <p:cNvSpPr txBox="1">
            <a:spLocks noGrp="1"/>
          </p:cNvSpPr>
          <p:nvPr>
            <p:ph type="body" idx="1"/>
          </p:nvPr>
        </p:nvSpPr>
        <p:spPr>
          <a:xfrm>
            <a:off x="304701" y="1365357"/>
            <a:ext cx="8382300" cy="1879056"/>
          </a:xfrm>
          <a:prstGeom prst="rect">
            <a:avLst/>
          </a:prstGeom>
          <a:noFill/>
          <a:ln>
            <a:noFill/>
          </a:ln>
        </p:spPr>
        <p:txBody>
          <a:bodyPr spcFirstLastPara="1" wrap="square" lIns="91425" tIns="45700" rIns="91425" bIns="45700" anchor="t" anchorCtr="0">
            <a:noAutofit/>
          </a:bodyPr>
          <a:lstStyle/>
          <a:p>
            <a:pPr marL="215900" marR="50800" lvl="0" indent="0" algn="l" rtl="0">
              <a:lnSpc>
                <a:spcPct val="135000"/>
              </a:lnSpc>
              <a:spcBef>
                <a:spcPts val="0"/>
              </a:spcBef>
              <a:spcAft>
                <a:spcPts val="0"/>
              </a:spcAft>
              <a:buNone/>
            </a:pPr>
            <a:endParaRPr lang="en-US" sz="500" dirty="0"/>
          </a:p>
          <a:p>
            <a:pPr marL="215900" marR="50800" lvl="0" indent="0">
              <a:lnSpc>
                <a:spcPct val="135000"/>
              </a:lnSpc>
              <a:buNone/>
            </a:pPr>
            <a:r>
              <a:rPr lang="en-US" sz="900" b="1" dirty="0"/>
              <a:t>[†]</a:t>
            </a:r>
            <a:r>
              <a:rPr lang="en-US" sz="1050" b="1" dirty="0"/>
              <a:t> </a:t>
            </a:r>
            <a:r>
              <a:rPr lang="en-US" sz="1100" b="1" dirty="0"/>
              <a:t>Experimental Validation: </a:t>
            </a:r>
            <a:r>
              <a:rPr lang="en-US" sz="1100" dirty="0"/>
              <a:t>All raw thermal experimental data for the modules was graciously provided by Dr. Martin Votava</a:t>
            </a:r>
          </a:p>
          <a:p>
            <a:pPr marL="215900" marR="50800" lvl="0" indent="0" algn="l" rtl="0">
              <a:lnSpc>
                <a:spcPct val="135000"/>
              </a:lnSpc>
              <a:spcBef>
                <a:spcPts val="0"/>
              </a:spcBef>
              <a:spcAft>
                <a:spcPts val="0"/>
              </a:spcAft>
              <a:buNone/>
            </a:pPr>
            <a:endParaRPr lang="en-US" sz="500" dirty="0"/>
          </a:p>
          <a:p>
            <a:pPr marL="215900" marR="50800" lvl="0" indent="0" algn="l" rtl="0">
              <a:lnSpc>
                <a:spcPct val="135000"/>
              </a:lnSpc>
              <a:spcBef>
                <a:spcPts val="0"/>
              </a:spcBef>
              <a:spcAft>
                <a:spcPts val="0"/>
              </a:spcAft>
              <a:buNone/>
            </a:pPr>
            <a:endParaRPr lang="en-US" sz="500" dirty="0"/>
          </a:p>
          <a:p>
            <a:pPr marL="215900" marR="50800" lvl="0" indent="0" algn="l" rtl="0">
              <a:lnSpc>
                <a:spcPct val="135000"/>
              </a:lnSpc>
              <a:spcBef>
                <a:spcPts val="0"/>
              </a:spcBef>
              <a:spcAft>
                <a:spcPts val="0"/>
              </a:spcAft>
              <a:buNone/>
            </a:pPr>
            <a:r>
              <a:rPr lang="en-US" sz="900" b="1" dirty="0"/>
              <a:t>[*]</a:t>
            </a:r>
            <a:r>
              <a:rPr lang="en-US" sz="1800" b="1" dirty="0"/>
              <a:t> </a:t>
            </a:r>
            <a:r>
              <a:rPr lang="en-US" sz="1100" b="1" dirty="0"/>
              <a:t>Technical Visualizations Note (diagrams):</a:t>
            </a:r>
          </a:p>
          <a:p>
            <a:pPr marL="215900" marR="50800" lvl="0" indent="0" algn="l" rtl="0">
              <a:lnSpc>
                <a:spcPct val="135000"/>
              </a:lnSpc>
              <a:spcBef>
                <a:spcPts val="0"/>
              </a:spcBef>
              <a:spcAft>
                <a:spcPts val="0"/>
              </a:spcAft>
              <a:buNone/>
            </a:pPr>
            <a:r>
              <a:rPr lang="en-US" sz="1100" dirty="0"/>
              <a:t>Some of the diagrams and system architecture illustrations presented in this seminar were designed by the author and rendered using Generative AI (Gemini 3 Flash/Nano Banana 2). All visual logic, mathematical notations, and block structures are derived directly from the underlying </a:t>
            </a:r>
            <a:r>
              <a:rPr lang="en-US" sz="1100" dirty="0" err="1"/>
              <a:t>CauerEKF</a:t>
            </a:r>
            <a:r>
              <a:rPr lang="en-US" sz="1100" dirty="0"/>
              <a:t> and </a:t>
            </a:r>
            <a:r>
              <a:rPr lang="en-US" sz="1100" dirty="0" err="1"/>
              <a:t>DMDc</a:t>
            </a:r>
            <a:r>
              <a:rPr lang="en-US" sz="1100" dirty="0"/>
              <a:t> Python implementation to ensure technical fidelity.</a:t>
            </a:r>
            <a:endParaRPr sz="1100" dirty="0"/>
          </a:p>
          <a:p>
            <a:pPr marL="0" lvl="0" indent="0" algn="l" rtl="0">
              <a:spcBef>
                <a:spcPts val="0"/>
              </a:spcBef>
              <a:spcAft>
                <a:spcPts val="0"/>
              </a:spcAft>
              <a:buClr>
                <a:schemeClr val="dk1"/>
              </a:buClr>
              <a:buSzPts val="1050"/>
              <a:buNone/>
            </a:pPr>
            <a:endParaRPr sz="1050" dirty="0"/>
          </a:p>
          <a:p>
            <a:pPr marL="0" lvl="0" indent="0" algn="l" rtl="0">
              <a:spcBef>
                <a:spcPts val="0"/>
              </a:spcBef>
              <a:spcAft>
                <a:spcPts val="0"/>
              </a:spcAft>
              <a:buClr>
                <a:schemeClr val="dk1"/>
              </a:buClr>
              <a:buSzPts val="1400"/>
              <a:buNone/>
            </a:pPr>
            <a:endParaRPr sz="1400" dirty="0"/>
          </a:p>
          <a:p>
            <a:pPr marL="323850" lvl="0" indent="-222250" algn="l" rtl="0">
              <a:spcBef>
                <a:spcPts val="0"/>
              </a:spcBef>
              <a:spcAft>
                <a:spcPts val="0"/>
              </a:spcAft>
              <a:buClr>
                <a:schemeClr val="dk1"/>
              </a:buClr>
              <a:buSzPts val="1600"/>
              <a:buFont typeface="Noto Sans Symbols"/>
              <a:buNone/>
            </a:pPr>
            <a:endParaRPr sz="1600" dirty="0"/>
          </a:p>
          <a:p>
            <a:pPr marL="323850" lvl="0" indent="-222250" algn="l" rtl="0">
              <a:spcBef>
                <a:spcPts val="0"/>
              </a:spcBef>
              <a:spcAft>
                <a:spcPts val="0"/>
              </a:spcAft>
              <a:buClr>
                <a:schemeClr val="dk1"/>
              </a:buClr>
              <a:buSzPts val="1600"/>
              <a:buFont typeface="Noto Sans Symbols"/>
              <a:buNone/>
            </a:pPr>
            <a:endParaRPr sz="1600" dirty="0"/>
          </a:p>
          <a:p>
            <a:pPr marL="323850" lvl="0" indent="-222250" algn="l" rtl="0">
              <a:spcBef>
                <a:spcPts val="0"/>
              </a:spcBef>
              <a:spcAft>
                <a:spcPts val="0"/>
              </a:spcAft>
              <a:buClr>
                <a:schemeClr val="dk1"/>
              </a:buClr>
              <a:buSzPts val="1600"/>
              <a:buFont typeface="Noto Sans Symbols"/>
              <a:buNone/>
            </a:pPr>
            <a:endParaRPr sz="1600" dirty="0"/>
          </a:p>
        </p:txBody>
      </p:sp>
    </p:spTree>
    <p:extLst>
      <p:ext uri="{BB962C8B-B14F-4D97-AF65-F5344CB8AC3E}">
        <p14:creationId xmlns:p14="http://schemas.microsoft.com/office/powerpoint/2010/main" val="1808155213"/>
      </p:ext>
    </p:extLst>
  </p:cSld>
  <p:clrMapOvr>
    <a:masterClrMapping/>
  </p:clrMapOvr>
</p:sld>
</file>

<file path=ppt/theme/theme1.xml><?xml version="1.0" encoding="utf-8"?>
<a:theme xmlns:a="http://schemas.openxmlformats.org/drawingml/2006/main" name="Standarddesign">
  <a:themeElements>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1425</TotalTime>
  <Words>1775</Words>
  <Application>Microsoft Office PowerPoint</Application>
  <PresentationFormat>On-screen Show (16:9)</PresentationFormat>
  <Paragraphs>295</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Cambria Math</vt:lpstr>
      <vt:lpstr>Calibri</vt:lpstr>
      <vt:lpstr>Arimo</vt:lpstr>
      <vt:lpstr>Arial</vt:lpstr>
      <vt:lpstr>Tahoma</vt:lpstr>
      <vt:lpstr>Noto Sans Symbols</vt:lpstr>
      <vt:lpstr>Standarddesign</vt:lpstr>
      <vt:lpstr>Digital Twin of Power Converter Systems  Identification and Optimization for Reliability </vt:lpstr>
      <vt:lpstr>Outline</vt:lpstr>
      <vt:lpstr>Motivation</vt:lpstr>
      <vt:lpstr>Introduction to Digital Twins</vt:lpstr>
      <vt:lpstr>Models</vt:lpstr>
      <vt:lpstr>Cauer network Parameter identification</vt:lpstr>
      <vt:lpstr>Experimental Validation</vt:lpstr>
      <vt:lpstr>EKF</vt:lpstr>
      <vt:lpstr>PSO</vt:lpstr>
      <vt:lpstr>PSO accuracy</vt:lpstr>
      <vt:lpstr>Data Driven DMD</vt:lpstr>
      <vt:lpstr>Data Driven DMD</vt:lpstr>
      <vt:lpstr>Data Driven DMD</vt:lpstr>
      <vt:lpstr>Data Driven DMD</vt:lpstr>
      <vt:lpstr>Data Driven DMD</vt:lpstr>
      <vt:lpstr>Data Driven DMD</vt:lpstr>
      <vt:lpstr>DMD Results</vt:lpstr>
      <vt:lpstr>Summary</vt:lpstr>
      <vt:lpstr>Future Work</vt:lpstr>
      <vt:lpstr>References</vt:lpstr>
      <vt:lpstr>Acknowledgement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Universität Kiel  (CAU)</dc:creator>
  <cp:lastModifiedBy>Miryam Troya</cp:lastModifiedBy>
  <cp:revision>4</cp:revision>
  <dcterms:created xsi:type="dcterms:W3CDTF">2010-06-02T10:39:48Z</dcterms:created>
  <dcterms:modified xsi:type="dcterms:W3CDTF">2026-03-03T19:54:04Z</dcterms:modified>
</cp:coreProperties>
</file>